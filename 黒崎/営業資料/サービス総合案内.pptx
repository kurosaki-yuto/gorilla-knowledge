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私たちのAI導入の考え方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3474720" y="1463040"/>
            <a:ext cx="2194560" cy="32004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「とりあえずAI入れましょう」はやりません。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7220" y="2331720"/>
            <a:ext cx="2423160" cy="19659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380" y="2468880"/>
            <a:ext cx="502920" cy="320040"/>
          </a:xfrm>
          <a:prstGeom prst="rect">
            <a:avLst>
              <a:gd name="adj" fmla="val 11429"/>
            </a:avLst>
          </a:prstGeom>
          <a:solidFill>
            <a:srgbClr val="0066FF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2468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経営目標の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438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売上・コスト・生産性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何を改善したいのか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60420" y="2331720"/>
            <a:ext cx="2423160" cy="19659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97580" y="2468880"/>
            <a:ext cx="502920" cy="320040"/>
          </a:xfrm>
          <a:prstGeom prst="rect">
            <a:avLst>
              <a:gd name="adj" fmla="val 11429"/>
            </a:avLst>
          </a:prstGeom>
          <a:solidFill>
            <a:srgbClr val="0066FF"/>
          </a:solidFill>
          <a:ln/>
        </p:spPr>
      </p:sp>
      <p:sp>
        <p:nvSpPr>
          <p:cNvPr id="17" name="Text 13"/>
          <p:cNvSpPr/>
          <p:nvPr/>
        </p:nvSpPr>
        <p:spPr>
          <a:xfrm>
            <a:off x="349758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688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9758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目標設定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49758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AIで解決すべき課題と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達成すべき数値目標を明確化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03620" y="2331720"/>
            <a:ext cx="2423160" cy="196596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40780" y="2468880"/>
            <a:ext cx="502920" cy="320040"/>
          </a:xfrm>
          <a:prstGeom prst="rect">
            <a:avLst>
              <a:gd name="adj" fmla="val 11429"/>
            </a:avLst>
          </a:prstGeom>
          <a:solidFill>
            <a:srgbClr val="0066FF"/>
          </a:solidFill>
          <a:ln/>
        </p:spPr>
      </p:sp>
      <p:sp>
        <p:nvSpPr>
          <p:cNvPr id="23" name="Text 18"/>
          <p:cNvSpPr/>
          <p:nvPr/>
        </p:nvSpPr>
        <p:spPr>
          <a:xfrm>
            <a:off x="624078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24688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4078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導入設計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24078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目標に最適なサービスを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ご提案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「AIを入れること」がゴールではなく、「経営課題を解決すること」がゴールです。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あなたの会社、どこで止まっていますか？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743200" cy="32004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25880"/>
            <a:ext cx="2423160" cy="30175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1325880"/>
            <a:ext cx="2423160" cy="45720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社員がAIを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全く使えない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63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AI研修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360420" y="1325880"/>
            <a:ext cx="2423160" cy="30175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60420" y="1325880"/>
            <a:ext cx="24231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9758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AI分かる人がいない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推進できる人材がほしい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632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9758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AI伴走支援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149340" y="1325880"/>
            <a:ext cx="2423160" cy="30175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49340" y="1325880"/>
            <a:ext cx="24231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002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8650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AIを使える環境が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そもそも整っていない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30632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865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AIインフラ整備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03120" y="137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AI研修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669280" y="137160"/>
            <a:ext cx="3200400" cy="457200"/>
          </a:xfrm>
          <a:prstGeom prst="rect">
            <a:avLst>
              <a:gd name="adj" fmla="val 8000"/>
            </a:avLst>
          </a:prstGeom>
          <a:solidFill>
            <a:srgbClr val="0066F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37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年間40万円/人（助成金で実質16万円）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777240"/>
            <a:ext cx="3931920" cy="14173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こんな企業に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1143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社員のAIリテラシーにバラつきがある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「ChatGPTって何？」という社員がまだいる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全社員に最低限のAI知識を持たせたい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777240"/>
            <a:ext cx="3931920" cy="141732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提供内容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1143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AI入門〜応用まで全コース完備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業種・職種に合わせてカスタマイズ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eラーニング（1コース約10分）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LMS完備 / 修了テスト付き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助成金で研修費用の60%が返ってきます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助成率（中小企業）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1人あたり上限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月額2万円（年間24万円）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対象企業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全国・全規模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制度終了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2027年3月末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754880" y="2971800"/>
            <a:ext cx="3931920" cy="16916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金額シミュレーション（中小・10名）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33375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年間利用料: </a:t>
            </a:r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40万円 × 10名 = 400万円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助成額(60%): </a:t>
            </a:r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24万円 × 10名 = 240万円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1人あたり実質負担: </a:t>
            </a:r>
            <a:pPr indent="0" marL="0">
              <a:buNone/>
            </a:pPr>
            <a:r>
              <a:rPr lang="en-US" sz="22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16万円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4か月ごとに分割申請OK → 立替負担も軽減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導入の流れ：  ヒアリング → カリキュラム設計 → 受講開始 → 助成金申請サポート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サービス②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03120" y="137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AI伴走支援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822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研修はやったけど現場で活用が進まない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AI分かる人がいない・相談相手がほしい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AI推進できる人材を現場に入れたい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3931920" cy="24688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AI顧問プラン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プロが顧問としてつきます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定期MTGで課題整理・活用アドバイス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部門別AI活用ユースケース提案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プロンプトテンプレートの作成・提供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月額10万円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4754880" y="1737360"/>
            <a:ext cx="3931920" cy="246888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737360"/>
            <a:ext cx="393192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AI人材派遣プラン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3776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AI人材を常駐/業務委託で派遣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社内AI活用の推進・旗振り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業務プロセス分析 → AI化の設計・実行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ノウハウを社内に移管し自走へ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5488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D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月額30万円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AI顧問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D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AI人材派遣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関わり方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相談・アドバイス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現場に入って実行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月1〜2回のMTG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週2〜5日の常駐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向いてる企業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方向性に迷う企業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動ける人がいない企業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サービス③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0312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AIインフラ整備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822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「AIを導入したい」が、何から手をつけていいか分からない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ChatGPTのアカウントは作ったが、それ以上進んでいない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社員が日常業務でAIを当たり前に使える環境を作りたい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Code・Cursor などの最新AIツールを基盤に、全員がAIを使える環境を構築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" y="2423160"/>
            <a:ext cx="150876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644" y="242316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560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" y="29718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AI開発環境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の構築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3796" y="352044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Cursor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199132" y="2423160"/>
            <a:ext cx="150876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199132" y="242316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560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72284" y="29718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業務フローへの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AI組み込み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272284" y="352044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既存プロセスにAIを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自然に組み込む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817620" y="2423160"/>
            <a:ext cx="150876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817620" y="242316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90772" y="29718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ガイドライン策定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890772" y="352044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利用ルール・セキュリティ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ポリシーを整備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436108" y="2423160"/>
            <a:ext cx="150876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36108" y="242316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25603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09260" y="29718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ワークフロー整備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509260" y="352044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部門別テンプレート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自動化フロー納品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054596" y="2423160"/>
            <a:ext cx="1508760" cy="182880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054596" y="242316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256032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27748" y="29718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運用サポート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7127748" y="352044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トラブルシューティング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アップデート対応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導入の流れ：  現状診断 → AI導入計画策定 → ツール導入・ガイドライン整備 → 社内展開・研修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料金はスコープに応じてお見積もり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00DD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料金まとめ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3657600" y="1371600"/>
            <a:ext cx="1828800" cy="32004"/>
          </a:xfrm>
          <a:prstGeom prst="rect">
            <a:avLst/>
          </a:prstGeom>
          <a:solidFill>
            <a:srgbClr val="00DDF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料金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AI研修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年間40万円/人（助成金で実質16万円）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AI伴走支援（顧問）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月額10万円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AI伴走支援（人材派遣）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C8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月額30万円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AIインフラ整備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892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別途お見積もり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まずは無料ヒアリングで、貴社に最適なプランをご提案します。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AI導入・活用 総合サービスのご案内</dc:title>
  <dc:subject>PptxGenJS Presentation</dc:subject>
  <dc:creator>Gorilla Knowledge</dc:creator>
  <cp:lastModifiedBy>Gorilla Knowledge</cp:lastModifiedBy>
  <cp:revision>1</cp:revision>
  <dcterms:created xsi:type="dcterms:W3CDTF">2026-03-23T23:51:03Z</dcterms:created>
  <dcterms:modified xsi:type="dcterms:W3CDTF">2026-03-23T23:51:03Z</dcterms:modified>
</cp:coreProperties>
</file>