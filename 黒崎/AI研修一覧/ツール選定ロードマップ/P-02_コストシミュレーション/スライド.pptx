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コストシミュレーション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5146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最新料金で比較する予算別AIスタック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 |  ツール選定ロードマップ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AI投資のROIを具体的な数式で計算できる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0円・3,000円・9,000円・15,000円の4段階で最適スタックを選べる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「40%がやり直し」問題を理解し、正しい対策を実行できる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69494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AI投資のROIの考え方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548640"/>
          </a:xfrm>
          <a:prstGeom prst="rect">
            <a:avLst>
              <a:gd name="adj" fmla="val 8333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7772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時給 × 週節約時間 × 4週 = 月間価値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" y="146304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4630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具体例: ¥3,000 × 7時間 × 4週 = 月84,000円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2148840"/>
            <a:ext cx="2194560" cy="1005840"/>
          </a:xfrm>
          <a:prstGeom prst="rect">
            <a:avLst>
              <a:gd name="adj" fmla="val 4545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月間価値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¥84,000</a:t>
            </a:r>
            <a:endParaRPr lang="en-US" sz="2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514600"/>
            <a:ext cx="182880" cy="1828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474720" y="2148840"/>
            <a:ext cx="2194560" cy="1005840"/>
          </a:xfrm>
          <a:prstGeom prst="rect">
            <a:avLst>
              <a:gd name="adj" fmla="val 4545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やり直しロス 40%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47472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-¥33,600</a:t>
            </a:r>
            <a:endParaRPr lang="en-US" sz="2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514600"/>
            <a:ext cx="182880" cy="1828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035040" y="2148840"/>
            <a:ext cx="2194560" cy="1005840"/>
          </a:xfrm>
          <a:prstGeom prst="rect">
            <a:avLst>
              <a:gd name="adj" fmla="val 4545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3504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実質月間価値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03504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¥50,400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685800" y="3383280"/>
            <a:ext cx="7772400" cy="640080"/>
          </a:xfrm>
          <a:prstGeom prst="rect">
            <a:avLst>
              <a:gd name="adj" fmla="val 7143"/>
            </a:avLst>
          </a:prstGeom>
          <a:solidFill>
            <a:srgbClr val="1B2A4A"/>
          </a:solidFill>
          <a:ln/>
        </p:spPr>
      </p:sp>
      <p:sp>
        <p:nvSpPr>
          <p:cNvPr id="25" name="Text 21"/>
          <p:cNvSpPr/>
          <p:nvPr/>
        </p:nvSpPr>
        <p:spPr>
          <a:xfrm>
            <a:off x="960120" y="33832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年間60万円の価値  vs  AIツール代 年間15万円  =  ROI 400%</a:t>
            </a:r>
            <a:endParaRPr lang="en-US" sz="16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06240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60120" y="41605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週5-7時間節約/人、マネージャー層は7-10時間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90195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LEVEL 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ゼロ円スタート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"/>
            <a:ext cx="1554480" cy="320040"/>
          </a:xfrm>
          <a:prstGeom prst="rect">
            <a:avLst>
              <a:gd name="adj" fmla="val 14286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37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¥0/月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731520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88720" y="731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無料版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29000" y="731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GPT-4o制限付き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897880" y="731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文章生成・翻訳・分析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1298448"/>
            <a:ext cx="77724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89888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1298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無料版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29000" y="12984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1日の回数制限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897880" y="1298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長文分析・コーディング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85800" y="1865376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56816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18653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無料版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429000" y="18653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1日5回Pro検索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897880" y="18653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AI検索・リサーチ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85800" y="2432304"/>
            <a:ext cx="7772400" cy="45720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2374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88720" y="2432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 無料枠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3429000" y="24323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Studio経由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897880" y="24323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動画生成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685800" y="2999232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90672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88720" y="2999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無料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429000" y="29992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月10,000文字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5897880" y="2999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音声合成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85800" y="3657600"/>
            <a:ext cx="7772400" cy="411480"/>
          </a:xfrm>
          <a:prstGeom prst="rect">
            <a:avLst>
              <a:gd name="adj" fmla="val 11111"/>
            </a:avLst>
          </a:prstGeom>
          <a:solidFill>
            <a:srgbClr val="D1FAE5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30752"/>
            <a:ext cx="228600" cy="2286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143000" y="36576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テキスト・検索・動画・音声の4カテゴリを1円も使わず体験できる</a:t>
            </a:r>
            <a:endParaRPr lang="en-US" sz="1400" dirty="0"/>
          </a:p>
        </p:txBody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206240"/>
            <a:ext cx="182880" cy="1828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60120" y="416052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対象: AI活用をこれから始める方 | まず2週間この構成で試す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90195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LEVEL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月3,000円 これだけで60%カバー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"/>
            <a:ext cx="155448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37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¥3,000/月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777240"/>
            <a:ext cx="7772400" cy="1188720"/>
          </a:xfrm>
          <a:prstGeom prst="rect">
            <a:avLst>
              <a:gd name="adj" fmla="val 6154"/>
            </a:avLst>
          </a:prstGeom>
          <a:solidFill>
            <a:srgbClr val="FAFBFC"/>
          </a:solidFill>
          <a:ln w="19050">
            <a:solidFill>
              <a:srgbClr val="2563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172200" y="822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$20/月（≒¥3,000）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17320" y="1234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GPT-4o無制限 | DALL-E画像生成 | Advanced Data Analysis | GPTs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41732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業務の60%以上をカバー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カバーする業務</a:t>
            </a:r>
            <a:endParaRPr lang="en-US" sz="14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0320"/>
            <a:ext cx="164592" cy="1645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2514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メール作成・下書き</a:t>
            </a:r>
            <a:endParaRPr lang="en-US" sz="12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560320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74720" y="2514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企画書ドラフト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560320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035040" y="2514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翻訳・要約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71800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44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Excelデータ分析</a:t>
            </a:r>
            <a:endParaRPr lang="en-US" sz="12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971800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7472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ブレインストーミング</a:t>
            </a:r>
            <a:endParaRPr lang="en-US" sz="12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2971800"/>
            <a:ext cx="164592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03504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コーディング支援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85800" y="3520440"/>
            <a:ext cx="7772400" cy="45720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3593592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43000" y="3520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週5h節約 × 時給¥3,000 = 月¥60,000の価値 → ROI 2,000%</a:t>
            </a:r>
            <a:endParaRPr lang="en-US" sz="14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160520"/>
            <a:ext cx="182880" cy="18288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60120" y="411480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対象: 初めてAIに課金する方 | 最初の1本に最適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90195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LEVEL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月9,000円 業務の80%カバー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"/>
            <a:ext cx="1554480" cy="320040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37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¥9,000/月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777240"/>
            <a:ext cx="7772400" cy="777240"/>
          </a:xfrm>
          <a:prstGeom prst="rect">
            <a:avLst>
              <a:gd name="adj" fmla="val 588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86968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822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Plus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897880" y="822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 ≒ ¥3,000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325880" y="11612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汎用AI -- あらゆる業務の第一打席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" y="1737360"/>
            <a:ext cx="7772400" cy="777240"/>
          </a:xfrm>
          <a:prstGeom prst="rect">
            <a:avLst>
              <a:gd name="adj" fmla="val 588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47088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89788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 ≒ ¥3,000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325880" y="21214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深い思考 -- 報告書・契約書・企画書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617720" y="1810512"/>
            <a:ext cx="1188720" cy="201168"/>
          </a:xfrm>
          <a:prstGeom prst="rect">
            <a:avLst>
              <a:gd name="adj" fmla="val 22727"/>
            </a:avLst>
          </a:prstGeom>
          <a:solidFill>
            <a:srgbClr val="D1FAE5"/>
          </a:solidFill>
          <a:ln/>
        </p:spPr>
      </p:sp>
      <p:sp>
        <p:nvSpPr>
          <p:cNvPr id="22" name="Text 18"/>
          <p:cNvSpPr/>
          <p:nvPr/>
        </p:nvSpPr>
        <p:spPr>
          <a:xfrm>
            <a:off x="4617720" y="181051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年払い$17/月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85800" y="2697480"/>
            <a:ext cx="7772400" cy="777240"/>
          </a:xfrm>
          <a:prstGeom prst="rect">
            <a:avLst>
              <a:gd name="adj" fmla="val 588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80720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Pro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8978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$20/月 ≒ ¥3,000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325880" y="308152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AI検索 -- 出典付き高速リサーチ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85800" y="365760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30752"/>
            <a:ext cx="228600" cy="2286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43000" y="36576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週7h節約 → 実質月¥50,400（やり直しロス込み）→ 年間60万円の価値</a:t>
            </a:r>
            <a:endParaRPr lang="en-US" sz="14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51960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" y="420624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対象: 業務で本格活用したい方 | テキスト系業務をほぼ全カバー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90195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LEVEL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月15,000円 フルスタック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137160"/>
            <a:ext cx="1554480" cy="320040"/>
          </a:xfrm>
          <a:prstGeom prst="rect">
            <a:avLst>
              <a:gd name="adj" fmla="val 14286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37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¥15,000/月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731520"/>
            <a:ext cx="7772400" cy="365760"/>
          </a:xfrm>
          <a:prstGeom prst="rect">
            <a:avLst>
              <a:gd name="adj" fmla="val 12500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731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テキスト3本: ChatGPT Plus + Claude Pro + Perplexity Pro = ¥9,000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132588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188720" y="1417320"/>
            <a:ext cx="502920" cy="201168"/>
          </a:xfrm>
          <a:prstGeom prst="rect">
            <a:avLst>
              <a:gd name="adj" fmla="val 22727"/>
            </a:avLst>
          </a:prstGeom>
          <a:solidFill>
            <a:srgbClr val="D1FAE5"/>
          </a:solidFill>
          <a:ln/>
        </p:spPr>
      </p:sp>
      <p:sp>
        <p:nvSpPr>
          <p:cNvPr id="16" name="Text 13"/>
          <p:cNvSpPr/>
          <p:nvPr/>
        </p:nvSpPr>
        <p:spPr>
          <a:xfrm>
            <a:off x="118872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783080" y="1344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Pro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72200" y="13441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$19.99/月 ≒ ¥2,900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170992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3動画生成 + Gemini高性能AI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初月無料 -- リスクゼロで試せる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85800" y="2331720"/>
            <a:ext cx="7772400" cy="822960"/>
          </a:xfrm>
          <a:prstGeom prst="rect">
            <a:avLst>
              <a:gd name="adj" fmla="val 555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274320" cy="2743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188720" y="2423160"/>
            <a:ext cx="502920" cy="201168"/>
          </a:xfrm>
          <a:prstGeom prst="rect">
            <a:avLst>
              <a:gd name="adj" fmla="val 22727"/>
            </a:avLst>
          </a:prstGeom>
          <a:solidFill>
            <a:srgbClr val="D1FAE5"/>
          </a:solidFill>
          <a:ln/>
        </p:spPr>
      </p:sp>
      <p:sp>
        <p:nvSpPr>
          <p:cNvPr id="23" name="Text 19"/>
          <p:cNvSpPr/>
          <p:nvPr/>
        </p:nvSpPr>
        <p:spPr>
          <a:xfrm>
            <a:off x="1188720" y="24231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783080" y="2350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Basic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172200" y="23500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$10/月 ≒ ¥1,500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188720" y="2715768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高品質画像生成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プレゼン資料・SNS画像・企画書ビジュアル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85800" y="3474720"/>
            <a:ext cx="7772400" cy="411480"/>
          </a:xfrm>
          <a:prstGeom prst="rect">
            <a:avLst>
              <a:gd name="adj" fmla="val 11111"/>
            </a:avLst>
          </a:prstGeom>
          <a:solidFill>
            <a:srgbClr val="DBEAFE"/>
          </a:solidFill>
          <a:ln/>
        </p:spPr>
      </p:sp>
      <p:sp>
        <p:nvSpPr>
          <p:cNvPr id="28" name="Text 24"/>
          <p:cNvSpPr/>
          <p:nvPr/>
        </p:nvSpPr>
        <p:spPr>
          <a:xfrm>
            <a:off x="868680" y="34747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合計: 約¥15,400/月（初月はGoogle AI Pro無料で約¥12,500）</a:t>
            </a:r>
            <a:endParaRPr lang="en-US" sz="14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69080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60120" y="4023360"/>
            <a:ext cx="7452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テキスト+画像+動画+検索 全領域カバー | マネージャー層は週10h節約可能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144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各プランの年間ROI試算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685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前提: 時給¥3,000 / やり直しロス40%控除後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005840"/>
            <a:ext cx="17373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005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005840"/>
            <a:ext cx="11887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1005840"/>
            <a:ext cx="118872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1005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週節約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12801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実質月間価値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80760" y="1005840"/>
            <a:ext cx="128016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年間価値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005840"/>
            <a:ext cx="109728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360920" y="1005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1371600"/>
            <a:ext cx="1737360" cy="502920"/>
          </a:xfrm>
          <a:prstGeom prst="rect">
            <a:avLst/>
          </a:prstGeom>
          <a:solidFill>
            <a:srgbClr val="D1FAE5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13716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23160" y="1371600"/>
            <a:ext cx="1188720" cy="502920"/>
          </a:xfrm>
          <a:prstGeom prst="rect">
            <a:avLst/>
          </a:prstGeom>
          <a:solidFill>
            <a:srgbClr val="D1FAE5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11880" y="1371600"/>
            <a:ext cx="1188720" cy="502920"/>
          </a:xfrm>
          <a:prstGeom prst="rect">
            <a:avLst/>
          </a:prstGeom>
          <a:solidFill>
            <a:srgbClr val="D1FAE5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371600"/>
            <a:ext cx="1280160" cy="502920"/>
          </a:xfrm>
          <a:prstGeom prst="rect">
            <a:avLst/>
          </a:prstGeom>
          <a:solidFill>
            <a:srgbClr val="D1FAE5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¥21,600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1371600"/>
            <a:ext cx="1280160" cy="502920"/>
          </a:xfrm>
          <a:prstGeom prst="rect">
            <a:avLst/>
          </a:prstGeom>
          <a:solidFill>
            <a:srgbClr val="D1FAE5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¥259,200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60920" y="1371600"/>
            <a:ext cx="1097280" cy="502920"/>
          </a:xfrm>
          <a:prstGeom prst="rect">
            <a:avLst/>
          </a:prstGeom>
          <a:solidFill>
            <a:srgbClr val="D1FAE5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6092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" y="1874520"/>
            <a:ext cx="173736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月3,000円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23160" y="1874520"/>
            <a:ext cx="11887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3160" y="1874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¥3,000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11880" y="1874520"/>
            <a:ext cx="118872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11880" y="1874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0600" y="1874520"/>
            <a:ext cx="128016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¥36,000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80760" y="1874520"/>
            <a:ext cx="128016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¥432,000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60920" y="1874520"/>
            <a:ext cx="1097280" cy="502920"/>
          </a:xfrm>
          <a:prstGeom prst="rect">
            <a:avLst/>
          </a:prstGeom>
          <a:solidFill>
            <a:srgbClr val="FAFBFC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1874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1,200%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2377440"/>
            <a:ext cx="1737360" cy="50292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月9,000円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423160" y="2377440"/>
            <a:ext cx="1188720" cy="50292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23160" y="2377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¥9,000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11880" y="2377440"/>
            <a:ext cx="1188720" cy="50292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11880" y="2377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00600" y="2377440"/>
            <a:ext cx="1280160" cy="50292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¥50,400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080760" y="2377440"/>
            <a:ext cx="1280160" cy="50292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2377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¥604,800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360920" y="2377440"/>
            <a:ext cx="1097280" cy="502920"/>
          </a:xfrm>
          <a:prstGeom prst="rect">
            <a:avLst/>
          </a:prstGeom>
          <a:solidFill>
            <a:srgbClr val="DBEAFE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60920" y="2377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560%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85800" y="2880360"/>
            <a:ext cx="1737360" cy="50292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28803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月15,000円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423160" y="2880360"/>
            <a:ext cx="1188720" cy="50292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423160" y="2880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¥15,000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611880" y="2880360"/>
            <a:ext cx="1188720" cy="50292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11880" y="28803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10h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800600" y="2880360"/>
            <a:ext cx="1280160" cy="50292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00600" y="2880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¥72,000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080760" y="2880360"/>
            <a:ext cx="1280160" cy="50292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80760" y="2880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¥864,000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360920" y="2880360"/>
            <a:ext cx="1097280" cy="502920"/>
          </a:xfrm>
          <a:prstGeom prst="rect">
            <a:avLst/>
          </a:prstGeom>
          <a:solidFill>
            <a:srgbClr val="FEF3C7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60920" y="28803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480%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85800" y="338328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pic>
        <p:nvPicPr>
          <p:cNvPr id="7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456432"/>
            <a:ext cx="228600" cy="228600"/>
          </a:xfrm>
          <a:prstGeom prst="rect">
            <a:avLst/>
          </a:prstGeom>
        </p:spPr>
      </p:pic>
      <p:sp>
        <p:nvSpPr>
          <p:cNvPr id="72" name="Text 69"/>
          <p:cNvSpPr/>
          <p:nvPr/>
        </p:nvSpPr>
        <p:spPr>
          <a:xfrm>
            <a:off x="1143000" y="33832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どのプランでもROI 400%超え -- AIは確実にリターンが出る投資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「40%がやり直し」問題の対策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77240"/>
            <a:ext cx="7772400" cy="502920"/>
          </a:xfrm>
          <a:prstGeom prst="rect">
            <a:avLst>
              <a:gd name="adj" fmla="val 9091"/>
            </a:avLst>
          </a:prstGeom>
          <a:solidFill>
            <a:srgbClr val="FEE2E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5039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777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AIの出力の40%はそのまま使えない（精度不足・的外れ・ハルシネーション）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1508760"/>
            <a:ext cx="7772400" cy="685800"/>
          </a:xfrm>
          <a:prstGeom prst="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00200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正しいプロンプト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554480" y="1801368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役割・背景・条件・出力形式を明確に指定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「BtoB SaaSの営業MGRとして提案書をA4 2P箇条書きで」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85800" y="2331720"/>
            <a:ext cx="7772400" cy="685800"/>
          </a:xfrm>
          <a:prstGeom prst="rect">
            <a:avLst>
              <a:gd name="adj" fmla="val 6667"/>
            </a:avLst>
          </a:prstGeom>
          <a:solidFill>
            <a:srgbClr val="D1FAE5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23774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42316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2331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554480" y="2624328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AIの出力を必ず検証。特に数値・固有名詞・法的事項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Perplexityの出典付き回答を活用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85800" y="3154680"/>
            <a:ext cx="7772400" cy="685800"/>
          </a:xfrm>
          <a:prstGeom prst="rect">
            <a:avLst>
              <a:gd name="adj" fmla="val 6667"/>
            </a:avLst>
          </a:prstGeom>
          <a:solidFill>
            <a:srgbClr val="FEF3C7"/>
          </a:solidFill>
          <a:ln/>
        </p:spPr>
      </p:sp>
      <p:sp>
        <p:nvSpPr>
          <p:cNvPr id="23" name="Text 18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24612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段階的導入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554480" y="3447288"/>
            <a:ext cx="6720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いきなり100%任せない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AIに下書き → 人間が仕上げるフローから始める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85800" y="402336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096512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43000" y="40233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対策徹底でやり直し率 40% → 15%に改善 → ROI 700%超へ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会社への提案テンプレート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731520"/>
            <a:ext cx="7772400" cy="365760"/>
          </a:xfrm>
          <a:prstGeom prst="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315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ポイント: 数字で語る -- 年間○時間削減、○万円節約、ROI○%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252728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234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現状の課題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12344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「営業5人が提案書作成に月20h/人。年間1,200時間」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143000" y="1691640"/>
            <a:ext cx="73152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17647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17647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「ChatGPT Plus + Claude Proで作成時間50%削減」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43000" y="2221992"/>
            <a:ext cx="73152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313432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2951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4600" y="229514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「月¥9,000 × 5人 = 月¥45,000。年間¥540,000」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2752344"/>
            <a:ext cx="73152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843784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28254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リターン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14600" y="282549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「年間600h削減 × 時給¥3,000 = 年間¥1,800,000」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43000" y="3282696"/>
            <a:ext cx="7315200" cy="0"/>
          </a:xfrm>
          <a:prstGeom prst="line">
            <a:avLst/>
          </a:prstGeom>
          <a:noFill/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374136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3355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14600" y="33558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「投資¥54万 → リターン¥180万 = ROI 333%」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397764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050792"/>
            <a:ext cx="228600" cy="2286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143000" y="39776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補足: 「全ツールに無料版あり。まず1か月トライアルから」→ リスクの低さで後押し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685800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68580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ROI公式: 時給 × 週節約時間 × 4週 × 60%（やり直しロス控除）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261872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533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261872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予算4段階: ¥0 → ¥3,000 → ¥9,000 → ¥15,000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1837944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938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1837944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どのプランでもROI 400%超え -- AIは確実にリターンが出る投資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2414016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50545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2414016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やり直しロスは対策で40%→15%に改善可能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85800" y="2990088"/>
            <a:ext cx="7772400" cy="457200"/>
          </a:xfrm>
          <a:prstGeom prst="rect">
            <a:avLst>
              <a:gd name="adj" fmla="val 10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08152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2990088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会社提案は「数字で語る」-- 年間○時間、○万円、ROI○%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85800" y="374904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40480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88720" y="3749040"/>
            <a:ext cx="7086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確認テスト: 5問中4問正解(80%)で修了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09728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 修了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コストを制する者がAI活用を制す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次のステップ: P-03 90日ロードマップ設計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P-02: コストシミュレーション</dc:title>
  <dc:subject>PptxGenJS Presentation</dc:subject>
  <dc:creator>Gorilla Knowledge</dc:creator>
  <cp:lastModifiedBy>Gorilla Knowledge</cp:lastModifiedBy>
  <cp:revision>1</cp:revision>
  <dcterms:created xsi:type="dcterms:W3CDTF">2026-04-04T11:05:32Z</dcterms:created>
  <dcterms:modified xsi:type="dcterms:W3CDTF">2026-04-04T11:05:32Z</dcterms:modified>
</cp:coreProperties>
</file>