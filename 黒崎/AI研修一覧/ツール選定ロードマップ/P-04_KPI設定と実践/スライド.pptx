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KPI設定＋効果測定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感覚ではなく数字で成果を証明する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 |  ツール選定ロードマップ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AI導入に必要な3つのKPIを設計できる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効果測定テンプレートで週次記録を始められる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やり直しロスを防ぐ具体策を実行できる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数字で測れないものは改善できない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502920"/>
          </a:xfrm>
          <a:prstGeom prst="rect">
            <a:avLst>
              <a:gd name="adj" fmla="val 909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7772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KPIを設定する理由: 感覚ではなくデータで判断する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508760"/>
            <a:ext cx="3566160" cy="1371600"/>
          </a:xfrm>
          <a:prstGeom prst="rect">
            <a:avLst>
              <a:gd name="adj" fmla="val 33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感覚で判断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「なんとなく便利になった」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予算カット・継続困難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17720" y="1508760"/>
            <a:ext cx="3566160" cy="1371600"/>
          </a:xfrm>
          <a:prstGeom prst="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データで判断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0060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「月20時間削減、人件費換算10万円」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予算継続・拡大承認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320040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200400"/>
            <a:ext cx="7086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統計: 85%の従業員がAIで週1-7時間の節約を報告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KPI①: 削減時間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777240"/>
            <a:ext cx="2103120" cy="1371600"/>
          </a:xfrm>
          <a:prstGeom prst="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作業開始時刻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を記録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280160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520440" y="777240"/>
            <a:ext cx="2103120" cy="1371600"/>
          </a:xfrm>
          <a:prstGeom prst="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AI使用後の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完了時刻を記録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80760" y="777240"/>
            <a:ext cx="2103120" cy="1371600"/>
          </a:xfrm>
          <a:prstGeom prst="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17220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 =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削減時間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85800" y="242316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24231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Excelテンプレート例: 日付 | 業務名 | 開始時刻 | 終了時刻 | 従来所要時間 | 差分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0040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60120" y="315468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最初の1週間はベースライン計測に使う | 週5-7時間節約が平均的な効果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KPI②: AI活用頻度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7772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1日何回AIを使ったか。段階的に目標を上げていく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554480"/>
            <a:ext cx="2286000" cy="1463040"/>
          </a:xfrm>
          <a:prstGeom prst="rect">
            <a:avLst>
              <a:gd name="adj" fmla="val 312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1日3回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習慣づけ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057400"/>
            <a:ext cx="182880" cy="1828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29000" y="1554480"/>
            <a:ext cx="2286000" cy="1463040"/>
          </a:xfrm>
          <a:prstGeom prst="rect">
            <a:avLst>
              <a:gd name="adj" fmla="val 312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2ヶ月目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1日5回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42900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定着</a:t>
            </a:r>
            <a:endParaRPr lang="en-US" sz="14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057400"/>
            <a:ext cx="182880" cy="182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89320" y="1554480"/>
            <a:ext cx="2286000" cy="1463040"/>
          </a:xfrm>
          <a:prstGeom prst="rect">
            <a:avLst>
              <a:gd name="adj" fmla="val 312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893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3ヶ月目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98932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1日10回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98932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自然に使える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60120" y="324612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計測方法: 退勤前1分メモ。段階を踏むのがポイント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KPI③: アウトプット品質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822960"/>
          </a:xfrm>
          <a:prstGeom prst="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144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9601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手戻り率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91640" y="11887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AI使用前後で修正回数が減ったか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提出→差し戻し回数をカウント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1783080"/>
            <a:ext cx="7772400" cy="822960"/>
          </a:xfrm>
          <a:prstGeom prst="rect">
            <a:avLst>
              <a:gd name="adj" fmla="val 5556"/>
            </a:avLst>
          </a:prstGeom>
          <a:solidFill>
            <a:srgbClr val="D1FAE5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9659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164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上司修正回数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691640" y="2194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赤ペンが入った箇所数を記録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指摘が減れば品質向上の証拠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2788920"/>
            <a:ext cx="7772400" cy="822960"/>
          </a:xfrm>
          <a:prstGeom prst="rect">
            <a:avLst>
              <a:gd name="adj" fmla="val 5556"/>
            </a:avLst>
          </a:prstGeom>
          <a:solidFill>
            <a:srgbClr val="FEF3C7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9718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クライアント満足度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691640" y="32004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提案への反応をヒアリングまたはアンケート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ポジティブ評価の変化を追跡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5800" y="3794760"/>
            <a:ext cx="7772400" cy="411480"/>
          </a:xfrm>
          <a:prstGeom prst="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25" name="Text 20"/>
          <p:cNvSpPr/>
          <p:nvPr/>
        </p:nvSpPr>
        <p:spPr>
          <a:xfrm>
            <a:off x="868680" y="37947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核心の問い: 「AI使用前後で修正回数が減ったか？」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効果測定テンプレート（週次記録シート）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1645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777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31720" y="777240"/>
            <a:ext cx="128016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777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従来時間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777240"/>
            <a:ext cx="128016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777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AI後時間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777240"/>
            <a:ext cx="10972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777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777240"/>
            <a:ext cx="24688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777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気づき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1234440"/>
            <a:ext cx="164592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メール作成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31720" y="1234440"/>
            <a:ext cx="128016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234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11880" y="1234440"/>
            <a:ext cx="128016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234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234440"/>
            <a:ext cx="109728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89320" y="1234440"/>
            <a:ext cx="246888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定型文は特に効果大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16916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議事録要約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331720" y="169164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11880" y="169164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8分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92040" y="169164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691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89320" y="16916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音声録音と組合せると最強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2148840"/>
            <a:ext cx="164592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提案書下書き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331720" y="2148840"/>
            <a:ext cx="128016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3172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60分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11880" y="2148840"/>
            <a:ext cx="128016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20分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92040" y="2148840"/>
            <a:ext cx="109728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148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989320" y="2148840"/>
            <a:ext cx="246888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932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構成案から作らせるのがコツ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5800" y="2926080"/>
            <a:ext cx="7772400" cy="731520"/>
          </a:xfrm>
          <a:prstGeom prst="rect">
            <a:avLst>
              <a:gd name="adj" fmla="val 6250"/>
            </a:avLst>
          </a:prstGeom>
          <a:solidFill>
            <a:srgbClr val="DBEAFE"/>
          </a:solidFill>
          <a:ln/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63240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280160" y="2926080"/>
            <a:ext cx="69951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記入: 金曜の退勤前5分 | フォーマット: Excel / スプレッドシート / Notion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「気づき」列がチーム内ナレッジ共有に化ける。5列以上に増やさない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節約時間の40%がやり直しで消える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85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971800" y="685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がやり直しで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消えている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0" y="777240"/>
            <a:ext cx="3017520" cy="1097280"/>
          </a:xfrm>
          <a:prstGeom prst="rect">
            <a:avLst>
              <a:gd name="adj" fmla="val 4167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7772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週5-7時間節約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うち2-3時間がロス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7772400" cy="502920"/>
          </a:xfrm>
          <a:prstGeom prst="rect">
            <a:avLst>
              <a:gd name="adj" fmla="val 9091"/>
            </a:avLst>
          </a:prstGeom>
          <a:solidFill>
            <a:srgbClr val="FEE2E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9572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原因1: プロンプトが雑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86200" y="2286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目的が不明確なまま投げる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2926080"/>
            <a:ext cx="7772400" cy="502920"/>
          </a:xfrm>
          <a:prstGeom prst="rect">
            <a:avLst>
              <a:gd name="adj" fmla="val 9091"/>
            </a:avLst>
          </a:prstGeom>
          <a:solidFill>
            <a:srgbClr val="FEF3C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35808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原因2: ファクトチェックしない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886200" y="2926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AIの嘘をそのまま使う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356616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75888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原因3: AIに丸投げ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3886200" y="35661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自分の判断を放棄する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やり直しを減らす3つの対策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868680"/>
          </a:xfrm>
          <a:prstGeom prst="rect">
            <a:avLst>
              <a:gd name="adj" fmla="val 5263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9144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9601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8229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目的を明確にしてからAIに投げる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91640" y="1143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「誰に」「何を」「どうしたい」を必ず書く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この3点をプロンプトに入れるだけで精度が劇的に変わる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1828800"/>
            <a:ext cx="7772400" cy="868680"/>
          </a:xfrm>
          <a:prstGeom prst="rect">
            <a:avLst>
              <a:gd name="adj" fmla="val 5263"/>
            </a:avLst>
          </a:prstGeom>
          <a:solidFill>
            <a:srgbClr val="D1FAE5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0116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18745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出力は必ず人間がチェック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91640" y="21945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数字・固有名詞・論理の飛躍を確認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全文精読は不要。危険ポイントだけチェック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2880360"/>
            <a:ext cx="7772400" cy="868680"/>
          </a:xfrm>
          <a:prstGeom prst="rect">
            <a:avLst>
              <a:gd name="adj" fmla="val 5263"/>
            </a:avLst>
          </a:prstGeom>
          <a:solidFill>
            <a:srgbClr val="FEF3C7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30175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063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9260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「もっと具体的に」と追加指示する習慣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32461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1回で完璧は無理。2-3往復の対話で磨く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40%のロスを10%以下に下げられる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成功する組織の共通点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3566160" cy="1005840"/>
          </a:xfrm>
          <a:prstGeom prst="rect">
            <a:avLst>
              <a:gd name="adj" fmla="val 4545"/>
            </a:avLst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914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868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トップが率先して使う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経営層が自ら使う姿を見せる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17720" y="777240"/>
            <a:ext cx="3566160" cy="1005840"/>
          </a:xfrm>
          <a:prstGeom prst="rect">
            <a:avLst>
              <a:gd name="adj" fmla="val 4545"/>
            </a:avLst>
          </a:prstGeom>
          <a:solidFill>
            <a:srgbClr val="FEE2E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9144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868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強制しない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6636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義務ではなく環境を整える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1965960"/>
            <a:ext cx="3566160" cy="1005840"/>
          </a:xfrm>
          <a:prstGeom prst="rect">
            <a:avLst>
              <a:gd name="adj" fmla="val 4545"/>
            </a:avLst>
          </a:prstGeom>
          <a:solidFill>
            <a:srgbClr val="FEF3C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057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成功事例を社内共有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234440" y="2377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Slack/Teamsで「便利だった」を投稿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617720" y="1965960"/>
            <a:ext cx="3566160" cy="1005840"/>
          </a:xfrm>
          <a:prstGeom prst="rect">
            <a:avLst>
              <a:gd name="adj" fmla="val 4545"/>
            </a:avLst>
          </a:prstGeom>
          <a:solidFill>
            <a:srgbClr val="D1FA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031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057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小さく始めて大きく育てる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166360" y="2377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1チーム→全社に横展開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85800" y="3200400"/>
            <a:ext cx="7772400" cy="777240"/>
          </a:xfrm>
          <a:prstGeom prst="rect">
            <a:avLst>
              <a:gd name="adj" fmla="val 5882"/>
            </a:avLst>
          </a:prstGeom>
          <a:solidFill>
            <a:srgbClr val="F3F4F6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AI導入成功率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6012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187452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テクノロジー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24612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416052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53212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644652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</a:t>
            </a:r>
            <a:endParaRPr lang="en-US" sz="14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60520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0120" y="411480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中小企業のAI導入率はまだ10%未満。今始めれば先行者利益を取れる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54864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914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77724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KPIは3つ: 削減時間・AI活用頻度・アウトプット品質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1463040"/>
            <a:ext cx="7772400" cy="54864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46304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効果測定テンプレートで週次記録（金曜5分）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2148840"/>
            <a:ext cx="7772400" cy="54864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14884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40%ロスは「目的明確化＋チェック＋追加指示」で防ぐ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2834640"/>
            <a:ext cx="7772400" cy="548640"/>
          </a:xfrm>
          <a:prstGeom prst="rect">
            <a:avLst>
              <a:gd name="adj" fmla="val 8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718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834640"/>
            <a:ext cx="6995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成功組織は「トップが使い、強制せず、成功を共有し、小さく始める」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85800" y="361188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033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61188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確認テスト: 5問中4問正解(80%)で修了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修了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数字で語れるAI活用者になろう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次のステップ: P-05 Pack6総まとめ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P-04: KPI設定＋効果測定</dc:title>
  <dc:subject>PptxGenJS Presentation</dc:subject>
  <dc:creator>Gorilla Knowledge</dc:creator>
  <cp:lastModifiedBy>Gorilla Knowledge</cp:lastModifiedBy>
  <cp:revision>1</cp:revision>
  <dcterms:created xsi:type="dcterms:W3CDTF">2026-04-04T11:05:17Z</dcterms:created>
  <dcterms:modified xsi:type="dcterms:W3CDTF">2026-04-04T11:05:17Z</dcterms:modified>
</cp:coreProperties>
</file>