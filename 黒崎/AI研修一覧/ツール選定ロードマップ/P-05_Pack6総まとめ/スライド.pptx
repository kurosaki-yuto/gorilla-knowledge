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9144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6 完了おめでとうございます！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51460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総まとめ＋ネクストアクション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  |  ツール選定ロードマップ  |  12分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24358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6で学んだ全体像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777240"/>
            <a:ext cx="9144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7772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00200" y="777240"/>
            <a:ext cx="18288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777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29000" y="777240"/>
            <a:ext cx="18288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777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講座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57800" y="777240"/>
            <a:ext cx="32004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777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学んだツール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1280160"/>
            <a:ext cx="914400" cy="50292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12801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600200" y="1280160"/>
            <a:ext cx="1828800" cy="5029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0020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考える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29000" y="1280160"/>
            <a:ext cx="1828800" cy="5029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1280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L1-L4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257800" y="1280160"/>
            <a:ext cx="3200400" cy="5029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1280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 / Gemini / Perplexity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1783080"/>
            <a:ext cx="914400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17830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600200" y="178308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0200" y="1783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実行する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429000" y="178308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1783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L5-L6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257800" y="178308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17830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Genspark / Manus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" y="2286000"/>
            <a:ext cx="914400" cy="5029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22860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600200" y="2286000"/>
            <a:ext cx="1828800" cy="5029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00200" y="2286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作る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429000" y="2286000"/>
            <a:ext cx="1828800" cy="5029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29000" y="2286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L7-L9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257800" y="2286000"/>
            <a:ext cx="3200400" cy="5029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57800" y="2286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 / Veo3 / Claude資料生成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5800" y="2788920"/>
            <a:ext cx="914400" cy="502920"/>
          </a:xfrm>
          <a:prstGeom prst="rect">
            <a:avLst/>
          </a:prstGeom>
          <a:solidFill>
            <a:srgbClr val="EDE9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27889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600200" y="278892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00200" y="2788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掛け合わせる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429000" y="278892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29000" y="2788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L10-L11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257800" y="278892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7800" y="2788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クロスツールワークフロー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85800" y="3291840"/>
            <a:ext cx="914400" cy="502920"/>
          </a:xfrm>
          <a:prstGeom prst="rect">
            <a:avLst/>
          </a:prstGeom>
          <a:solidFill>
            <a:srgbClr val="CCFBF1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32918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600200" y="3291840"/>
            <a:ext cx="1828800" cy="5029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600200" y="3291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広げる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3429000" y="3291840"/>
            <a:ext cx="1828800" cy="5029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29000" y="3291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L12-L14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257800" y="3291840"/>
            <a:ext cx="3200400" cy="5029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57800" y="3291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組織展開 / ロードマップ策定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144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L1-L4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A:「考える」を加速する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777240"/>
            <a:ext cx="7772400" cy="45720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7772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1つの質問を4ツールで比較した時の違い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0100" y="1463040"/>
            <a:ext cx="1783080" cy="1828800"/>
          </a:xfrm>
          <a:prstGeom prst="rect">
            <a:avLst>
              <a:gd name="adj" fmla="val 2564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60020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00100" y="19202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91540" y="22860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万能選手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メール・企画・翻訳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20340" y="1463040"/>
            <a:ext cx="1783080" cy="1828800"/>
          </a:xfrm>
          <a:prstGeom prst="rect">
            <a:avLst>
              <a:gd name="adj" fmla="val 2564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60020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720340" y="19202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811780" y="22860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長文読解・論理分析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契約書・議事録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640580" y="1463040"/>
            <a:ext cx="1783080" cy="1828800"/>
          </a:xfrm>
          <a:prstGeom prst="rect">
            <a:avLst>
              <a:gd name="adj" fmla="val 2564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60020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40580" y="19202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732020" y="22860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Google連携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スプレッドシート統合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560820" y="1463040"/>
            <a:ext cx="1783080" cy="1828800"/>
          </a:xfrm>
          <a:prstGeom prst="rect">
            <a:avLst>
              <a:gd name="adj" fmla="val 2564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60020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60820" y="19202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6652260" y="22860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リアルタイム検索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調査特化型</a:t>
            </a:r>
            <a:endParaRPr lang="en-US" sz="12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566160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0120" y="352044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ポイント: 「どれが一番か」ではなく「何をしたいかで使い分ける」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144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L5-L6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B:「実行する」を自動化する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777240"/>
            <a:ext cx="7772400" cy="457200"/>
          </a:xfrm>
          <a:prstGeom prst="rect">
            <a:avLst>
              <a:gd name="adj" fmla="val 10000"/>
            </a:avLst>
          </a:prstGeom>
          <a:solidFill>
            <a:srgbClr val="D1FAE5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7772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エージェントが変える未来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3000" y="1463040"/>
            <a:ext cx="3200400" cy="1828800"/>
          </a:xfrm>
          <a:prstGeom prst="rect">
            <a:avLst>
              <a:gd name="adj" fmla="val 2500"/>
            </a:avLst>
          </a:prstGeom>
          <a:solidFill>
            <a:srgbClr val="FAFBFC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3180" y="160020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4300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Genspark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80160" y="2331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横断リサーチ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レポート自動生成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競合分析・市場調査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800600" y="1463040"/>
            <a:ext cx="3200400" cy="1828800"/>
          </a:xfrm>
          <a:prstGeom prst="rect">
            <a:avLst>
              <a:gd name="adj" fmla="val 2500"/>
            </a:avLst>
          </a:prstGeom>
          <a:solidFill>
            <a:srgbClr val="FAFBFC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780" y="160020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80060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937760" y="2331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自律的タスク実行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ウェブ操作・ファイル生成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一気通貫処理</a:t>
            </a:r>
            <a:endParaRPr lang="en-US" sz="14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66160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60120" y="352044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チャットAI = 質問に答える / エージェント = タスクを丸ごとこなす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144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L7-L9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C:「作る」をAIに任せる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777240"/>
            <a:ext cx="7772400" cy="45720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7772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年間160時間削減の実績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1463040"/>
            <a:ext cx="2286000" cy="1828800"/>
          </a:xfrm>
          <a:prstGeom prst="rect">
            <a:avLst>
              <a:gd name="adj" fmla="val 2500"/>
            </a:avLst>
          </a:prstGeom>
          <a:solidFill>
            <a:srgbClr val="FAFB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91640" y="1554480"/>
            <a:ext cx="731520" cy="201168"/>
          </a:xfrm>
          <a:prstGeom prst="rect">
            <a:avLst>
              <a:gd name="adj" fmla="val 13636"/>
            </a:avLst>
          </a:prstGeom>
          <a:solidFill>
            <a:srgbClr val="FEF3C7"/>
          </a:solidFill>
          <a:ln/>
        </p:spPr>
      </p:sp>
      <p:sp>
        <p:nvSpPr>
          <p:cNvPr id="13" name="Text 11"/>
          <p:cNvSpPr/>
          <p:nvPr/>
        </p:nvSpPr>
        <p:spPr>
          <a:xfrm>
            <a:off x="1691640" y="15544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182880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144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05840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 → 高品質画像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広告・プレゼン素材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429000" y="1463040"/>
            <a:ext cx="2286000" cy="1828800"/>
          </a:xfrm>
          <a:prstGeom prst="rect">
            <a:avLst>
              <a:gd name="adj" fmla="val 2500"/>
            </a:avLst>
          </a:prstGeom>
          <a:solidFill>
            <a:srgbClr val="FAFB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06240" y="1554480"/>
            <a:ext cx="731520" cy="201168"/>
          </a:xfrm>
          <a:prstGeom prst="rect">
            <a:avLst>
              <a:gd name="adj" fmla="val 13636"/>
            </a:avLst>
          </a:prstGeom>
          <a:solidFill>
            <a:srgbClr val="FEF3C7"/>
          </a:solidFill>
          <a:ln/>
        </p:spPr>
      </p:sp>
      <p:sp>
        <p:nvSpPr>
          <p:cNvPr id="19" name="Text 16"/>
          <p:cNvSpPr/>
          <p:nvPr/>
        </p:nvSpPr>
        <p:spPr>
          <a:xfrm>
            <a:off x="4206240" y="15544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</a:t>
            </a:r>
            <a:endParaRPr lang="en-US" sz="1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82880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290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3520440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 → 動画生成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外注30万円 → 月2,900円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943600" y="1463040"/>
            <a:ext cx="2286000" cy="1828800"/>
          </a:xfrm>
          <a:prstGeom prst="rect">
            <a:avLst>
              <a:gd name="adj" fmla="val 2500"/>
            </a:avLst>
          </a:prstGeom>
          <a:solidFill>
            <a:srgbClr val="FAFB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720840" y="1554480"/>
            <a:ext cx="731520" cy="201168"/>
          </a:xfrm>
          <a:prstGeom prst="rect">
            <a:avLst>
              <a:gd name="adj" fmla="val 13636"/>
            </a:avLst>
          </a:prstGeom>
          <a:solidFill>
            <a:srgbClr val="FEF3C7"/>
          </a:solidFill>
          <a:ln/>
        </p:spPr>
      </p:sp>
      <p:sp>
        <p:nvSpPr>
          <p:cNvPr id="25" name="Text 21"/>
          <p:cNvSpPr/>
          <p:nvPr/>
        </p:nvSpPr>
        <p:spPr>
          <a:xfrm>
            <a:off x="6720840" y="15544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</a:t>
            </a:r>
            <a:endParaRPr lang="en-US" sz="10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828800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9436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6035040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 → 資料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ドラフト一瞬作成</a:t>
            </a:r>
            <a:endParaRPr lang="en-US" sz="14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66160"/>
            <a:ext cx="201168" cy="20116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60120" y="3520440"/>
            <a:ext cx="7452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クリエイティブ作業は専門家だけのものではない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133856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13385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L10-L14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D-E:「掛け合わせる」＋「広げる」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777240"/>
            <a:ext cx="3474720" cy="411480"/>
          </a:xfrm>
          <a:prstGeom prst="rect">
            <a:avLst>
              <a:gd name="adj" fmla="val 11111"/>
            </a:avLst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777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D: 「掛け合わせる」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44752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34440" y="13716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→ リサーチ</a:t>
            </a:r>
            <a:endParaRPr lang="en-US" sz="14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56232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34440" y="17830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→ 分析</a:t>
            </a:r>
            <a:endParaRPr lang="en-US" sz="14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267712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21945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→ 文書化</a:t>
            </a:r>
            <a:endParaRPr lang="en-US" sz="14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679192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26060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 → ビジュアル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846320" y="777240"/>
            <a:ext cx="3474720" cy="411480"/>
          </a:xfrm>
          <a:prstGeom prst="rect">
            <a:avLst>
              <a:gd name="adj" fmla="val 11111"/>
            </a:avLst>
          </a:prstGeom>
          <a:solidFill>
            <a:srgbClr val="CCFBF1"/>
          </a:solidFill>
          <a:ln/>
        </p:spPr>
      </p:sp>
      <p:sp>
        <p:nvSpPr>
          <p:cNvPr id="20" name="Text 14"/>
          <p:cNvSpPr/>
          <p:nvPr/>
        </p:nvSpPr>
        <p:spPr>
          <a:xfrm>
            <a:off x="4937760" y="777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E: 「広げる」</a:t>
            </a:r>
            <a:endParaRPr lang="en-US" sz="16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444752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57800" y="13716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ツール選定の基準づくり</a:t>
            </a:r>
            <a:endParaRPr lang="en-US" sz="14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1856232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257800" y="17830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コスト対効果の見える化</a:t>
            </a:r>
            <a:endParaRPr lang="en-US" sz="14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2267712"/>
            <a:ext cx="182880" cy="1828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257800" y="21945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90日ロードマップ設計</a:t>
            </a:r>
            <a:endParaRPr lang="en-US" sz="14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2679192"/>
            <a:ext cx="182880" cy="18288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257800" y="26060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KPIによる効果測定</a:t>
            </a:r>
            <a:endParaRPr lang="en-US" sz="1400" dirty="0"/>
          </a:p>
        </p:txBody>
      </p:sp>
      <p:sp>
        <p:nvSpPr>
          <p:cNvPr id="29" name="Shape 19"/>
          <p:cNvSpPr/>
          <p:nvPr/>
        </p:nvSpPr>
        <p:spPr>
          <a:xfrm>
            <a:off x="685800" y="3383280"/>
            <a:ext cx="7772400" cy="45720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30" name="Text 20"/>
          <p:cNvSpPr/>
          <p:nvPr/>
        </p:nvSpPr>
        <p:spPr>
          <a:xfrm>
            <a:off x="868680" y="338328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一人のスキルを組織の力に変える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受講前 vs 受講後  Before / After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777240"/>
            <a:ext cx="201168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777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97480" y="777240"/>
            <a:ext cx="237744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777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74920" y="777240"/>
            <a:ext cx="237744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777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52360" y="777240"/>
            <a:ext cx="100584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452360" y="77724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削減率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1325880"/>
            <a:ext cx="2011680" cy="5486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3258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メール作成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697480" y="1325880"/>
            <a:ext cx="2377440" cy="54864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1325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3時間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74920" y="1325880"/>
            <a:ext cx="2377440" cy="54864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325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30分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52360" y="1325880"/>
            <a:ext cx="1005840" cy="5486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13258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" y="187452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18745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リサーチ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697480" y="1874520"/>
            <a:ext cx="2377440" cy="54864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7480" y="1874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1日（8時間）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74920" y="1874520"/>
            <a:ext cx="2377440" cy="54864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18745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30分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52360" y="1874520"/>
            <a:ext cx="1005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52360" y="18745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85800" y="2423160"/>
            <a:ext cx="2011680" cy="5486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2423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提案書（たたき台）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697480" y="2423160"/>
            <a:ext cx="2377440" cy="54864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97480" y="2423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5時間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074920" y="2423160"/>
            <a:ext cx="2377440" cy="54864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2423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5分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452360" y="2423160"/>
            <a:ext cx="1005840" cy="5486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52360" y="24231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85800" y="297180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2971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動画制作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697480" y="2971800"/>
            <a:ext cx="2377440" cy="54864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97480" y="2971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外注30万円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074920" y="2971800"/>
            <a:ext cx="2377440" cy="54864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4920" y="29718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月2,900円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452360" y="2971800"/>
            <a:ext cx="1005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52360" y="297180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85800" y="3611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人間の判断と最終チェックは必ず必要です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あなたが手に入れた4つのスキル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777240"/>
            <a:ext cx="7772400" cy="658368"/>
          </a:xfrm>
          <a:prstGeom prst="rect">
            <a:avLst>
              <a:gd name="adj" fmla="val 6944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89611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94183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822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12種類のツール操作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691640" y="112471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 / Gemini / Perplexity / Genspark / Manus / Midjourney / Veo3 等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800" y="1554480"/>
            <a:ext cx="7772400" cy="658368"/>
          </a:xfrm>
          <a:prstGeom prst="rect">
            <a:avLst>
              <a:gd name="adj" fmla="val 6944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1673352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71907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91640" y="1600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使い分け判断力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691640" y="190195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業務に応じて最適なツールを瞬時に選択できる力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85800" y="2331720"/>
            <a:ext cx="7772400" cy="658368"/>
          </a:xfrm>
          <a:prstGeom prst="rect">
            <a:avLst>
              <a:gd name="adj" fmla="val 6944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22960" y="2450592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49631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2377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ワークフロー設計力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691640" y="267919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複数ツールを組み合わせた業務プロセス全体の効率化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85800" y="3108960"/>
            <a:ext cx="7772400" cy="658368"/>
          </a:xfrm>
          <a:prstGeom prst="rect">
            <a:avLst>
              <a:gd name="adj" fmla="val 6944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22960" y="3227832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27355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3154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ロードマップ策定力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691640" y="345643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コスト計算 / 導入計画 / KPI設定まで含めた実行計画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5486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AIは道具。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使いこなす人が勝つ。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3200400" y="2560320"/>
            <a:ext cx="27432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71600" y="2743200"/>
            <a:ext cx="2926080" cy="640080"/>
          </a:xfrm>
          <a:prstGeom prst="rect">
            <a:avLst>
              <a:gd name="adj" fmla="val 7143"/>
            </a:avLst>
          </a:prstGeom>
          <a:solidFill>
            <a:srgbClr val="FEE2E2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2743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中小企業AI導入率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まだ10%未満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907792"/>
            <a:ext cx="274320" cy="274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846320" y="2743200"/>
            <a:ext cx="2926080" cy="640080"/>
          </a:xfrm>
          <a:prstGeom prst="rect">
            <a:avLst>
              <a:gd name="adj" fmla="val 7143"/>
            </a:avLst>
          </a:prstGeom>
          <a:solidFill>
            <a:srgbClr val="D1FAE5"/>
          </a:solidFill>
          <a:ln/>
        </p:spPr>
      </p:sp>
      <p:sp>
        <p:nvSpPr>
          <p:cNvPr id="14" name="Text 10"/>
          <p:cNvSpPr/>
          <p:nvPr/>
        </p:nvSpPr>
        <p:spPr>
          <a:xfrm>
            <a:off x="4846320" y="2743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今始めれば先行者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1年後に差がつく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判断力さえあれば、AIは最強のパートナーになる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ネクストアクション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777240"/>
            <a:ext cx="7772400" cy="822960"/>
          </a:xfrm>
          <a:prstGeom prst="rect">
            <a:avLst>
              <a:gd name="adj" fmla="val 5556"/>
            </a:avLst>
          </a:prstGeom>
          <a:solidFill>
            <a:srgbClr val="FAFB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868680"/>
            <a:ext cx="603504" cy="228600"/>
          </a:xfrm>
          <a:prstGeom prst="rect">
            <a:avLst>
              <a:gd name="adj" fmla="val 12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868680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72184" y="9601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6544" y="100584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523744" y="868680"/>
            <a:ext cx="44256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Proに登録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523744" y="1234440"/>
            <a:ext cx="442569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GeminiとVeo3をフル活用。投資対効果の実感が一気に高まる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1828800"/>
            <a:ext cx="7772400" cy="822960"/>
          </a:xfrm>
          <a:prstGeom prst="rect">
            <a:avLst>
              <a:gd name="adj" fmla="val 5556"/>
            </a:avLst>
          </a:prstGeom>
          <a:solidFill>
            <a:srgbClr val="FAFBFC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" y="1920240"/>
            <a:ext cx="603504" cy="228600"/>
          </a:xfrm>
          <a:prstGeom prst="rect">
            <a:avLst>
              <a:gd name="adj" fmla="val 12000"/>
            </a:avLst>
          </a:prstGeom>
          <a:solidFill>
            <a:srgbClr val="059669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1920240"/>
            <a:ext cx="603504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今週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472184" y="201168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544" y="205740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523744" y="1920240"/>
            <a:ext cx="442569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ロードマップのWeek1を実行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2523744" y="2286000"/>
            <a:ext cx="442569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完璧を目指さない。一番簡単なタスクからAIを使ってみる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85800" y="2880360"/>
            <a:ext cx="7772400" cy="822960"/>
          </a:xfrm>
          <a:prstGeom prst="rect">
            <a:avLst>
              <a:gd name="adj" fmla="val 5556"/>
            </a:avLst>
          </a:prstGeom>
          <a:solidFill>
            <a:srgbClr val="FAFB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22960" y="2971800"/>
            <a:ext cx="932688" cy="228600"/>
          </a:xfrm>
          <a:prstGeom prst="rect">
            <a:avLst>
              <a:gd name="adj" fmla="val 12000"/>
            </a:avLst>
          </a:prstGeom>
          <a:solidFill>
            <a:srgbClr val="D97706"/>
          </a:solidFill>
          <a:ln/>
        </p:spPr>
      </p:sp>
      <p:sp>
        <p:nvSpPr>
          <p:cNvPr id="23" name="Text 19"/>
          <p:cNvSpPr/>
          <p:nvPr/>
        </p:nvSpPr>
        <p:spPr>
          <a:xfrm>
            <a:off x="822960" y="2971800"/>
            <a:ext cx="932688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2週間後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801368" y="306324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3108960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852928" y="2971800"/>
            <a:ext cx="409651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振り返り＋調整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2852928" y="3337560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KPIを確認し、計画を現実に合わせてアップデート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20116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STORIES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日本のAI導入成功事例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777240"/>
            <a:ext cx="2286000" cy="2377440"/>
          </a:xfrm>
          <a:prstGeom prst="rect">
            <a:avLst>
              <a:gd name="adj" fmla="val 2000"/>
            </a:avLst>
          </a:prstGeom>
          <a:solidFill>
            <a:srgbClr val="FAFBFC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5940" y="91440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カオナビ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05840" y="1691640"/>
            <a:ext cx="1920240" cy="411480"/>
          </a:xfrm>
          <a:prstGeom prst="rect">
            <a:avLst>
              <a:gd name="adj" fmla="val 11111"/>
            </a:avLst>
          </a:prstGeom>
          <a:solidFill>
            <a:srgbClr val="DBEAFE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1691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顧客115%増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6012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AIを活用したマーケティングと顧客分析で成長を加速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429000" y="777240"/>
            <a:ext cx="2286000" cy="2377440"/>
          </a:xfrm>
          <a:prstGeom prst="rect">
            <a:avLst>
              <a:gd name="adj" fmla="val 2000"/>
            </a:avLst>
          </a:prstGeom>
          <a:solidFill>
            <a:srgbClr val="FAFBFC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91440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2900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旭鉄工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3611880" y="1691640"/>
            <a:ext cx="1920240" cy="411480"/>
          </a:xfrm>
          <a:prstGeom prst="rect">
            <a:avLst>
              <a:gd name="adj" fmla="val 11111"/>
            </a:avLst>
          </a:prstGeom>
          <a:solidFill>
            <a:srgbClr val="D1FAE5"/>
          </a:solidFill>
          <a:ln/>
        </p:spPr>
      </p:sp>
      <p:sp>
        <p:nvSpPr>
          <p:cNvPr id="19" name="Text 15"/>
          <p:cNvSpPr/>
          <p:nvPr/>
        </p:nvSpPr>
        <p:spPr>
          <a:xfrm>
            <a:off x="3611880" y="1691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生産効率1.5倍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56616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IoT×AIによる生産ライン最適化。中小製造業の成功例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035040" y="777240"/>
            <a:ext cx="2286000" cy="2377440"/>
          </a:xfrm>
          <a:prstGeom prst="rect">
            <a:avLst>
              <a:gd name="adj" fmla="val 2000"/>
            </a:avLst>
          </a:prstGeom>
          <a:solidFill>
            <a:srgbClr val="FAFBFC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020" y="91440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3504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ゑびや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217920" y="1691640"/>
            <a:ext cx="1920240" cy="411480"/>
          </a:xfrm>
          <a:prstGeom prst="rect">
            <a:avLst>
              <a:gd name="adj" fmla="val 11111"/>
            </a:avLst>
          </a:prstGeom>
          <a:solidFill>
            <a:srgbClr val="FEF3C7"/>
          </a:solidFill>
          <a:ln/>
        </p:spPr>
      </p:sp>
      <p:sp>
        <p:nvSpPr>
          <p:cNvPr id="25" name="Text 20"/>
          <p:cNvSpPr/>
          <p:nvPr/>
        </p:nvSpPr>
        <p:spPr>
          <a:xfrm>
            <a:off x="6217920" y="16916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予測的中率95%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172200" y="2194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AIによる来客数予測で食品ロスを大幅削減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85800" y="3383280"/>
            <a:ext cx="7772400" cy="45720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28" name="Text 23"/>
          <p:cNvSpPr/>
          <p:nvPr/>
        </p:nvSpPr>
        <p:spPr>
          <a:xfrm>
            <a:off x="868680" y="338328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大企業だけの話ではない。あなたも同じことができる。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0972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60604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AIを味方に、明日からの業務を変えていこう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  |  Pack 6 完了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P-05: Pack 6 総まとめ＋ネクストアクション</dc:title>
  <dc:subject>PptxGenJS Presentation</dc:subject>
  <dc:creator>Gorilla Knowledge</dc:creator>
  <cp:lastModifiedBy>Gorilla Knowledge</cp:lastModifiedBy>
  <cp:revision>1</cp:revision>
  <dcterms:created xsi:type="dcterms:W3CDTF">2026-04-04T11:05:17Z</dcterms:created>
  <dcterms:modified xsi:type="dcterms:W3CDTF">2026-04-04T11:05:17Z</dcterms:modified>
</cp:coreProperties>
</file>