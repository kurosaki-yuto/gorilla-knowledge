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8229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90日AI導入ロードマップ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週単位で「明日から何をやるか」が決まる実践計画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   |   全社員向け   |   12分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90日間・12週を3フェーズに分けた導入計画がわかる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「今週やること」が週単位で明確になる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90日後の自分のBefore/Afterがイメージできる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なぜ「90日」なのか？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1051560"/>
            <a:ext cx="22860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051560"/>
            <a:ext cx="2286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325880"/>
            <a:ext cx="1097280" cy="411480"/>
          </a:xfrm>
          <a:prstGeom prst="rect">
            <a:avLst>
              <a:gd name="adj" fmla="val 22222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325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短すぎる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習慣化する前に終わる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29000" y="1051560"/>
            <a:ext cx="22860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051560"/>
            <a:ext cx="22860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Shape 13"/>
          <p:cNvSpPr/>
          <p:nvPr/>
        </p:nvSpPr>
        <p:spPr>
          <a:xfrm>
            <a:off x="4023360" y="1325880"/>
            <a:ext cx="1097280" cy="411480"/>
          </a:xfrm>
          <a:prstGeom prst="rect">
            <a:avLst>
              <a:gd name="adj" fmla="val 22222"/>
            </a:avLst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1325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長すぎる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6616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途中で飽きてフェードアウト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89320" y="1051560"/>
            <a:ext cx="22860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1051560"/>
            <a:ext cx="228600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1325880"/>
            <a:ext cx="1097280" cy="411480"/>
          </a:xfrm>
          <a:prstGeom prst="rect">
            <a:avLst>
              <a:gd name="adj" fmla="val 22222"/>
            </a:avLst>
          </a:prstGeom>
          <a:solidFill>
            <a:srgbClr val="D1FAE5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325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8932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ちょうどいい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2648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習慣定着(66日)+3フェーズに分割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97280" y="3246120"/>
            <a:ext cx="2194560" cy="411480"/>
          </a:xfrm>
          <a:prstGeom prst="rect">
            <a:avLst>
              <a:gd name="adj" fmla="val 17778"/>
            </a:avLst>
          </a:prstGeom>
          <a:solidFill>
            <a:srgbClr val="DBEAFE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3246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1: 個人で使う</a:t>
            </a:r>
            <a:endParaRPr lang="en-US" sz="13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0984" y="3337560"/>
            <a:ext cx="164592" cy="164592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3474720" y="3246120"/>
            <a:ext cx="2194560" cy="411480"/>
          </a:xfrm>
          <a:prstGeom prst="rect">
            <a:avLst>
              <a:gd name="adj" fmla="val 17778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3474720" y="3246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2: 武器を増やす</a:t>
            </a:r>
            <a:endParaRPr lang="en-US" sz="13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424" y="3337560"/>
            <a:ext cx="164592" cy="164592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5852160" y="3246120"/>
            <a:ext cx="2194560" cy="411480"/>
          </a:xfrm>
          <a:prstGeom prst="rect">
            <a:avLst>
              <a:gd name="adj" fmla="val 17778"/>
            </a:avLst>
          </a:prstGeom>
          <a:solidFill>
            <a:srgbClr val="EDE9FE"/>
          </a:solidFill>
          <a:ln/>
        </p:spPr>
      </p:sp>
      <p:sp>
        <p:nvSpPr>
          <p:cNvPr id="32" name="Text 28"/>
          <p:cNvSpPr/>
          <p:nvPr/>
        </p:nvSpPr>
        <p:spPr>
          <a:xfrm>
            <a:off x="5852160" y="3246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3: チームに広げる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85800" y="3931920"/>
            <a:ext cx="7772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4" name="Text 30"/>
          <p:cNvSpPr/>
          <p:nvPr/>
        </p:nvSpPr>
        <p:spPr>
          <a:xfrm>
            <a:off x="960120" y="39319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90日 =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「知る → 使う → 教える」</a:t>
            </a:r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の全サイクルが回せる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26187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39112" y="320040"/>
            <a:ext cx="138988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2039112" y="32004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ChatGPT導入 — 「1日3回AIに聞く」習慣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234440"/>
            <a:ext cx="7772400" cy="5943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344168"/>
            <a:ext cx="548640" cy="365760"/>
          </a:xfrm>
          <a:prstGeom prst="rect">
            <a:avLst>
              <a:gd name="adj" fmla="val 15000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344168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103120" y="12344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メールの下書きをChatGPTで作成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85800" y="1920240"/>
            <a:ext cx="7772400" cy="5943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029968"/>
            <a:ext cx="548640" cy="365760"/>
          </a:xfrm>
          <a:prstGeom prst="rect">
            <a:avLst>
              <a:gd name="adj" fmla="val 15000"/>
            </a:avLst>
          </a:prstGeom>
          <a:solidFill>
            <a:srgbClr val="DBEAFE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20299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昧</a:t>
            </a:r>
            <a:endParaRPr lang="en-US" sz="13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029968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103120" y="1920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会議後の議事録をAIで要約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685800" y="2606040"/>
            <a:ext cx="7772400" cy="59436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22960" y="2715768"/>
            <a:ext cx="548640" cy="365760"/>
          </a:xfrm>
          <a:prstGeom prst="rect">
            <a:avLst>
              <a:gd name="adj" fmla="val 15000"/>
            </a:avLst>
          </a:prstGeom>
          <a:solidFill>
            <a:srgbClr val="DBEAFE"/>
          </a:solidFill>
          <a:ln/>
        </p:spPr>
      </p:sp>
      <p:sp>
        <p:nvSpPr>
          <p:cNvPr id="23" name="Text 19"/>
          <p:cNvSpPr/>
          <p:nvPr/>
        </p:nvSpPr>
        <p:spPr>
          <a:xfrm>
            <a:off x="822960" y="27157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夕</a:t>
            </a:r>
            <a:endParaRPr lang="en-US" sz="13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715768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103120" y="26060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明日のタスクのアイデア出しをAIに相談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85800" y="3383280"/>
            <a:ext cx="7772400" cy="502920"/>
          </a:xfrm>
          <a:prstGeom prst="rect">
            <a:avLst>
              <a:gd name="adj" fmla="val 18182"/>
            </a:avLst>
          </a:prstGeom>
          <a:solidFill>
            <a:srgbClr val="DBEAF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7472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25880" y="3383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目標: 1日3回AIに聞く習慣をつける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685800" y="4114800"/>
            <a:ext cx="7772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4"/>
          <p:cNvSpPr/>
          <p:nvPr/>
        </p:nvSpPr>
        <p:spPr>
          <a:xfrm>
            <a:off x="960120" y="41148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コツ: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完璧な回答を求めない。「たたき台」をもらう感覚でOK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26187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39112" y="320040"/>
            <a:ext cx="138988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2039112" y="32004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+ Claude追加 — 使い分けを体で覚える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1143000"/>
            <a:ext cx="22860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143000"/>
            <a:ext cx="22860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143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25880" y="1783080"/>
            <a:ext cx="1463040" cy="320040"/>
          </a:xfrm>
          <a:prstGeom prst="rect">
            <a:avLst>
              <a:gd name="adj" fmla="val 17143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1783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万能選手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雑談からコード生成まで何でもいける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29000" y="1143000"/>
            <a:ext cx="22860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1143000"/>
            <a:ext cx="228600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1143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840480" y="1783080"/>
            <a:ext cx="1463040" cy="320040"/>
          </a:xfrm>
          <a:prstGeom prst="rect">
            <a:avLst>
              <a:gd name="adj" fmla="val 17143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1783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調べ物専用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ソース付きで信頼性が高い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0" y="1143000"/>
            <a:ext cx="22860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143000"/>
            <a:ext cx="22860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1143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55080" y="1783080"/>
            <a:ext cx="1463040" cy="320040"/>
          </a:xfrm>
          <a:prstGeom prst="rect">
            <a:avLst>
              <a:gd name="adj" fmla="val 17143"/>
            </a:avLst>
          </a:prstGeom>
          <a:solidFill>
            <a:srgbClr val="EDE9FE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1783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長文・分析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報告書や提案書の下書きに最適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" y="3474720"/>
            <a:ext cx="7772400" cy="502920"/>
          </a:xfrm>
          <a:prstGeom prst="rect">
            <a:avLst>
              <a:gd name="adj" fmla="val 14545"/>
            </a:avLst>
          </a:prstGeom>
          <a:solidFill>
            <a:srgbClr val="FEF3C7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566160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325880" y="34747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練習法: 同じ質問を3ツールに投げて回答を比較してみる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0"/>
          <p:cNvSpPr/>
          <p:nvPr/>
        </p:nvSpPr>
        <p:spPr>
          <a:xfrm>
            <a:off x="960120" y="42062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「このタスクはどのAIが向いてるか」</a:t>
            </a:r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を体感する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1の成功指標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1556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51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邱5時間以上の時間削減を実感できている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5564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1691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「AIなしだと不便」と感じるタスクが3つ以上ある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9572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331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Perplexity / Claude を場面で使い分けられる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85800" y="3108960"/>
            <a:ext cx="7772400" cy="640080"/>
          </a:xfrm>
          <a:prstGeom prst="rect">
            <a:avLst>
              <a:gd name="adj" fmla="val 11429"/>
            </a:avLst>
          </a:prstGeom>
          <a:solidFill>
            <a:srgbClr val="FEF3C7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18688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108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セルフテスト: 金曜退勤時「今週AIがなかったら何が困ったか」を3つ言えるか？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1"/>
          <p:cNvSpPr/>
          <p:nvPr/>
        </p:nvSpPr>
        <p:spPr>
          <a:xfrm>
            <a:off x="960120" y="40233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合格ライン: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「AIなしには戻れない」</a:t>
            </a:r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と思えたらMonth 1クリア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261872" cy="256032"/>
          </a:xfrm>
          <a:prstGeom prst="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39112" y="320040"/>
            <a:ext cx="1389888" cy="256032"/>
          </a:xfrm>
          <a:prstGeom prst="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2039112" y="32004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クリエイティブツール導入 — まず触ってみる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234440"/>
            <a:ext cx="7772400" cy="62179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62456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08760" y="123444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Veo3で動画を1本作る（30秒のプロモ動画でOK）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85800" y="1965960"/>
            <a:ext cx="7772400" cy="62179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93976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08760" y="196596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Midjourneyで画像を5枚生成（SNS用、プレゼン素材）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85800" y="2697480"/>
            <a:ext cx="7772400" cy="62179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25496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269748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「プロンプトを変えると出力が変わる」を体験する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85800" y="3520440"/>
            <a:ext cx="7772400" cy="502920"/>
          </a:xfrm>
          <a:prstGeom prst="rect">
            <a:avLst>
              <a:gd name="adj" fmla="val 14545"/>
            </a:avLst>
          </a:prstGeom>
          <a:solidFill>
            <a:srgbClr val="FEF3C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118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520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マインドセット: 上手く作ろうとしない。「こんなことできるんだ」を味わう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685800" y="4251960"/>
            <a:ext cx="7772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18"/>
          <p:cNvSpPr/>
          <p:nvPr/>
        </p:nvSpPr>
        <p:spPr>
          <a:xfrm>
            <a:off x="960120" y="42519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テキストから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画像・動画</a:t>
            </a:r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へ。AI活用の幅を広げる2週間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261872" cy="256032"/>
          </a:xfrm>
          <a:prstGeom prst="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39112" y="320040"/>
            <a:ext cx="1389888" cy="256032"/>
          </a:xfrm>
          <a:prstGeom prst="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2039112" y="32004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業務フロー統合 — 一気通貫を3回以上実践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1188720"/>
            <a:ext cx="2011680" cy="731520"/>
          </a:xfrm>
          <a:prstGeom prst="rect">
            <a:avLst>
              <a:gd name="adj" fmla="val 12500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6976" y="1435608"/>
            <a:ext cx="201168" cy="20116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566160" y="1188720"/>
            <a:ext cx="2011680" cy="731520"/>
          </a:xfrm>
          <a:prstGeom prst="rect">
            <a:avLst>
              <a:gd name="adj" fmla="val 12500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6616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56616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構成+本文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856" y="1435608"/>
            <a:ext cx="201168" cy="20116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035040" y="1188720"/>
            <a:ext cx="2011680" cy="731520"/>
          </a:xfrm>
          <a:prstGeom prst="rect">
            <a:avLst>
              <a:gd name="adj" fmla="val 125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3504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資料完成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03504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77240" y="2331720"/>
            <a:ext cx="594360" cy="320040"/>
          </a:xfrm>
          <a:prstGeom prst="rect">
            <a:avLst>
              <a:gd name="adj" fmla="val 17143"/>
            </a:avLst>
          </a:prstGeom>
          <a:solidFill>
            <a:srgbClr val="DBEAFE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233172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1回目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554480" y="2286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競合調査レポート（Perplexityで調査 → Claudeで整理）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777240" y="2834640"/>
            <a:ext cx="594360" cy="320040"/>
          </a:xfrm>
          <a:prstGeom prst="rect">
            <a:avLst>
              <a:gd name="adj" fmla="val 17143"/>
            </a:avLst>
          </a:prstGeom>
          <a:solidFill>
            <a:srgbClr val="DBEAFE"/>
          </a:solidFill>
          <a:ln/>
        </p:spPr>
      </p:sp>
      <p:sp>
        <p:nvSpPr>
          <p:cNvPr id="26" name="Text 22"/>
          <p:cNvSpPr/>
          <p:nvPr/>
        </p:nvSpPr>
        <p:spPr>
          <a:xfrm>
            <a:off x="777240" y="28346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2回目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554480" y="2788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提案書作成（Perplexityで事例収集 → Claudeで提案書化）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777240" y="3337560"/>
            <a:ext cx="594360" cy="320040"/>
          </a:xfrm>
          <a:prstGeom prst="rect">
            <a:avLst>
              <a:gd name="adj" fmla="val 17143"/>
            </a:avLst>
          </a:prstGeom>
          <a:solidFill>
            <a:srgbClr val="DBEAFE"/>
          </a:solidFill>
          <a:ln/>
        </p:spPr>
      </p:sp>
      <p:sp>
        <p:nvSpPr>
          <p:cNvPr id="29" name="Text 25"/>
          <p:cNvSpPr/>
          <p:nvPr/>
        </p:nvSpPr>
        <p:spPr>
          <a:xfrm>
            <a:off x="777240" y="33375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3回目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55448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自由課題（自分の業務で同じフローを試す）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685800" y="3931920"/>
            <a:ext cx="7772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Text 28"/>
          <p:cNvSpPr/>
          <p:nvPr/>
        </p:nvSpPr>
        <p:spPr>
          <a:xfrm>
            <a:off x="960120" y="39319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3回やると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「全部このパターンでいける」</a:t>
            </a:r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と気づく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2の成功指標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1556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51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「AIに任せるタスク」と「人がやるタスク」の線引きが明確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5564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1691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テキスト以外（画像・動画）もAIで作った経験がある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9572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331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→ Claude → 資料の一気通貫フローを実践済み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85800" y="3108960"/>
            <a:ext cx="7772400" cy="640080"/>
          </a:xfrm>
          <a:prstGeom prst="rect">
            <a:avLst>
              <a:gd name="adj" fmla="val 11429"/>
            </a:avLst>
          </a:prstGeom>
          <a:solidFill>
            <a:srgbClr val="FEF3C7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18688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108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セルフテスト: 「このタスク、AIに任せる？自分でやる？」に即答できるか？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1"/>
          <p:cNvSpPr/>
          <p:nvPr/>
        </p:nvSpPr>
        <p:spPr>
          <a:xfrm>
            <a:off x="960120" y="40233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合格ライン: AIと自分の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「役割分担」</a:t>
            </a:r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が見えていたらMonth 2クリア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1261872" cy="256032"/>
          </a:xfrm>
          <a:prstGeom prst="rect">
            <a:avLst>
              <a:gd name="adj" fmla="val 17857"/>
            </a:avLst>
          </a:prstGeom>
          <a:solidFill>
            <a:srgbClr val="EDE9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39112" y="320040"/>
            <a:ext cx="1517904" cy="256032"/>
          </a:xfrm>
          <a:prstGeom prst="rect">
            <a:avLst>
              <a:gd name="adj" fmla="val 17857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2039112" y="320040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9-12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チーム展開 + ナレッジ共有 — 個人から組織へ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353312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813816" y="1572768"/>
            <a:ext cx="0" cy="438912"/>
          </a:xfrm>
          <a:prstGeom prst="line">
            <a:avLst/>
          </a:prstGeom>
          <a:noFill/>
          <a:ln w="25400">
            <a:solidFill>
              <a:srgbClr val="EDE9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11887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298448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606040" y="118872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自分の成功体験を3つ書き出す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31520" y="201168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Shape 14"/>
          <p:cNvSpPr/>
          <p:nvPr/>
        </p:nvSpPr>
        <p:spPr>
          <a:xfrm>
            <a:off x="813816" y="2231136"/>
            <a:ext cx="0" cy="438912"/>
          </a:xfrm>
          <a:prstGeom prst="line">
            <a:avLst/>
          </a:prstGeom>
          <a:noFill/>
          <a:ln w="25400">
            <a:solidFill>
              <a:srgbClr val="EDE9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51560" y="184708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3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956816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06040" y="184708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同僚1人に使い方を教える（ランチ30分でOK）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731520" y="2670048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Shape 18"/>
          <p:cNvSpPr/>
          <p:nvPr/>
        </p:nvSpPr>
        <p:spPr>
          <a:xfrm>
            <a:off x="813816" y="2889504"/>
            <a:ext cx="0" cy="438912"/>
          </a:xfrm>
          <a:prstGeom prst="line">
            <a:avLst/>
          </a:prstGeom>
          <a:noFill/>
          <a:ln w="25400">
            <a:solidFill>
              <a:srgbClr val="EDE9F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51560" y="250545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3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2615184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606040" y="250545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社内勉強会を1回開催（活用事例3つ紹介）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731520" y="3328416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2"/>
          <p:cNvSpPr/>
          <p:nvPr/>
        </p:nvSpPr>
        <p:spPr>
          <a:xfrm>
            <a:off x="1051560" y="316382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13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273552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606040" y="316382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ベストプラクティスを1枚にまとめて共有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5"/>
          <p:cNvSpPr/>
          <p:nvPr/>
        </p:nvSpPr>
        <p:spPr>
          <a:xfrm>
            <a:off x="960120" y="40233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ポイント: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教えることで自分の理解も深まる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90日後のあなた — Before / After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960120"/>
            <a:ext cx="3474720" cy="411480"/>
          </a:xfrm>
          <a:prstGeom prst="rect">
            <a:avLst>
              <a:gd name="adj" fmla="val 17778"/>
            </a:avLst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960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83480" y="960120"/>
            <a:ext cx="3474720" cy="411480"/>
          </a:xfrm>
          <a:prstGeom prst="rect">
            <a:avLst>
              <a:gd name="adj" fmla="val 17778"/>
            </a:avLst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960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0058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検索に30分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2064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Perplexityで5分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5800" y="1892808"/>
            <a:ext cx="77724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メール作成に20分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2064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ChatGPTで3分のたたき台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85800" y="2350008"/>
            <a:ext cx="77724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資料作成に半日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2064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一気通貫フローで2時間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85800" y="2807208"/>
            <a:ext cx="77724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動画は外注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2064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Veo3で自分で作れる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85800" y="3264408"/>
            <a:ext cx="77724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AIは「なんか難しそう」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2064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「AIなしには戻れない」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4"/>
          <p:cNvSpPr/>
          <p:nvPr/>
        </p:nvSpPr>
        <p:spPr>
          <a:xfrm>
            <a:off x="960120" y="40233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大事なのは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来週の月曜日、Week 1のアクションを始めること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90日AI導入ロードマップ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15544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ChatGPT導入 → 1日3回の習慣づくり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9933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9933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+ Claude → 使い分けを体で覚える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4323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243230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 + Midjourney → クリエイティブ領域へ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8712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87121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一気通貫フロー → 業務統合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3101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9-12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331012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チーム展開 → 個人から組織へ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確認テスト（5問）→ 80%以上で修了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来週月曜日、Week 1のアクションを始めましょう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 | Gorilla Knowledge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P-03: 90日AI導入ロードマップ</dc:title>
  <dc:subject>PptxGenJS Presentation</dc:subject>
  <dc:creator>Gorilla Knowledge</dc:creator>
  <cp:lastModifiedBy>Gorilla Knowledge</cp:lastModifiedBy>
  <cp:revision>1</cp:revision>
  <dcterms:created xsi:type="dcterms:W3CDTF">2026-04-04T11:05:53Z</dcterms:created>
  <dcterms:modified xsi:type="dcterms:W3CDTF">2026-04-04T11:05:53Z</dcterms:modified>
</cp:coreProperties>
</file>