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ツール選定戦略＆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自社AI活用ロードマップ策定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6 | 最終回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 |  全ツール総整理＋選定フローチャート  |  約12分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2026年4月版 — 最新データ反映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この講義が終わったら、あなたは...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17043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170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097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主要AIツールを3カテゴリで俯瞰できる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709928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709928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8288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175564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チャットAI 4ツールの「得意技」を即答できる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368296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368296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48716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487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241401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目的別ツール選定フローチャートを使える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026664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026664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3145536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145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07238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月$60で業務の80%をカバーする最強セットを組める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3685032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685032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3803904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803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37307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ROIの現実（節約時間とやり直しリスク）を説明できる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今日のアジェンダ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411480"/>
          </a:xfrm>
          <a:prstGeom prst="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51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1051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0920" y="1051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508760"/>
            <a:ext cx="7772400" cy="502920"/>
          </a:xfrm>
          <a:prstGeom prst="rect">
            <a:avLst>
              <a:gd name="adj" fmla="val 7273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508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1508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全ツール総整理＋選定フローチャート  ◀ NOW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1508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103120"/>
            <a:ext cx="777240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5740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コストシミュレーション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60920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697480"/>
            <a:ext cx="7772400" cy="502920"/>
          </a:xfrm>
          <a:prstGeom prst="rect">
            <a:avLst>
              <a:gd name="adj" fmla="val 7273"/>
            </a:avLst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697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5740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90日ロードマップ設計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2697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3291840"/>
            <a:ext cx="777240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291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05740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KPI設定と実践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60920" y="3291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3886200"/>
            <a:ext cx="7772400" cy="502920"/>
          </a:xfrm>
          <a:prstGeom prst="rect">
            <a:avLst>
              <a:gd name="adj" fmla="val 7273"/>
            </a:avLst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886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5740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6総まとめ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60920" y="3886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AIツール全体マップ 2026年4月版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1645920" cy="274320"/>
          </a:xfrm>
          <a:prstGeom prst="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960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7772400" cy="237744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2801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Plus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80360" y="12801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128016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GPT-5.2, Agent Mode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1536192"/>
            <a:ext cx="77724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5361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15361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15361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4.6, 100万トークン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1792224"/>
            <a:ext cx="7772400" cy="237744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17922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Pro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179222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$19.99/月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179222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Pro, Veo3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2048256"/>
            <a:ext cx="77724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0482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Pro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80360" y="20482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60520" y="204825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出典付き, モデル切替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2331720"/>
            <a:ext cx="1645920" cy="274320"/>
          </a:xfrm>
          <a:prstGeom prst="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2651760"/>
            <a:ext cx="7772400" cy="237744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26517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Genspark Plus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0360" y="26517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$24.99/月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60520" y="265176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50+モデル, AI Slides/Sites  (Trustpilot 1.7/5 注意)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3063240"/>
            <a:ext cx="1645920" cy="274320"/>
          </a:xfrm>
          <a:prstGeom prst="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063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クリエイティブ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3383280"/>
            <a:ext cx="7772400" cy="237744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33832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80360" y="338328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$10〜60/月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60520" y="338328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V7画像生成, 無料枠なし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" y="3639312"/>
            <a:ext cx="77724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36393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80360" y="363931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60520" y="36393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動画生成, 1日3本まで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" y="3895344"/>
            <a:ext cx="7772400" cy="237744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38953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 Creator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880360" y="389534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$29/月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60520" y="389534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IV, 175言語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5800" y="4151376"/>
            <a:ext cx="777240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41513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880360" y="415137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無料〜$11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60520" y="415137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音声合成, 無料10k文字/月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チャットAI 4ツール徹底比較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914400"/>
            <a:ext cx="7772400" cy="320040"/>
          </a:xfrm>
          <a:prstGeom prst="rect">
            <a:avLst>
              <a:gd name="adj" fmla="val 1142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14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9144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3320" y="9144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9144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86600" y="914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1261872"/>
            <a:ext cx="7772400" cy="512064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261872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126187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03320" y="126187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(年$17)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94960" y="126187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86600" y="126187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1810512"/>
            <a:ext cx="77724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1810512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181051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03320" y="181051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181051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86600" y="181051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" y="2359152"/>
            <a:ext cx="7772400" cy="512064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359152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11680" y="235915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03320" y="235915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トークン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94960" y="235915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トークン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86600" y="235915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" y="2907792"/>
            <a:ext cx="77724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2907792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得意分野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11680" y="290779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03320" y="290779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文書・分析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94960" y="290779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Google統合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86600" y="290779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" y="3456432"/>
            <a:ext cx="7772400" cy="512064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456432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独自機能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11680" y="345643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Sora, Agent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03320" y="345643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年払い割引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94960" y="3456432"/>
            <a:ext cx="1600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初月無料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86600" y="345643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無制限Search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モデル切替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各ツールの「これだけは覚えろ」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1783080" cy="2926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05840"/>
            <a:ext cx="178308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88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1645920"/>
            <a:ext cx="1508760" cy="457200"/>
          </a:xfrm>
          <a:prstGeom prst="rect">
            <a:avLst>
              <a:gd name="adj" fmla="val 12000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 + Agent Mode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カスタムAIアプリ＆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自律タスク実行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51760" y="1005840"/>
            <a:ext cx="1783080" cy="2926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005840"/>
            <a:ext cx="178308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188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88920" y="1645920"/>
            <a:ext cx="1508760" cy="457200"/>
          </a:xfrm>
          <a:prstGeom prst="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100万トークン + 文書力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286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長文一括処理＆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高品質ライティング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1005840"/>
            <a:ext cx="1783080" cy="2926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005840"/>
            <a:ext cx="178308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188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54880" y="1645920"/>
            <a:ext cx="1508760" cy="457200"/>
          </a:xfrm>
          <a:prstGeom prst="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Google統合 + Veo3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2286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Workspace連携＆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動画生成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1005840"/>
            <a:ext cx="1783080" cy="2926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1005840"/>
            <a:ext cx="1783080" cy="36576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1188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45920"/>
            <a:ext cx="150876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1645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出典付きリサーチ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22860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信頼性の高い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情報収集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4114800"/>
            <a:ext cx="777240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114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キーワード1つで各ツールの強みを即答できる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クリエイティブツール比較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960120"/>
            <a:ext cx="6949440" cy="320040"/>
          </a:xfrm>
          <a:prstGeom prst="rect">
            <a:avLst>
              <a:gd name="adj" fmla="val 1142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960120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33472" y="960120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用途・特徴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93792" y="960120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22592" y="960120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1325880"/>
            <a:ext cx="6949440" cy="6858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132588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33472" y="1325880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V7画像生成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パーソナライゼーション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93792" y="132588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$10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$30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$60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22592" y="1325880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2057400"/>
            <a:ext cx="69494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70432" y="205740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33472" y="2057400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AI動画生成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Pro内で利用)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93792" y="205740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Pro)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22592" y="2057400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1日3本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97280" y="2788920"/>
            <a:ext cx="6949440" cy="6858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3" name="Text 21"/>
          <p:cNvSpPr/>
          <p:nvPr/>
        </p:nvSpPr>
        <p:spPr>
          <a:xfrm>
            <a:off x="1170432" y="278892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33472" y="2788920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IV アバター動画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175言語, Video Agent 2.0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93792" y="278892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$29/月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22592" y="2788920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97280" y="3520440"/>
            <a:ext cx="69494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170432" y="3520440"/>
            <a:ext cx="13167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33472" y="3520440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音声合成・ボイスクローン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高品質ナレーション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93792" y="3520440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$5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$11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22592" y="3520440"/>
            <a:ext cx="950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10k文字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/月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ツール選定フローチャート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74320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何をしたい？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1600200"/>
            <a:ext cx="2194560" cy="292608"/>
          </a:xfrm>
          <a:prstGeom prst="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6002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調べ物・リサーチ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1600200"/>
            <a:ext cx="2103120" cy="292608"/>
          </a:xfrm>
          <a:prstGeom prst="rect">
            <a:avLst>
              <a:gd name="adj" fmla="val 15625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6002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1947672"/>
            <a:ext cx="2194560" cy="292608"/>
          </a:xfrm>
          <a:prstGeom prst="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9476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文書作成・分析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9476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31920" y="1947672"/>
            <a:ext cx="2103120" cy="292608"/>
          </a:xfrm>
          <a:prstGeom prst="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19476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2295144"/>
            <a:ext cx="2194560" cy="292608"/>
          </a:xfrm>
          <a:prstGeom prst="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29514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29514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31920" y="2295144"/>
            <a:ext cx="2103120" cy="292608"/>
          </a:xfrm>
          <a:prstGeom prst="rect">
            <a:avLst>
              <a:gd name="adj" fmla="val 15625"/>
            </a:avLst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22951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0" y="2642616"/>
            <a:ext cx="2194560" cy="292608"/>
          </a:xfrm>
          <a:prstGeom prst="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264261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動画（短尺）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642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931920" y="2642616"/>
            <a:ext cx="2103120" cy="292608"/>
          </a:xfrm>
          <a:prstGeom prst="rect">
            <a:avLst>
              <a:gd name="adj" fmla="val 15625"/>
            </a:avLst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0" y="264261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0" y="2990088"/>
            <a:ext cx="2194560" cy="292608"/>
          </a:xfrm>
          <a:prstGeom prst="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29900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動画（アバター）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29900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931920" y="2990088"/>
            <a:ext cx="2103120" cy="292608"/>
          </a:xfrm>
          <a:prstGeom prst="rect">
            <a:avLst>
              <a:gd name="adj" fmla="val 15625"/>
            </a:avLst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0" y="29900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0" y="3337560"/>
            <a:ext cx="2194560" cy="292608"/>
          </a:xfrm>
          <a:prstGeom prst="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33375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Google連携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33375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931920" y="3337560"/>
            <a:ext cx="2103120" cy="292608"/>
          </a:xfrm>
          <a:prstGeom prst="rect">
            <a:avLst>
              <a:gd name="adj" fmla="val 15625"/>
            </a:avLst>
          </a:prstGeom>
          <a:solidFill>
            <a:srgbClr val="2D4A7A"/>
          </a:solidFill>
          <a:ln/>
        </p:spPr>
      </p:sp>
      <p:sp>
        <p:nvSpPr>
          <p:cNvPr id="38" name="Text 36"/>
          <p:cNvSpPr/>
          <p:nvPr/>
        </p:nvSpPr>
        <p:spPr>
          <a:xfrm>
            <a:off x="3931920" y="33375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97280" y="3685032"/>
            <a:ext cx="2194560" cy="292608"/>
          </a:xfrm>
          <a:prstGeom prst="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40" name="Text 38"/>
          <p:cNvSpPr/>
          <p:nvPr/>
        </p:nvSpPr>
        <p:spPr>
          <a:xfrm>
            <a:off x="1097280" y="3685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ナレーション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83280" y="36850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931920" y="3685032"/>
            <a:ext cx="2103120" cy="292608"/>
          </a:xfrm>
          <a:prstGeom prst="rect">
            <a:avLst>
              <a:gd name="adj" fmla="val 15625"/>
            </a:avLst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3931920" y="368503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97280" y="4032504"/>
            <a:ext cx="2194560" cy="292608"/>
          </a:xfrm>
          <a:prstGeom prst="rect">
            <a:avLst>
              <a:gd name="adj" fmla="val 15625"/>
            </a:avLst>
          </a:prstGeom>
          <a:solidFill>
            <a:srgbClr val="F3F4F6"/>
          </a:solidFill>
          <a:ln/>
        </p:spPr>
      </p:sp>
      <p:sp>
        <p:nvSpPr>
          <p:cNvPr id="45" name="Text 43"/>
          <p:cNvSpPr/>
          <p:nvPr/>
        </p:nvSpPr>
        <p:spPr>
          <a:xfrm>
            <a:off x="1097280" y="40325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迷ったら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83280" y="40325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931920" y="4032504"/>
            <a:ext cx="2103120" cy="292608"/>
          </a:xfrm>
          <a:prstGeom prst="rect">
            <a:avLst>
              <a:gd name="adj" fmla="val 15625"/>
            </a:avLst>
          </a:prstGeom>
          <a:solidFill>
            <a:srgbClr val="DC2626"/>
          </a:solidFill>
          <a:ln/>
        </p:spPr>
      </p:sp>
      <p:sp>
        <p:nvSpPr>
          <p:cNvPr id="48" name="Text 46"/>
          <p:cNvSpPr/>
          <p:nvPr/>
        </p:nvSpPr>
        <p:spPr>
          <a:xfrm>
            <a:off x="3931920" y="403250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83680" y="1600200"/>
            <a:ext cx="2103120" cy="2743200"/>
          </a:xfrm>
          <a:prstGeom prst="rect">
            <a:avLst>
              <a:gd name="adj" fmla="val 347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83680" y="1600200"/>
            <a:ext cx="210312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675120" y="219456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このチャートを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スマホに保存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しておくと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迷わない！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迷ったらこの3つ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005840"/>
            <a:ext cx="233172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005840"/>
            <a:ext cx="233172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114300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Plus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240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万能オールラウンダー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GPTs＋Agent Mode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29000" y="1005840"/>
            <a:ext cx="233172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005840"/>
            <a:ext cx="2331720" cy="36576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4434840" y="114300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1554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Pro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20440" y="1920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20440" y="2240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出典付きリサーチ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無制限Pro Search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1005840"/>
            <a:ext cx="233172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005840"/>
            <a:ext cx="233172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0" y="11430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1554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26480" y="1920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26480" y="2240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文書・分析の最高峰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100万トークン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17373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897880" y="17373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685800" y="3474720"/>
            <a:ext cx="7772400" cy="777240"/>
          </a:xfrm>
          <a:prstGeom prst="rect">
            <a:avLst>
              <a:gd name="adj" fmla="val 9412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3474720"/>
            <a:ext cx="777240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月$60（約9,000円）で業務の80%をカバー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80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日本の中小企業AI導入率はまだ10%未満 → 今始めれば先行者優位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ROIの現実 — 数字で見るAI効果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365760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05840"/>
            <a:ext cx="365760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ポジティブデータ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148132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417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週5〜7時間節約（マネージャー7〜10時間）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182880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1764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78%の組織がAI導入済み（前年55%から急増）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217627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1122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66%の組織が生産性向上を報告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2523744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4597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成功率: テクノロジー88% / 金融83% / 製造75%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005840"/>
            <a:ext cx="388620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005840"/>
            <a:ext cx="3886200" cy="36576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1463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40%の時間節約が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やり直しで失われている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2057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正しいプロンプト設計と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検証プロセスが不可欠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3246120"/>
            <a:ext cx="77724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24612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337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日本の成功事例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36576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カオナビ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31720" y="36576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AIチャットボットで顧客115%増、対応時間20分短縮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38862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旭鉄工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31720" y="38862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生成AIで生産効率1.5倍以上に向上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4114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ゑびや(飲食)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31720" y="41148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AI需要予測で的中率95%超、食品廃棄を大幅削減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640080"/>
          </a:xfrm>
          <a:prstGeom prst="rect">
            <a:avLst>
              <a:gd name="adj" fmla="val 11429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21615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143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AIツールは3カテゴリ（チャットAI・エージェント・クリエイティブ）で整理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7772400" cy="640080"/>
          </a:xfrm>
          <a:prstGeom prst="rect">
            <a:avLst>
              <a:gd name="adj" fmla="val 11429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82880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99339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1920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各ツールの「これだけは覚えろ」キーワードを押さえる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606040"/>
            <a:ext cx="7772400" cy="640080"/>
          </a:xfrm>
          <a:prstGeom prst="rect">
            <a:avLst>
              <a:gd name="adj" fmla="val 11429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60604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77063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2697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迷ったらChatGPT＋Perplexity＋Claude（月$60で80%カバー）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383280"/>
            <a:ext cx="7772400" cy="640080"/>
          </a:xfrm>
          <a:prstGeom prst="rect">
            <a:avLst>
              <a:gd name="adj" fmla="val 11429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38328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35478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ROIは実在するが、40%やり直しリスクを防ぐ使い方が鍵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4206240"/>
            <a:ext cx="7772400" cy="411480"/>
          </a:xfrm>
          <a:prstGeom prst="rect">
            <a:avLst>
              <a:gd name="adj" fmla="val 1777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206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次のパート: P-02 コストシミュレーション →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確認テストに進みましょう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4688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5問  |  80%（4問以上正解）で合格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 |  全ツール総整理＋選定フローチャート  |  完了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P-01: 全ツール総整理＋選定フローチャート（2026年4月版）</dc:title>
  <dc:subject>PptxGenJS Presentation</dc:subject>
  <dc:creator>Gorilla Knowledge</dc:creator>
  <cp:lastModifiedBy>Gorilla Knowledge</cp:lastModifiedBy>
  <cp:revision>1</cp:revision>
  <dcterms:created xsi:type="dcterms:W3CDTF">2026-04-04T11:02:49Z</dcterms:created>
  <dcterms:modified xsi:type="dcterms:W3CDTF">2026-04-04T11:02:49Z</dcterms:modified>
</cp:coreProperties>
</file>