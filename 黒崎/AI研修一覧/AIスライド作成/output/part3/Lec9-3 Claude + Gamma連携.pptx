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では、ClaudeとGammaを連携させるワークフローを学びます。前のPartで、Gammaに直接プロンプトを入れてスライドを作る方法を学びました。しかし、Gammaはあくまでスライドを「見た目よく作る」ことに特化したツールです。内容の論理性や具体性には限界があります。例えば、「AI導入の投資対効果」というスライドを作る場合、Gammaは一般的な情報でそれらしい内容を生成しますが、具体的な数字や独自の分析は入りません。提案の根拠が弱くなってしまうのです。ここでClaudeの出番です。Claudeは論理的な構成力と、内容を深掘りする能力に優れています。対象者に合わせた具体的な提案内容を生成し、数字の根拠や事例まで含めた詳細な内容を出力できます。つまり、Claudeで内容を練り、Gammaでビジュアル化する。この組み合わせが最強なのです。内容の質はClaudeが担い、ビジュアルの質はGammaが担う。それぞれの得意分野を活かした分業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連携ワークフローの全体像を説明します。3つのステップで構成されています。ステップ1、Claudeに資料の構成と内容を依頼します。ここではテーマだけでなく、対象者、目的、制約条件まで伝えます。Claudeはこれらの情報をもとに、各スライドの詳細な内容を生成してくれます。ここがこのワークフローで最も重要な部分です。Claudeへの指示が具体的であればあるほど、出力の質は高くなります。ステップ2、Claudeが出力したテキストをGammaに貼り付けます。Gammaの作成画面で「Paste in text」というオプションを選択し、Claudeの出力をそのまま貼り付けます。するとGammaがテキストを分析して、アウトラインを自動で構成してくれます。ステップ3、生成されたスライドを確認し、必要に応じて微調整します。画像の差し替えやレイアウトの調整をここで行います。この3ステップで、内容の質もデザインの質も高い資料が完成します。全体の所要時間は10分から15分程度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テップ1のClaudeへの依頼方法をもう少し詳しく見ていきましょう。Claudeに依頼するときのポイントは、とにかく具体性です。漠然と「提案資料を作って」と言うのではなく、できるだけ詳しい情報を伝えましょう。例えば、こんなプロンプトを入力します。「製造業の中堅企業に向けた、AI導入の提案資料を作りたい。対象は工場長クラスで、人手不足と品質管理に課題を抱えている。目的は次回の予算会議で導入承認を得ること。10スライド程度で、各スライドにタイトル、3つのポイント、補足説明をつけてください。特に投資対効果の試算は、導入コスト、運用コスト、期待される削減効果を具体的な数字で示してほしい」。このように、テーマだけでなく、対象者の業種と役職、抱えている課題、資料の目的、構成の形式、そして特に力を入れたいポイントまで伝えることで、Claudeはより的確で説得力のある内容を生成してくれます。Claudeの出力はそのままGammaに貼り付けられる形式になりますので、コピー・アンド・ペーストするだけで次のステップに進め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ステップ2と3の具体的な操作を説明します。Gammaを開いて「Create new」、「Presentation」を選択した後、入力方法の選択画面で「Paste in text」を選びます。これは、既に用意したテキストからスライドを生成するモードです。ここにClaudeが生成したテキストをそのまま貼り付けます。Claudeの出力には、各スライドのタイトルとポイントが整理されているので、Gammaがそれを自動的にスライドの構成として認識してくれます。アウトラインが表示されたら、スライドの順番や構成を確認します。Claudeが出力した構成をそのまま使えることがほとんどですが、必要に応じてスライドの追加や削除もできます。問題なければ「Continue」をクリックして、スライドを生成します。生成されたスライドには画像が自動で挿入されていますが、テーマに合わない場合はGammaの編集画面から差し替えができます。テキストの微調整やレイアウトの変更も、クリックするだけで簡単に行えます。このステップ2と3の所要時間は合わせて3分から5分程度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への指示の出し方で、資料の質が大きく変わります。ぜひ覚えておいていただきたい3つのポイントがあります。1つ目は、対象者を明確にすることです。対象者の業種は何か、役職はどのレベルか、今どんな課題を抱えているか。これらを伝えることで、Claudeは対象者に刺さる内容を生成してくれます。例えば、「製造業の工場長で、人手不足に悩んでいる」と伝えるだけで、Claudeの出力の焦点が全く変わります。一般的なAI導入の話ではなく、製造ラインの自動化による人員削減効果に焦点を当てた内容になるのです。2つ目は、目的を伝えることです。この資料で受注を取りたいのか、社内承認を得たいのか、単に情報共有したいのか。目的によって、資料に求められる構成や説得力のレベルが異なります。受注目的なら競合比較やROI試算が必須ですし、情報共有なら事実の整理と今後のアクションが重要になります。3つ目は、制約を指定することです。スライド数は何枚か、トーンはフォーマルかカジュアルか、必ず入れたい数字や事例はあるか。これら3つのポイントをClaudeに伝えるだけで、出力の質が劇的に向上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実際に使えるプロンプトの具体例をお見せします。Claudeに次のように入力してみましょう。「小売業のクライアント向けに、DX推進の提案資料を作りたい。対象は経営企画部長で、目的は次回の役員会で導入承認を得ること。8スライド程度、フォーマルなトーンで。必ず含めてほしい内容は、現状の業界課題とDXの必要性、DXによる解決策を3つ、ROI試算として3年間の投資対効果、導入スケジュールとマイルストーン、他社の成功事例。各スライドにタイトル、ポイント3つ、補足説明をつけてください」。このプロンプトには、先ほどの3つのポイント、つまり対象者、目的、制約がすべて含まれています。Claudeはこの情報をもとに、経営企画部長の視点に立った、説得力のある提案内容を生成してくれます。そしてこの出力をGammaに貼り付ければ、プロフェッショナルなデザインの提案資料が10分で完成します。次のPart 4では、実際に皆さん自身の業務テーマで資料を作る実践ハンズオンを行います。ぜひこの3つのポイントを意識して取り組んでみてください。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1371600"/>
            <a:ext cx="7315200" cy="1097280"/>
          </a:xfrm>
          <a:prstGeom prst="rect">
            <a:avLst/>
          </a:prstGeom>
          <a:noFill/>
          <a:ln/>
        </p:spPr>
        <p:txBody>
          <a:bodyPr wrap="square" rtlCol="0" anchor="b"/>
          <a:lstStyle/>
          <a:p>
            <a:pPr algn="l" indent="0" marL="0">
              <a:buNone/>
            </a:pPr>
            <a:r>
              <a:rPr lang="en-US" sz="3600" b="1" dirty="0">
                <a:solidFill>
                  <a:srgbClr val="FFFFFF"/>
                </a:solidFill>
                <a:latin typeface="Helvetica Neue" pitchFamily="34" charset="0"/>
                <a:ea typeface="Helvetica Neue" pitchFamily="34" charset="-122"/>
                <a:cs typeface="Helvetica Neue" pitchFamily="34" charset="-120"/>
              </a:rPr>
              <a:t>なぜClaudeと連携するのか</a:t>
            </a:r>
            <a:endParaRPr lang="en-US" sz="3600" dirty="0"/>
          </a:p>
        </p:txBody>
      </p:sp>
      <p:sp>
        <p:nvSpPr>
          <p:cNvPr id="3" name="Shape 1"/>
          <p:cNvSpPr/>
          <p:nvPr/>
        </p:nvSpPr>
        <p:spPr>
          <a:xfrm>
            <a:off x="914400" y="2651760"/>
            <a:ext cx="1828800" cy="36576"/>
          </a:xfrm>
          <a:prstGeom prst="rect">
            <a:avLst/>
          </a:prstGeom>
          <a:solidFill>
            <a:srgbClr val="555555"/>
          </a:solidFill>
          <a:ln/>
        </p:spPr>
      </p:sp>
      <p:sp>
        <p:nvSpPr>
          <p:cNvPr id="4" name="Text 2"/>
          <p:cNvSpPr/>
          <p:nvPr/>
        </p:nvSpPr>
        <p:spPr>
          <a:xfrm>
            <a:off x="914400" y="2926080"/>
            <a:ext cx="7315200" cy="731520"/>
          </a:xfrm>
          <a:prstGeom prst="rect">
            <a:avLst/>
          </a:prstGeom>
          <a:noFill/>
          <a:ln/>
        </p:spPr>
        <p:txBody>
          <a:bodyPr wrap="square" rtlCol="0" anchor="t"/>
          <a:lstStyle/>
          <a:p>
            <a:pPr algn="l" indent="0" marL="0">
              <a:buNone/>
            </a:pPr>
            <a:r>
              <a:rPr lang="en-US" sz="1600" dirty="0">
                <a:solidFill>
                  <a:srgbClr val="888888"/>
                </a:solidFill>
                <a:latin typeface="Helvetica Neue" pitchFamily="34" charset="0"/>
                <a:ea typeface="Helvetica Neue" pitchFamily="34" charset="-122"/>
                <a:cs typeface="Helvetica Neue" pitchFamily="34" charset="-120"/>
              </a:rPr>
              <a:t>Claudeで内容を練り、Gammaでビジュアル化する2ステップワークフロー</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ワークフロー全体像：3ステップ</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Step 1：Claudeに構成と内容を依頼する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Step 2：Claudeの出力をGammaに貼り付ける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Step 3：生成されたスライドを確認・微調整する</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945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301752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2 / 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Step 1：Claudeへの依頼方法</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テーマと背景を具体的に伝える</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スライドごとの内容を出力してもらう</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「各スライドにタイトル、3つのポイント、補足説明をつけて」と構成を指定</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945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301752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3 / 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Step 2-3：Gammaでの処理と仕上げ</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Gammaで「Paste in text」を選択</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Claudeの出力をそのまま貼り付け</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アウトラインを確認して生成実行</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画像やレイアウトを必要に応じて調整</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2598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28803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822960" y="363474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4</a:t>
            </a:r>
            <a:endParaRPr lang="en-US" sz="1400" dirty="0"/>
          </a:p>
        </p:txBody>
      </p:sp>
      <p:sp>
        <p:nvSpPr>
          <p:cNvPr id="10" name="Text 8"/>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4 / 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111111"/>
          </a:solidFill>
          <a:ln/>
        </p:spPr>
      </p:sp>
      <p:sp>
        <p:nvSpPr>
          <p:cNvPr id="3" name="Text 1"/>
          <p:cNvSpPr/>
          <p:nvPr/>
        </p:nvSpPr>
        <p:spPr>
          <a:xfrm>
            <a:off x="914400" y="365760"/>
            <a:ext cx="7315200" cy="640080"/>
          </a:xfrm>
          <a:prstGeom prst="rect">
            <a:avLst/>
          </a:prstGeom>
          <a:noFill/>
          <a:ln/>
        </p:spPr>
        <p:txBody>
          <a:bodyPr wrap="square" rtlCol="0" anchor="t">
            <a:normAutofit/>
          </a:bodyPr>
          <a:lstStyle/>
          <a:p>
            <a:pPr algn="l" indent="0" marL="0">
              <a:buNone/>
            </a:pPr>
            <a:r>
              <a:rPr lang="en-US" sz="2600" b="1" dirty="0">
                <a:solidFill>
                  <a:srgbClr val="111111"/>
                </a:solidFill>
                <a:latin typeface="Helvetica Neue" pitchFamily="34" charset="0"/>
                <a:ea typeface="Helvetica Neue" pitchFamily="34" charset="-122"/>
                <a:cs typeface="Helvetica Neue" pitchFamily="34" charset="-120"/>
              </a:rPr>
              <a:t>Claudeへの指示で質が変わる3つのポイント</a:t>
            </a:r>
            <a:endParaRPr lang="en-US" sz="2600" dirty="0"/>
          </a:p>
        </p:txBody>
      </p:sp>
      <p:sp>
        <p:nvSpPr>
          <p:cNvPr id="4" name="Shape 2"/>
          <p:cNvSpPr/>
          <p:nvPr/>
        </p:nvSpPr>
        <p:spPr>
          <a:xfrm>
            <a:off x="914400" y="1097280"/>
            <a:ext cx="1371600" cy="27432"/>
          </a:xfrm>
          <a:prstGeom prst="rect">
            <a:avLst/>
          </a:prstGeom>
          <a:solidFill>
            <a:srgbClr val="DDDDDD"/>
          </a:solidFill>
          <a:ln/>
        </p:spPr>
      </p:sp>
      <p:sp>
        <p:nvSpPr>
          <p:cNvPr id="5" name="Text 3"/>
          <p:cNvSpPr/>
          <p:nvPr/>
        </p:nvSpPr>
        <p:spPr>
          <a:xfrm>
            <a:off x="1188720" y="1371600"/>
            <a:ext cx="7040880" cy="3017520"/>
          </a:xfrm>
          <a:prstGeom prst="rect">
            <a:avLst/>
          </a:prstGeom>
          <a:noFill/>
          <a:ln/>
        </p:spPr>
        <p:txBody>
          <a:bodyPr wrap="square" rtlCol="0" anchor="t">
            <a:normAutofit/>
          </a:bodyPr>
          <a:lstStyle/>
          <a:p>
            <a:pPr indent="0" marL="0">
              <a:lnSpc>
                <a:spcPct val="150000"/>
              </a:lnSpc>
              <a:buNone/>
            </a:pPr>
            <a:r>
              <a:rPr lang="en-US" sz="2000" dirty="0">
                <a:solidFill>
                  <a:srgbClr val="333333"/>
                </a:solidFill>
                <a:latin typeface="Helvetica Neue" pitchFamily="34" charset="0"/>
                <a:ea typeface="Helvetica Neue" pitchFamily="34" charset="-122"/>
                <a:cs typeface="Helvetica Neue" pitchFamily="34" charset="-120"/>
              </a:rPr>
              <a:t>1. 対象者を明確にする（業種、役職、課題感）</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2. 目的を伝える（受注、承認、情報共有）</a:t>
            </a:r>
            <a:pPr indent="0" marL="0">
              <a:lnSpc>
                <a:spcPct val="150000"/>
              </a:lnSpc>
              <a:spcBef>
                <a:spcPts val="1200"/>
              </a:spcBef>
              <a:buNone/>
            </a:pPr>
            <a:r>
              <a:rPr lang="en-US" sz="2000" dirty="0">
                <a:solidFill>
                  <a:srgbClr val="333333"/>
                </a:solidFill>
                <a:latin typeface="Helvetica Neue" pitchFamily="34" charset="0"/>
                <a:ea typeface="Helvetica Neue" pitchFamily="34" charset="-122"/>
                <a:cs typeface="Helvetica Neue" pitchFamily="34" charset="-120"/>
              </a:rPr>
              <a:t>3. 制約を指定する（スライド数、トーン、必須項目）</a:t>
            </a:r>
            <a:endParaRPr lang="en-US" sz="2000" dirty="0"/>
          </a:p>
        </p:txBody>
      </p:sp>
      <p:sp>
        <p:nvSpPr>
          <p:cNvPr id="6" name="Text 4"/>
          <p:cNvSpPr/>
          <p:nvPr/>
        </p:nvSpPr>
        <p:spPr>
          <a:xfrm>
            <a:off x="822960" y="137160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1</a:t>
            </a:r>
            <a:endParaRPr lang="en-US" sz="1400" dirty="0"/>
          </a:p>
        </p:txBody>
      </p:sp>
      <p:sp>
        <p:nvSpPr>
          <p:cNvPr id="7" name="Text 5"/>
          <p:cNvSpPr/>
          <p:nvPr/>
        </p:nvSpPr>
        <p:spPr>
          <a:xfrm>
            <a:off x="822960" y="219456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2</a:t>
            </a:r>
            <a:endParaRPr lang="en-US" sz="1400" dirty="0"/>
          </a:p>
        </p:txBody>
      </p:sp>
      <p:sp>
        <p:nvSpPr>
          <p:cNvPr id="8" name="Text 6"/>
          <p:cNvSpPr/>
          <p:nvPr/>
        </p:nvSpPr>
        <p:spPr>
          <a:xfrm>
            <a:off x="822960" y="3017520"/>
            <a:ext cx="365760" cy="365760"/>
          </a:xfrm>
          <a:prstGeom prst="rect">
            <a:avLst/>
          </a:prstGeom>
          <a:noFill/>
          <a:ln/>
        </p:spPr>
        <p:txBody>
          <a:bodyPr wrap="square" rtlCol="0" anchor="t"/>
          <a:lstStyle/>
          <a:p>
            <a:pPr algn="r" indent="0" marL="0">
              <a:buNone/>
            </a:pPr>
            <a:r>
              <a:rPr lang="en-US" sz="1400" dirty="0">
                <a:solidFill>
                  <a:srgbClr val="999999"/>
                </a:solidFill>
                <a:latin typeface="Helvetica Neue" pitchFamily="34" charset="0"/>
                <a:ea typeface="Helvetica Neue" pitchFamily="34" charset="-122"/>
                <a:cs typeface="Helvetica Neue" pitchFamily="34" charset="-120"/>
              </a:rPr>
              <a:t>3</a:t>
            </a:r>
            <a:endParaRPr lang="en-US" sz="1400" dirty="0"/>
          </a:p>
        </p:txBody>
      </p:sp>
      <p:sp>
        <p:nvSpPr>
          <p:cNvPr id="9" name="Text 7"/>
          <p:cNvSpPr/>
          <p:nvPr/>
        </p:nvSpPr>
        <p:spPr>
          <a:xfrm>
            <a:off x="7772400" y="5056632"/>
            <a:ext cx="1097280" cy="274320"/>
          </a:xfrm>
          <a:prstGeom prst="rect">
            <a:avLst/>
          </a:prstGeom>
          <a:noFill/>
          <a:ln/>
        </p:spPr>
        <p:txBody>
          <a:bodyPr wrap="square" rtlCol="0" anchor="b"/>
          <a:lstStyle/>
          <a:p>
            <a:pPr algn="r" indent="0" marL="0">
              <a:buNone/>
            </a:pPr>
            <a:r>
              <a:rPr lang="en-US" sz="900" dirty="0">
                <a:solidFill>
                  <a:srgbClr val="BBBBBB"/>
                </a:solidFill>
                <a:latin typeface="Helvetica Neue" pitchFamily="34" charset="0"/>
                <a:ea typeface="Helvetica Neue" pitchFamily="34" charset="-122"/>
                <a:cs typeface="Helvetica Neue" pitchFamily="34" charset="-120"/>
              </a:rPr>
              <a:t>5 / 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914400" y="731520"/>
            <a:ext cx="7315200" cy="731520"/>
          </a:xfrm>
          <a:prstGeom prst="rect">
            <a:avLst/>
          </a:prstGeom>
          <a:noFill/>
          <a:ln/>
        </p:spPr>
        <p:txBody>
          <a:bodyPr wrap="square" rtlCol="0" anchor="ctr"/>
          <a:lstStyle/>
          <a:p>
            <a:pPr algn="l" indent="0" marL="0">
              <a:buNone/>
            </a:pPr>
            <a:r>
              <a:rPr lang="en-US" sz="2800" b="1" dirty="0">
                <a:solidFill>
                  <a:srgbClr val="FFFFFF"/>
                </a:solidFill>
                <a:latin typeface="Helvetica Neue" pitchFamily="34" charset="0"/>
                <a:ea typeface="Helvetica Neue" pitchFamily="34" charset="-122"/>
                <a:cs typeface="Helvetica Neue" pitchFamily="34" charset="-120"/>
              </a:rPr>
              <a:t>実際のプロンプト例と実演</a:t>
            </a:r>
            <a:endParaRPr lang="en-US" sz="2800" dirty="0"/>
          </a:p>
        </p:txBody>
      </p:sp>
      <p:sp>
        <p:nvSpPr>
          <p:cNvPr id="3" name="Shape 1"/>
          <p:cNvSpPr/>
          <p:nvPr/>
        </p:nvSpPr>
        <p:spPr>
          <a:xfrm>
            <a:off x="914400" y="1554480"/>
            <a:ext cx="1371600" cy="27432"/>
          </a:xfrm>
          <a:prstGeom prst="rect">
            <a:avLst/>
          </a:prstGeom>
          <a:solidFill>
            <a:srgbClr val="444444"/>
          </a:solidFill>
          <a:ln/>
        </p:spPr>
      </p:sp>
      <p:sp>
        <p:nvSpPr>
          <p:cNvPr id="4" name="Text 2"/>
          <p:cNvSpPr/>
          <p:nvPr/>
        </p:nvSpPr>
        <p:spPr>
          <a:xfrm>
            <a:off x="914400" y="1828800"/>
            <a:ext cx="7315200" cy="2926080"/>
          </a:xfrm>
          <a:prstGeom prst="rect">
            <a:avLst/>
          </a:prstGeom>
          <a:noFill/>
          <a:ln/>
        </p:spPr>
        <p:txBody>
          <a:bodyPr wrap="square" rtlCol="0" anchor="t"/>
          <a:lstStyle/>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テーマ：クライアント向けDX推進提案</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対象：小売業の経営企画部長</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目的：役員会で導入承認を得る</a:t>
            </a:r>
            <a:endParaRPr lang="en-US" sz="1800" dirty="0"/>
          </a:p>
          <a:p>
            <a:pPr marL="342900" indent="-342900">
              <a:lnSpc>
                <a:spcPct val="200000"/>
              </a:lnSpc>
              <a:spcBef>
                <a:spcPts val="400"/>
              </a:spcBef>
              <a:buSzPct val="100000"/>
              <a:buChar char="✓"/>
            </a:pPr>
            <a:r>
              <a:rPr lang="en-US" sz="1800" dirty="0">
                <a:solidFill>
                  <a:srgbClr val="CCCCCC"/>
                </a:solidFill>
                <a:latin typeface="Helvetica Neue" pitchFamily="34" charset="0"/>
                <a:ea typeface="Helvetica Neue" pitchFamily="34" charset="-122"/>
                <a:cs typeface="Helvetica Neue" pitchFamily="34" charset="-120"/>
              </a:rPr>
              <a:t>制約：8スライド、フォーマル、ROI試算必須</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Lec9-3 Claude + Gamma連携</dc:title>
  <dc:subject>PptxGenJS Presentation</dc:subject>
  <dc:creator>LMS Pipeline</dc:creator>
  <cp:lastModifiedBy>LMS Pipeline</cp:lastModifiedBy>
  <cp:revision>1</cp:revision>
  <dcterms:created xsi:type="dcterms:W3CDTF">2026-04-04T08:46:00Z</dcterms:created>
  <dcterms:modified xsi:type="dcterms:W3CDTF">2026-04-04T08:46:00Z</dcterms:modified>
</cp:coreProperties>
</file>