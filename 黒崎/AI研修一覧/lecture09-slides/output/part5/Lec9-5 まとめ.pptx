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最後のPart 5では、この講座全体を振り返り、学んだ内容を整理していきます。Part 1では、なぜAIで資料を作るのかを考えました。従来のPowerPointでの資料作成には3時間から5時間かかっていたものが、AIを使えば10分から20分に短縮できること。そして単に速くなるだけでなく、人間の仕事が「作業」から「思考」へとシフトすることを学びました。デザインやレイアウトはAIに任せ、私たちは「何を伝えるか」に集中できるようになります。Part 2では、プロンプトからスライドを生成するツール「Gamma」の基本を学びました。プロンプト入力、アウトライン生成、確認調整、スライド完成という4つのシンプルなステップで、プロ品質の資料が作れることを確認しました。Part 3では、ClaudeとGammaを連携させることで、内容の質もデザインの質も高い資料が作れるワークフローを習得しました。対象者、目的、制約の3つのポイントをClaudeに伝えることが、質の高い出力を得るカギでした。そしてPart 4の実践ハンズオンでは、皆さん自身の業務テーマで実際に資料を作る体験をしていただきました。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資料作成による時間削減効果を改めて整理します。提案資料は、従来3時間から5時間かかっていたものが、ClaudeとGammaを使えば10分から20分に短縮されます。約90パーセントの削減です。社内報告資料は、1時間から2時間が5分から10分に。定例会議の報告資料を毎週作っている方にとって、この差は非常に大きいはずです。企画書は、半日から1日かかっていたものが、20分から30分に。新規事業の提案や予算の申請資料など、しっかりとした構成が必要な資料でも、ClaudeとGammaの連携で効率的に作成できます。仮に月に提案資料を4本、社内報告を8本、企画書を2本作るとすると、従来は月30時間以上かかっていた作業が、AIを使えば3時間程度に短縮されます。年間に換算すると、実に300時間以上の削減です。これは約40営業日分に相当します。浮いた300時間を、営業活動や戦略立案、チームマネジメントなど、より価値の高い仕事に充てることができる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ここで、Zone C全体を振り返りましょう。Zone Cでは「AIによるコンテンツ制作」をテーマに、3つの領域を学んできました。1つ目は画像生成です。DALL-EやMidjourneyを使って、テキストのプロンプトから高品質な画像を生成する方法を学びました。プレゼン資料の挿入画像、SNS投稿用のビジュアル、Webサイトのバナーなど、さまざまなビジネスシーンで活用できます。2つ目は動画制作です。RunwayやHeyGenを使って、テキストや画像から動画を生成する方法を学びました。製品デモ動画、研修用の説明動画、マーケティング用のプロモーション動画など、従来は専門のクリエイターに依頼していた動画制作を、自分自身で短時間に行えるようになりました。そして3つ目が、今回の資料作成です。ClaudeとGammaを組み合わせて、提案資料やプレゼンスライドを効率的に作る方法を学びました。画像、動画、資料。この3つの領域すべてにおいて、AIがコンテンツ制作を劇的に加速する時代が到来しています。重要なのは、これらのツールを単独で使うのではなく、組み合わせて使うことです。ClaudeとGammaの連携がそうであったように、複数のAIツールを組み合わせることで、それぞれの強みを最大限に引き出すことが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講者の皆さんからよくいただく質問にお答えします。まず「Gammaは無料で使えますか？」という質問です。はい、基本的な機能は無料で使えます。ただし、月の生成回数に制限があります。頻繁に使う場合や、ブランドロゴの削除などが必要な場合は、Pro版への切り替えを検討してください。Pro版は月額10ドル程度からです。次に「PowerPoint形式でエクスポートできますか？」という質問です。はい、可能です。ただし、GammaのWeb形式のままURLで共有する方が、デザインの再現性も高く、相手も開きやすいのでおすすめです。特に社外の方への共有では、ファイルのダウンロードが不要なURL共有の方がスマートです。「Claude単体でスライドは作れないのですか？」という質問もよくいただきます。Claude自体にもアーティファクト機能があり、簡単なスライド風の出力は可能です。社内の簡単な報告資料であれば、Claude単体でも十分です。しかし、デザインの品質や操作性を考えると、クライアントへの提案資料など本格的な資料にはGammaとの連携が圧倒的に有利です。目的に応じて使い分け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れでは、今回の宿題をお伝えします。自分の業務テーマで、提案資料を1つ完成させてください。必ずClaude、Gammaの流れで作成してください。まずClaudeに構成と内容を依頼し、その出力をGammaに貼り付けてスライドを生成します。作った資料のURLを、次回の講座までに提出してください。GammaのURL共有機能を使えば、リンクをコピーするだけで提出できます。資料のテーマは自由です。普段の業務で実際に作る必要がある提案資料や報告書をテーマにすると、学習効果が最も高くなります。もしテーマが思いつかない場合は、自社サービスの紹介資料、社内向けのAI活用提案、クライアントへの業務改善提案などを参考にしてください。作成時には、Part 3で学んだ3つのポイントを必ず意識してください。つまり、対象者を明確にすること、目的を伝えること、そして制約を指定すること。この3つをClaudeにしっかり伝えることが、質の高い資料を作るカギです。提出された資料は、次回の講座でいくつかピックアップして、良いポイントや改善点をフィードバックさせていただ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講座の最も大切なメッセージを、もう一度お伝えします。AIが作業を担い、人間は「何を伝えるか」に集中する時代が来ました。レイアウト、配色、画像選定、テンプレートの調整。これらの作業はすべてAIに任せてください。皆さんがやるべきことは、相手の課題を深く理解し、最適な解決策を提案し、その価値を論理的に伝えることです。そのためのツールとして、ClaudeとGammaの組み合わせは非常に強力です。Claudeが内容の質を担い、Gammaがビジュアルの質を担う。この分業によって、10分で説得力のある美しい提案資料が完成します。ぜひ今日から実務で使ってみてください。使えば使うほど、プロンプトの書き方が上達し、より質の高い資料が作れるようになります。ツールへのリンクはスライドに記載しています。Gammaはgamma.app、Claudeはclaude.aiです。今回の講座はこれで終了です。宿題の提出をお待ちしています。お疲れ様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914400" y="1371600"/>
            <a:ext cx="7315200" cy="1097280"/>
          </a:xfrm>
          <a:prstGeom prst="rect">
            <a:avLst/>
          </a:prstGeom>
          <a:noFill/>
          <a:ln/>
        </p:spPr>
        <p:txBody>
          <a:bodyPr wrap="square" rtlCol="0" anchor="b"/>
          <a:lstStyle/>
          <a:p>
            <a:pPr algn="l" indent="0" marL="0">
              <a:buNone/>
            </a:pPr>
            <a:r>
              <a:rPr lang="en-US" sz="3600" b="1" dirty="0">
                <a:solidFill>
                  <a:srgbClr val="FFFFFF"/>
                </a:solidFill>
                <a:latin typeface="Helvetica Neue" pitchFamily="34" charset="0"/>
                <a:ea typeface="Helvetica Neue" pitchFamily="34" charset="-122"/>
                <a:cs typeface="Helvetica Neue" pitchFamily="34" charset="-120"/>
              </a:rPr>
              <a:t>この講座の振り返り</a:t>
            </a:r>
            <a:endParaRPr lang="en-US" sz="3600" dirty="0"/>
          </a:p>
        </p:txBody>
      </p:sp>
      <p:sp>
        <p:nvSpPr>
          <p:cNvPr id="3" name="Shape 1"/>
          <p:cNvSpPr/>
          <p:nvPr/>
        </p:nvSpPr>
        <p:spPr>
          <a:xfrm>
            <a:off x="914400" y="2651760"/>
            <a:ext cx="1828800" cy="36576"/>
          </a:xfrm>
          <a:prstGeom prst="rect">
            <a:avLst/>
          </a:prstGeom>
          <a:solidFill>
            <a:srgbClr val="555555"/>
          </a:solidFill>
          <a:ln/>
        </p:spPr>
      </p:sp>
      <p:sp>
        <p:nvSpPr>
          <p:cNvPr id="4" name="Text 2"/>
          <p:cNvSpPr/>
          <p:nvPr/>
        </p:nvSpPr>
        <p:spPr>
          <a:xfrm>
            <a:off x="914400" y="2926080"/>
            <a:ext cx="7315200" cy="731520"/>
          </a:xfrm>
          <a:prstGeom prst="rect">
            <a:avLst/>
          </a:prstGeom>
          <a:noFill/>
          <a:ln/>
        </p:spPr>
        <p:txBody>
          <a:bodyPr wrap="square" rtlCol="0" anchor="t"/>
          <a:lstStyle/>
          <a:p>
            <a:pPr algn="l" indent="0" marL="0">
              <a:buNone/>
            </a:pPr>
            <a:r>
              <a:rPr lang="en-US" sz="1600" dirty="0">
                <a:solidFill>
                  <a:srgbClr val="888888"/>
                </a:solidFill>
                <a:latin typeface="Helvetica Neue" pitchFamily="34" charset="0"/>
                <a:ea typeface="Helvetica Neue" pitchFamily="34" charset="-122"/>
                <a:cs typeface="Helvetica Neue" pitchFamily="34" charset="-120"/>
              </a:rPr>
              <a:t>AI資料作成の時間削減効果とZone C全体の振り返り</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AI資料作成の時間削減効果</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提案資料：3〜5時間 → 10〜20分</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社内報告資料：1〜2時間 → 5〜10分</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企画書：半日〜1日 → 20〜30分</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年間で数百時間の削減が可能</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2598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28803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822960" y="363474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4</a:t>
            </a:r>
            <a:endParaRPr lang="en-US" sz="1400" dirty="0"/>
          </a:p>
        </p:txBody>
      </p:sp>
      <p:sp>
        <p:nvSpPr>
          <p:cNvPr id="10" name="Text 8"/>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2 / 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Zone C 全体の振り返り</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画像生成：DALL-E / Midjourney</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動画制作：Runway / HeyGen</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資料作成：Claude + Gamma</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すべてのコンテンツ制作がAIで加速する時代</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2598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28803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822960" y="363474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4</a:t>
            </a:r>
            <a:endParaRPr lang="en-US" sz="1400" dirty="0"/>
          </a:p>
        </p:txBody>
      </p:sp>
      <p:sp>
        <p:nvSpPr>
          <p:cNvPr id="10" name="Text 8"/>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3 / 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よくある質問</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Q. Gammaは無料で使える？ → 基本無料、高度な機能はPro版</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Q. PPTXエクスポートできる？ → 可能、ただしURL共有が推奨</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Q. Claude単体でスライドは作れない？ → 簡単な資料なら可能、深い提案はClaude+Gammaが最強</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945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301752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4 / 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宿題</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自分の業務テーマで提案資料を1つ完成させる</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Claude → Gammaの流れで作成する</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作った資料のURLを次回までに提出</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ポイント：対象者・目的・制約を明確にする</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2598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28803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822960" y="363474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4</a:t>
            </a:r>
            <a:endParaRPr lang="en-US" sz="1400" dirty="0"/>
          </a:p>
        </p:txBody>
      </p:sp>
      <p:sp>
        <p:nvSpPr>
          <p:cNvPr id="10" name="Text 8"/>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5 / 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914400" y="731520"/>
            <a:ext cx="7315200" cy="731520"/>
          </a:xfrm>
          <a:prstGeom prst="rect">
            <a:avLst/>
          </a:prstGeom>
          <a:noFill/>
          <a:ln/>
        </p:spPr>
        <p:txBody>
          <a:bodyPr wrap="square" rtlCol="0" anchor="ctr"/>
          <a:lstStyle/>
          <a:p>
            <a:pPr algn="l" indent="0" marL="0">
              <a:buNone/>
            </a:pPr>
            <a:r>
              <a:rPr lang="en-US" sz="2800" b="1" dirty="0">
                <a:solidFill>
                  <a:srgbClr val="FFFFFF"/>
                </a:solidFill>
                <a:latin typeface="Helvetica Neue" pitchFamily="34" charset="0"/>
                <a:ea typeface="Helvetica Neue" pitchFamily="34" charset="-122"/>
                <a:cs typeface="Helvetica Neue" pitchFamily="34" charset="-120"/>
              </a:rPr>
              <a:t>まとめと次回予告</a:t>
            </a:r>
            <a:endParaRPr lang="en-US" sz="2800" dirty="0"/>
          </a:p>
        </p:txBody>
      </p:sp>
      <p:sp>
        <p:nvSpPr>
          <p:cNvPr id="3" name="Shape 1"/>
          <p:cNvSpPr/>
          <p:nvPr/>
        </p:nvSpPr>
        <p:spPr>
          <a:xfrm>
            <a:off x="914400" y="1554480"/>
            <a:ext cx="1371600" cy="27432"/>
          </a:xfrm>
          <a:prstGeom prst="rect">
            <a:avLst/>
          </a:prstGeom>
          <a:solidFill>
            <a:srgbClr val="444444"/>
          </a:solidFill>
          <a:ln/>
        </p:spPr>
      </p:sp>
      <p:sp>
        <p:nvSpPr>
          <p:cNvPr id="4" name="Text 2"/>
          <p:cNvSpPr/>
          <p:nvPr/>
        </p:nvSpPr>
        <p:spPr>
          <a:xfrm>
            <a:off x="914400" y="1828800"/>
            <a:ext cx="7315200" cy="2926080"/>
          </a:xfrm>
          <a:prstGeom prst="rect">
            <a:avLst/>
          </a:prstGeom>
          <a:noFill/>
          <a:ln/>
        </p:spPr>
        <p:txBody>
          <a:bodyPr wrap="square" rtlCol="0" anchor="t"/>
          <a:lstStyle/>
          <a:p>
            <a:pPr marL="342900" indent="-342900">
              <a:lnSpc>
                <a:spcPct val="200000"/>
              </a:lnSpc>
              <a:spcBef>
                <a:spcPts val="400"/>
              </a:spcBef>
              <a:buSzPct val="100000"/>
              <a:buChar char="✓"/>
            </a:pPr>
            <a:r>
              <a:rPr lang="en-US" sz="1800" dirty="0">
                <a:solidFill>
                  <a:srgbClr val="CCCCCC"/>
                </a:solidFill>
                <a:latin typeface="Helvetica Neue" pitchFamily="34" charset="0"/>
                <a:ea typeface="Helvetica Neue" pitchFamily="34" charset="-122"/>
                <a:cs typeface="Helvetica Neue" pitchFamily="34" charset="-120"/>
              </a:rPr>
              <a:t>AIが「作業」を担い、人間は「何を伝えるか」に集中する時代</a:t>
            </a:r>
            <a:endParaRPr lang="en-US" sz="1800" dirty="0"/>
          </a:p>
          <a:p>
            <a:pPr marL="342900" indent="-342900">
              <a:lnSpc>
                <a:spcPct val="200000"/>
              </a:lnSpc>
              <a:spcBef>
                <a:spcPts val="400"/>
              </a:spcBef>
              <a:buSzPct val="100000"/>
              <a:buChar char="✓"/>
            </a:pPr>
            <a:r>
              <a:rPr lang="en-US" sz="1800" dirty="0">
                <a:solidFill>
                  <a:srgbClr val="CCCCCC"/>
                </a:solidFill>
                <a:latin typeface="Helvetica Neue" pitchFamily="34" charset="0"/>
                <a:ea typeface="Helvetica Neue" pitchFamily="34" charset="-122"/>
                <a:cs typeface="Helvetica Neue" pitchFamily="34" charset="-120"/>
              </a:rPr>
              <a:t>Claude + Gamma で提案資料を10分で完成</a:t>
            </a:r>
            <a:endParaRPr lang="en-US" sz="1800" dirty="0"/>
          </a:p>
          <a:p>
            <a:pPr marL="342900" indent="-342900">
              <a:lnSpc>
                <a:spcPct val="200000"/>
              </a:lnSpc>
              <a:spcBef>
                <a:spcPts val="400"/>
              </a:spcBef>
              <a:buSzPct val="100000"/>
              <a:buChar char="✓"/>
            </a:pPr>
            <a:r>
              <a:rPr lang="en-US" sz="1800" dirty="0">
                <a:solidFill>
                  <a:srgbClr val="CCCCCC"/>
                </a:solidFill>
                <a:latin typeface="Helvetica Neue" pitchFamily="34" charset="0"/>
                <a:ea typeface="Helvetica Neue" pitchFamily="34" charset="-122"/>
                <a:cs typeface="Helvetica Neue" pitchFamily="34" charset="-120"/>
              </a:rPr>
              <a:t>リンク：Gamma → gamma.app / Claude → claude.ai</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Lec9-5 まとめ</dc:title>
  <dc:subject>PptxGenJS Presentation</dc:subject>
  <dc:creator>LMS Pipeline</dc:creator>
  <cp:lastModifiedBy>LMS Pipeline</cp:lastModifiedBy>
  <cp:revision>1</cp:revision>
  <dcterms:created xsi:type="dcterms:W3CDTF">2026-04-04T08:48:11Z</dcterms:created>
  <dcterms:modified xsi:type="dcterms:W3CDTF">2026-04-04T08:48:11Z</dcterms:modified>
</cp:coreProperties>
</file>