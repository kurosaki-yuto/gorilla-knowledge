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64008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645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AIの基本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457200" y="2468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仕組みと種類を理解する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57200" y="3291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AI-101  |  全社員向け入門  |  10分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91B2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3200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今日のゴール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731520" y="1188720"/>
            <a:ext cx="768096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188720"/>
            <a:ext cx="73152" cy="9601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7" name="Text 4"/>
          <p:cNvSpPr/>
          <p:nvPr/>
        </p:nvSpPr>
        <p:spPr>
          <a:xfrm>
            <a:off x="1051560" y="1325880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828800" y="118872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AIとは何かを一言で説明できる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731520" y="2377440"/>
            <a:ext cx="768096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" y="2377440"/>
            <a:ext cx="73152" cy="9601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8"/>
          <p:cNvSpPr/>
          <p:nvPr/>
        </p:nvSpPr>
        <p:spPr>
          <a:xfrm>
            <a:off x="1051560" y="2514600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828800" y="237744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AIの3つの種類を区別できる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731520" y="3566160"/>
            <a:ext cx="768096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731520" y="3566160"/>
            <a:ext cx="73152" cy="9601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Text 12"/>
          <p:cNvSpPr/>
          <p:nvPr/>
        </p:nvSpPr>
        <p:spPr>
          <a:xfrm>
            <a:off x="1051560" y="3703320"/>
            <a:ext cx="548640" cy="548640"/>
          </a:xfrm>
          <a:prstGeom prst="ellipse">
            <a:avLst/>
          </a:prstGeom>
          <a:solidFill>
            <a:srgbClr val="0891B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1828800" y="3566160"/>
            <a:ext cx="6217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自分の業務でAIが使えそうな場面をイメージできる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32004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AIって結局なに?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solidFill>
            <a:srgbClr val="0F172A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09728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人間がやっていた「判断」を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コンピュータにやらせる技術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731520" y="2560320"/>
            <a:ext cx="35661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606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人間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31520" y="3063240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データを見る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↓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考える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↓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判断する</a:t>
            </a:r>
            <a:endParaRPr lang="en-US" sz="14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3291840"/>
            <a:ext cx="457200" cy="4572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846320" y="2560320"/>
            <a:ext cx="35661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4846320" y="26060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</a:t>
            </a:r>
            <a:endParaRPr lang="en-US" sz="1800" dirty="0"/>
          </a:p>
        </p:txBody>
      </p:sp>
      <p:sp>
        <p:nvSpPr>
          <p:cNvPr id="13" name="Text 9"/>
          <p:cNvSpPr/>
          <p:nvPr/>
        </p:nvSpPr>
        <p:spPr>
          <a:xfrm>
            <a:off x="4846320" y="3063240"/>
            <a:ext cx="3566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データを入れる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↓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計算する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↓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答えを出す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AIの3つの種類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560320" cy="2926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188720"/>
            <a:ext cx="256032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08760" y="1554480"/>
            <a:ext cx="640080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ルールベースAI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4864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人間がルールを書く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383280" y="1188720"/>
            <a:ext cx="2560320" cy="2926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383280" y="1188720"/>
            <a:ext cx="2560320" cy="54864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43400" y="1554480"/>
            <a:ext cx="640080" cy="6400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8328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機械学習AI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338328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データからルールを学ぶ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217920" y="1188720"/>
            <a:ext cx="2560320" cy="29260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217920" y="1188720"/>
            <a:ext cx="256032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1554480"/>
            <a:ext cx="640080" cy="6400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17920" y="237744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生成AI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217920" y="292608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新しいコンテンツを作る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457200" y="4389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進化の流れ →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3200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① ルールベースAI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00584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「もし〇〇なら△△する」をプログラムで書く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31520" y="1463040"/>
            <a:ext cx="768096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914400" y="146304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チャットボット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651760" y="146304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「営業時間は?」  →「9時〜18時です」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731520" y="2286000"/>
            <a:ext cx="768096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914400" y="228600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経費精算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2651760" y="228600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金額が10万円以上  → 部長承認が必要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31520" y="3108960"/>
            <a:ext cx="7680960" cy="685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914400" y="31089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メールフィルタ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2651760" y="310896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件名に「当選」を含む  → 迷惑メールへ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731520" y="4023360"/>
            <a:ext cx="3657600" cy="822960"/>
          </a:xfrm>
          <a:prstGeom prst="rect">
            <a:avLst/>
          </a:prstGeom>
          <a:solidFill>
            <a:srgbClr val="ECFDF5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160520"/>
            <a:ext cx="320040" cy="32004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280160" y="4023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動きが予測できる・説明しやすい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4754880" y="4023360"/>
            <a:ext cx="3657600" cy="822960"/>
          </a:xfrm>
          <a:prstGeom prst="rect">
            <a:avLst/>
          </a:prstGeom>
          <a:solidFill>
            <a:srgbClr val="FEF2F2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16052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5303520" y="40233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ルールにないことは対応不可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32004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② 機械学習AI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00584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データからパターンを自動で見つける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371600"/>
            <a:ext cx="1828800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3716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大量のデータ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2377440" y="137160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2697480" y="1371600"/>
            <a:ext cx="1828800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0" name="Text 7"/>
          <p:cNvSpPr/>
          <p:nvPr/>
        </p:nvSpPr>
        <p:spPr>
          <a:xfrm>
            <a:off x="2697480" y="13716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学習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26280" y="137160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846320" y="1371600"/>
            <a:ext cx="1828800" cy="6400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Text 10"/>
          <p:cNvSpPr/>
          <p:nvPr/>
        </p:nvSpPr>
        <p:spPr>
          <a:xfrm>
            <a:off x="4846320" y="13716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パターン発見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675120" y="1371600"/>
            <a:ext cx="320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995160" y="1371600"/>
            <a:ext cx="1828800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6" name="Text 13"/>
          <p:cNvSpPr/>
          <p:nvPr/>
        </p:nvSpPr>
        <p:spPr>
          <a:xfrm>
            <a:off x="6995160" y="137160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予測・分類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237744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914400" y="237744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売上予測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2468880" y="237744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過去の販売データ → 来月の売上を予測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31520" y="310896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14400" y="310896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異常検知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2468880" y="310896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工場のセンサー → 故障の予兆を検知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731520" y="3840480"/>
            <a:ext cx="7680960" cy="594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914400" y="384048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0B981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レコメンド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2468880" y="3840480"/>
            <a:ext cx="5669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購買履歴 → 「この商品もおすすめ」</a:t>
            </a:r>
            <a:endParaRPr lang="en-US" sz="1400" dirty="0"/>
          </a:p>
        </p:txBody>
      </p:sp>
      <p:sp>
        <p:nvSpPr>
          <p:cNvPr id="26" name="Shape 23"/>
          <p:cNvSpPr/>
          <p:nvPr/>
        </p:nvSpPr>
        <p:spPr>
          <a:xfrm>
            <a:off x="731520" y="4206240"/>
            <a:ext cx="3657600" cy="731520"/>
          </a:xfrm>
          <a:prstGeom prst="rect">
            <a:avLst/>
          </a:prstGeom>
          <a:solidFill>
            <a:srgbClr val="ECFDF5"/>
          </a:solidFill>
          <a:ln/>
        </p:spPr>
      </p:sp>
      <p:pic>
        <p:nvPicPr>
          <p:cNvPr id="2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297680"/>
            <a:ext cx="320040" cy="32004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128016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人間が気づかないパターンも発見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4754880" y="4206240"/>
            <a:ext cx="3657600" cy="731520"/>
          </a:xfrm>
          <a:prstGeom prst="rect">
            <a:avLst/>
          </a:prstGeom>
          <a:solidFill>
            <a:srgbClr val="FEF2F2"/>
          </a:solidFill>
          <a:ln/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297680"/>
            <a:ext cx="320040" cy="32004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530352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なぜその答えか説明しにくい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2286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③ 生成AI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3200400" y="22860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← いま最も注目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005840" y="731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「新しいコンテンツ」を作り出せるAI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31520" y="1371600"/>
            <a:ext cx="76809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31520" y="1371600"/>
            <a:ext cx="73152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6"/>
          <p:cNvSpPr/>
          <p:nvPr/>
        </p:nvSpPr>
        <p:spPr>
          <a:xfrm>
            <a:off x="1005840" y="13716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文章生成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1005840" y="178308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 / Claude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2560320" y="13716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メール文、議事録要約、企画書のたたき台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731520" y="2377440"/>
            <a:ext cx="76809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731520" y="2377440"/>
            <a:ext cx="73152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1005840" y="237744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画像生成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1005840" y="27889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Midjourney / DALL-E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2560320" y="23774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デザイン案、イメージ画像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31520" y="3383280"/>
            <a:ext cx="7680960" cy="8229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731520" y="3383280"/>
            <a:ext cx="73152" cy="8229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6"/>
          <p:cNvSpPr/>
          <p:nvPr/>
        </p:nvSpPr>
        <p:spPr>
          <a:xfrm>
            <a:off x="1005840" y="338328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コード生成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1005840" y="379476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Copilot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2560320" y="338328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プログラムの自動生成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731520" y="4206240"/>
            <a:ext cx="7680960" cy="731520"/>
          </a:xfrm>
          <a:prstGeom prst="rect">
            <a:avLst/>
          </a:prstGeom>
          <a:solidFill>
            <a:srgbClr val="FFFBEB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297680"/>
            <a:ext cx="320040" cy="32004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371600" y="420624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2022年末〜爆発的に普及。業務への影響が最も大きい領域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3つの種類まとめ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645920" cy="7315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09728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40280" y="1097280"/>
            <a:ext cx="2286000" cy="7315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7" name="Text 5"/>
          <p:cNvSpPr/>
          <p:nvPr/>
        </p:nvSpPr>
        <p:spPr>
          <a:xfrm>
            <a:off x="2240280" y="10972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ルールベース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0" y="1097280"/>
            <a:ext cx="2286000" cy="7315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0972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機械学習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903720" y="1097280"/>
            <a:ext cx="2286000" cy="7315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Text 9"/>
          <p:cNvSpPr/>
          <p:nvPr/>
        </p:nvSpPr>
        <p:spPr>
          <a:xfrm>
            <a:off x="6903720" y="109728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生成AI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1874520"/>
            <a:ext cx="1645920" cy="7315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187452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やり方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240280" y="1874520"/>
            <a:ext cx="2286000" cy="7315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5" name="Text 13"/>
          <p:cNvSpPr/>
          <p:nvPr/>
        </p:nvSpPr>
        <p:spPr>
          <a:xfrm>
            <a:off x="2240280" y="187452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人間がルールを書く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0" y="1874520"/>
            <a:ext cx="2286000" cy="7315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0" y="187452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データから学ぶ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903720" y="1874520"/>
            <a:ext cx="2286000" cy="7315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19" name="Text 17"/>
          <p:cNvSpPr/>
          <p:nvPr/>
        </p:nvSpPr>
        <p:spPr>
          <a:xfrm>
            <a:off x="6903720" y="187452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データから学んで作る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2651760"/>
            <a:ext cx="1645920" cy="7315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265176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得意なこと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240280" y="2651760"/>
            <a:ext cx="2286000" cy="7315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3" name="Text 21"/>
          <p:cNvSpPr/>
          <p:nvPr/>
        </p:nvSpPr>
        <p:spPr>
          <a:xfrm>
            <a:off x="2240280" y="2651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決まった応答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572000" y="2651760"/>
            <a:ext cx="2286000" cy="7315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5" name="Text 23"/>
          <p:cNvSpPr/>
          <p:nvPr/>
        </p:nvSpPr>
        <p:spPr>
          <a:xfrm>
            <a:off x="4572000" y="2651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予測・分類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903720" y="2651760"/>
            <a:ext cx="2286000" cy="7315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27" name="Text 25"/>
          <p:cNvSpPr/>
          <p:nvPr/>
        </p:nvSpPr>
        <p:spPr>
          <a:xfrm>
            <a:off x="6903720" y="265176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新規コンテンツ生成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3429000"/>
            <a:ext cx="1645920" cy="7315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34290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身近な例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240280" y="3429000"/>
            <a:ext cx="2286000" cy="7315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1" name="Text 29"/>
          <p:cNvSpPr/>
          <p:nvPr/>
        </p:nvSpPr>
        <p:spPr>
          <a:xfrm>
            <a:off x="2240280" y="34290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チャットボット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572000" y="3429000"/>
            <a:ext cx="2286000" cy="7315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0" y="34290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レコメンド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903720" y="3429000"/>
            <a:ext cx="2286000" cy="7315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5" name="Text 33"/>
          <p:cNvSpPr/>
          <p:nvPr/>
        </p:nvSpPr>
        <p:spPr>
          <a:xfrm>
            <a:off x="6903720" y="342900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ChatGPT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548640" y="4206240"/>
            <a:ext cx="1645920" cy="7315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420624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難易度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240280" y="4206240"/>
            <a:ext cx="2286000" cy="7315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39" name="Text 37"/>
          <p:cNvSpPr/>
          <p:nvPr/>
        </p:nvSpPr>
        <p:spPr>
          <a:xfrm>
            <a:off x="2240280" y="42062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4572000" y="4206240"/>
            <a:ext cx="2286000" cy="7315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1" name="Text 39"/>
          <p:cNvSpPr/>
          <p:nvPr/>
        </p:nvSpPr>
        <p:spPr>
          <a:xfrm>
            <a:off x="4572000" y="42062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903720" y="4206240"/>
            <a:ext cx="2286000" cy="731520"/>
          </a:xfrm>
          <a:prstGeom prst="rect">
            <a:avLst/>
          </a:prstGeom>
          <a:solidFill>
            <a:srgbClr val="1A2332"/>
          </a:solidFill>
          <a:ln/>
        </p:spPr>
      </p:sp>
      <p:sp>
        <p:nvSpPr>
          <p:cNvPr id="43" name="Text 41"/>
          <p:cNvSpPr/>
          <p:nvPr/>
        </p:nvSpPr>
        <p:spPr>
          <a:xfrm>
            <a:off x="6903720" y="4206240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3200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あなたの業務ではどう使える?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1097280"/>
            <a:ext cx="38404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457200" cy="4572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371600" y="1234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文書作成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1371600" y="1737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メール下書き、報告書の要約、翻訳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4754880" y="1097280"/>
            <a:ext cx="38404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371600"/>
            <a:ext cx="457200" cy="4572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5577840" y="12344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情報整理</a:t>
            </a:r>
            <a:endParaRPr lang="en-US" sz="1600" dirty="0"/>
          </a:p>
        </p:txBody>
      </p:sp>
      <p:sp>
        <p:nvSpPr>
          <p:cNvPr id="12" name="Text 7"/>
          <p:cNvSpPr/>
          <p:nvPr/>
        </p:nvSpPr>
        <p:spPr>
          <a:xfrm>
            <a:off x="5577840" y="17373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議事録作成、データの分類・集計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2651760"/>
            <a:ext cx="38404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92608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371600" y="2788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アイデア出し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1371600" y="3291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企画のブレスト、キャッチコピー案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4754880" y="2651760"/>
            <a:ext cx="3840480" cy="12801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2926080"/>
            <a:ext cx="457200" cy="45720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577840" y="27889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調査・リサーチ</a:t>
            </a:r>
            <a:endParaRPr lang="en-US" sz="1600" dirty="0"/>
          </a:p>
        </p:txBody>
      </p:sp>
      <p:sp>
        <p:nvSpPr>
          <p:cNvPr id="20" name="Text 13"/>
          <p:cNvSpPr/>
          <p:nvPr/>
        </p:nvSpPr>
        <p:spPr>
          <a:xfrm>
            <a:off x="5577840" y="32918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市場調査の要約、競合分析の補助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548640" y="4206240"/>
            <a:ext cx="8046720" cy="731520"/>
          </a:xfrm>
          <a:prstGeom prst="rect">
            <a:avLst/>
          </a:prstGeom>
          <a:solidFill>
            <a:srgbClr val="EFF6FF"/>
          </a:solidFill>
          <a:ln/>
        </p:spPr>
      </p:sp>
      <p:sp>
        <p:nvSpPr>
          <p:cNvPr id="22" name="Text 15"/>
          <p:cNvSpPr/>
          <p:nvPr/>
        </p:nvSpPr>
        <p:spPr>
          <a:xfrm>
            <a:off x="731520" y="4206240"/>
            <a:ext cx="7680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891B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「AIに全部任せる」のではなく「AIに下書きさせて人間が仕上げる」が基本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36576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005840" y="32004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AIを使うときの3つの注意点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731520" y="1097280"/>
            <a:ext cx="768096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31520" y="1097280"/>
            <a:ext cx="73152" cy="105156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1280160"/>
            <a:ext cx="502920" cy="502920"/>
          </a:xfrm>
          <a:prstGeom prst="ellipse">
            <a:avLst/>
          </a:prstGeom>
          <a:solidFill>
            <a:srgbClr val="EF4444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737360" y="114300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機密情報を入れない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737360" y="155448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社外のAIサービスに顧客情報や社内機密を入力しない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会社のAI利用ルールを確認すること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31520" y="2331720"/>
            <a:ext cx="768096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731520" y="2331720"/>
            <a:ext cx="73152" cy="1051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1005840" y="251460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1737360" y="237744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答えを鵜呑みにしない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1737360" y="27889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AIは自信満々に間違えることがある（ハルシネーション）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必ず人間がファクトチェックする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31520" y="3566160"/>
            <a:ext cx="7680960" cy="1051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31520" y="3566160"/>
            <a:ext cx="73152" cy="10515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1005840" y="3749040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1737360" y="36118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F172A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著作権に注意する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1737360" y="40233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AI生成物の著作権は法的にグレーな部分がある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そのまま外部公開する場合は上長に確認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365760"/>
            <a:ext cx="548640" cy="5486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今日のまとめ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914400" y="1737360"/>
            <a:ext cx="7315200" cy="6400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6" name="Text 3"/>
          <p:cNvSpPr/>
          <p:nvPr/>
        </p:nvSpPr>
        <p:spPr>
          <a:xfrm>
            <a:off x="1097280" y="17373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AIとは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2743200" y="17373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「人間の判断をコンピュータにやらせる技術」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914400" y="2514600"/>
            <a:ext cx="7315200" cy="6400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25146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3つの種類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2743200" y="251460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ルールベース → 機械学習 → 生成AI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914400" y="3291840"/>
            <a:ext cx="7315200" cy="6400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2" name="Text 9"/>
          <p:cNvSpPr/>
          <p:nvPr/>
        </p:nvSpPr>
        <p:spPr>
          <a:xfrm>
            <a:off x="1097280" y="3291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業務活用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2743200" y="329184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下書き・要約・アイデア出し・リサーチに有効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914400" y="4069080"/>
            <a:ext cx="7315200" cy="64008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15" name="Text 12"/>
          <p:cNvSpPr/>
          <p:nvPr/>
        </p:nvSpPr>
        <p:spPr>
          <a:xfrm>
            <a:off x="1097280" y="40690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注意点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2743200" y="406908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機密情報NG / 鵜呑みNG / 著作権に注意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お疲れさまでした!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828800" y="1828800"/>
            <a:ext cx="5486400" cy="2011680"/>
          </a:xfrm>
          <a:prstGeom prst="rect">
            <a:avLst/>
          </a:prstGeom>
          <a:solidFill>
            <a:srgbClr val="1E293B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28800" y="1828800"/>
            <a:ext cx="5486400" cy="5486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201168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確認テスト（5問）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828800" y="25603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22D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80%以上の正答で修了です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828800" y="3200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次の動画: AI-102 生成AIでできること・できないこと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91B2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AI-101: AIの基本 — 仕組みと種類を理解する</dc:title>
  <dc:subject>PptxGenJS Presentation</dc:subject>
  <dc:creator>Gorilla Knowledge</dc:creator>
  <cp:lastModifiedBy>Gorilla Knowledge</cp:lastModifiedBy>
  <cp:revision>1</cp:revision>
  <dcterms:created xsi:type="dcterms:W3CDTF">2026-03-19T12:30:40Z</dcterms:created>
  <dcterms:modified xsi:type="dcterms:W3CDTF">2026-03-19T12:30:40Z</dcterms:modified>
</cp:coreProperties>
</file>