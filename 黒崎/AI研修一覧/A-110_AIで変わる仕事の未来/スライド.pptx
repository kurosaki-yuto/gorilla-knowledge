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51960" y="914400"/>
            <a:ext cx="640080" cy="6400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7373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AIで変わる仕事の未来</a:t>
            </a:r>
            <a:endParaRPr lang="en-US" sz="4400" dirty="0"/>
          </a:p>
        </p:txBody>
      </p:sp>
      <p:sp>
        <p:nvSpPr>
          <p:cNvPr id="4" name="Shape 1"/>
          <p:cNvSpPr/>
          <p:nvPr/>
        </p:nvSpPr>
        <p:spPr>
          <a:xfrm>
            <a:off x="3200400" y="2697480"/>
            <a:ext cx="2743200" cy="0"/>
          </a:xfrm>
          <a:prstGeom prst="line">
            <a:avLst/>
          </a:prstGeom>
          <a:noFill/>
          <a:ln w="19050">
            <a:solidFill>
              <a:srgbClr val="93C5FD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2880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あなたのキャリアを進化させるAI活用戦略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457200" y="3840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A-110   |   全社員向け   |   20分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200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今日のゴール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A-110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1188720"/>
            <a:ext cx="502920" cy="50292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417320" y="114300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AI時代に必要な3つのスキル（問いを立てる力・判断力・創造力）を説明できる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85800" y="19202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240280"/>
            <a:ext cx="502920" cy="50292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417320" y="219456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AIによって変化する職種・業務の具体例を5つ以上挙げられる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85800" y="297180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291840"/>
            <a:ext cx="502920" cy="50292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417320" y="324612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自分のキャリアにAIをどう活かすかの行動計画を立てられる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200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AIが仕事を変える3つの波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A-110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00100" y="1051560"/>
            <a:ext cx="233172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0100" y="1051560"/>
            <a:ext cx="233172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Shape 7"/>
          <p:cNvSpPr/>
          <p:nvPr/>
        </p:nvSpPr>
        <p:spPr>
          <a:xfrm>
            <a:off x="1645920" y="1417320"/>
            <a:ext cx="640080" cy="64008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3080" y="1554480"/>
            <a:ext cx="365760" cy="3657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00100" y="22860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第1波: 自動化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1165860" y="2880360"/>
            <a:ext cx="16002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82980" y="297180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定型業務を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AIが代替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937260" y="361188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データ入力 / 集計 / 分類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3406140" y="1051560"/>
            <a:ext cx="233172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406140" y="1051560"/>
            <a:ext cx="233172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7" name="Shape 14"/>
          <p:cNvSpPr/>
          <p:nvPr/>
        </p:nvSpPr>
        <p:spPr>
          <a:xfrm>
            <a:off x="4251960" y="1417320"/>
            <a:ext cx="640080" cy="640080"/>
          </a:xfrm>
          <a:prstGeom prst="ellipse">
            <a:avLst/>
          </a:prstGeom>
          <a:solidFill>
            <a:srgbClr val="D1FAE5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554480"/>
            <a:ext cx="365760" cy="36576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3406140" y="22860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第2波: 拡張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3771900" y="2880360"/>
            <a:ext cx="16002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3589020" y="297180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人間の能力を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AIが強化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3543300" y="361188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分析支援 / 創作補助 / 翻訳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6012180" y="1051560"/>
            <a:ext cx="233172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012180" y="1051560"/>
            <a:ext cx="233172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5" name="Shape 21"/>
          <p:cNvSpPr/>
          <p:nvPr/>
        </p:nvSpPr>
        <p:spPr>
          <a:xfrm>
            <a:off x="6858000" y="1417320"/>
            <a:ext cx="640080" cy="640080"/>
          </a:xfrm>
          <a:prstGeom prst="ellipse">
            <a:avLst/>
          </a:prstGeom>
          <a:solidFill>
            <a:srgbClr val="FEF3C7"/>
          </a:solidFill>
          <a:ln/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160" y="1554480"/>
            <a:ext cx="365760" cy="36576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6012180" y="22860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第3波: 変革</a:t>
            </a:r>
            <a:endParaRPr lang="en-US" sz="1800" dirty="0"/>
          </a:p>
        </p:txBody>
      </p:sp>
      <p:sp>
        <p:nvSpPr>
          <p:cNvPr id="28" name="Shape 23"/>
          <p:cNvSpPr/>
          <p:nvPr/>
        </p:nvSpPr>
        <p:spPr>
          <a:xfrm>
            <a:off x="6377940" y="2880360"/>
            <a:ext cx="16002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6195060" y="297180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まったく新しい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仕事の誕生</a:t>
            </a:r>
            <a:endParaRPr lang="en-US" sz="1600" dirty="0"/>
          </a:p>
        </p:txBody>
      </p:sp>
      <p:sp>
        <p:nvSpPr>
          <p:cNvPr id="30" name="Text 25"/>
          <p:cNvSpPr/>
          <p:nvPr/>
        </p:nvSpPr>
        <p:spPr>
          <a:xfrm>
            <a:off x="6149340" y="361188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AI運用 / プロンプト設計 / 倫理監査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200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AI時代に必要な3つのスキル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A-110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00100" y="1051560"/>
            <a:ext cx="233172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0100" y="1051560"/>
            <a:ext cx="233172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Shape 7"/>
          <p:cNvSpPr/>
          <p:nvPr/>
        </p:nvSpPr>
        <p:spPr>
          <a:xfrm>
            <a:off x="1645920" y="1417320"/>
            <a:ext cx="640080" cy="64008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3080" y="1554480"/>
            <a:ext cx="365760" cy="3657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00100" y="22860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問いを立てる力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1165860" y="2880360"/>
            <a:ext cx="16002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82980" y="301752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AIに正しい質問をする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何を聞くかで結果が変わる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3406140" y="1051560"/>
            <a:ext cx="233172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06140" y="1051560"/>
            <a:ext cx="233172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6" name="Shape 13"/>
          <p:cNvSpPr/>
          <p:nvPr/>
        </p:nvSpPr>
        <p:spPr>
          <a:xfrm>
            <a:off x="4251960" y="1417320"/>
            <a:ext cx="640080" cy="640080"/>
          </a:xfrm>
          <a:prstGeom prst="ellipse">
            <a:avLst/>
          </a:prstGeom>
          <a:solidFill>
            <a:srgbClr val="D1FAE5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554480"/>
            <a:ext cx="365760" cy="36576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3406140" y="22860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判断力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3771900" y="2880360"/>
            <a:ext cx="16002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3589020" y="301752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AIの回答を評価し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使うか使わないか決める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6012180" y="1051560"/>
            <a:ext cx="233172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012180" y="1051560"/>
            <a:ext cx="233172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3" name="Shape 19"/>
          <p:cNvSpPr/>
          <p:nvPr/>
        </p:nvSpPr>
        <p:spPr>
          <a:xfrm>
            <a:off x="6858000" y="1417320"/>
            <a:ext cx="640080" cy="640080"/>
          </a:xfrm>
          <a:prstGeom prst="ellipse">
            <a:avLst/>
          </a:prstGeom>
          <a:solidFill>
            <a:srgbClr val="FEF3C7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160" y="1554480"/>
            <a:ext cx="365760" cy="36576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012180" y="22860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創造力</a:t>
            </a:r>
            <a:endParaRPr lang="en-US" sz="1800" dirty="0"/>
          </a:p>
        </p:txBody>
      </p:sp>
      <p:sp>
        <p:nvSpPr>
          <p:cNvPr id="26" name="Shape 21"/>
          <p:cNvSpPr/>
          <p:nvPr/>
        </p:nvSpPr>
        <p:spPr>
          <a:xfrm>
            <a:off x="6377940" y="2880360"/>
            <a:ext cx="16002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6195060" y="301752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AIが生み出せない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独自のアイデアを創る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320040"/>
            <a:ext cx="164592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32004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キャリア視点 01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6400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職種の変化トレンド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00100" y="1280160"/>
            <a:ext cx="233172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0100" y="1280160"/>
            <a:ext cx="233172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8" name="Shape 6"/>
          <p:cNvSpPr/>
          <p:nvPr/>
        </p:nvSpPr>
        <p:spPr>
          <a:xfrm>
            <a:off x="1074420" y="1554480"/>
            <a:ext cx="1783080" cy="365760"/>
          </a:xfrm>
          <a:prstGeom prst="rect">
            <a:avLst>
              <a:gd name="adj" fmla="val 12500"/>
            </a:avLst>
          </a:prstGeom>
          <a:solidFill>
            <a:srgbClr val="FEE2E2"/>
          </a:solidFill>
          <a:ln/>
        </p:spPr>
      </p:sp>
      <p:sp>
        <p:nvSpPr>
          <p:cNvPr id="9" name="Text 7"/>
          <p:cNvSpPr/>
          <p:nvPr/>
        </p:nvSpPr>
        <p:spPr>
          <a:xfrm>
            <a:off x="1074420" y="155448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縮小する役割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165860" y="2148840"/>
            <a:ext cx="16002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74420" y="23317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・単純データ入力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74420" y="274320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・定型レポート作成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74420" y="31546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・一次翻訳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406140" y="1280160"/>
            <a:ext cx="233172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06140" y="1280160"/>
            <a:ext cx="233172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6" name="Shape 14"/>
          <p:cNvSpPr/>
          <p:nvPr/>
        </p:nvSpPr>
        <p:spPr>
          <a:xfrm>
            <a:off x="3680460" y="1554480"/>
            <a:ext cx="1783080" cy="365760"/>
          </a:xfrm>
          <a:prstGeom prst="rect">
            <a:avLst>
              <a:gd name="adj" fmla="val 12500"/>
            </a:avLst>
          </a:prstGeom>
          <a:solidFill>
            <a:srgbClr val="DBEAFE"/>
          </a:solidFill>
          <a:ln/>
        </p:spPr>
      </p:sp>
      <p:sp>
        <p:nvSpPr>
          <p:cNvPr id="17" name="Text 15"/>
          <p:cNvSpPr/>
          <p:nvPr/>
        </p:nvSpPr>
        <p:spPr>
          <a:xfrm>
            <a:off x="3680460" y="155448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拡張する役割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771900" y="2148840"/>
            <a:ext cx="16002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80460" y="23317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・データアナリスト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680460" y="274320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・コンサルタント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680460" y="31546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・PM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012180" y="1280160"/>
            <a:ext cx="233172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12180" y="1280160"/>
            <a:ext cx="233172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4" name="Shape 22"/>
          <p:cNvSpPr/>
          <p:nvPr/>
        </p:nvSpPr>
        <p:spPr>
          <a:xfrm>
            <a:off x="6286500" y="1554480"/>
            <a:ext cx="1783080" cy="365760"/>
          </a:xfrm>
          <a:prstGeom prst="rect">
            <a:avLst>
              <a:gd name="adj" fmla="val 12500"/>
            </a:avLst>
          </a:prstGeom>
          <a:solidFill>
            <a:srgbClr val="D1FAE5"/>
          </a:solidFill>
          <a:ln/>
        </p:spPr>
      </p:sp>
      <p:sp>
        <p:nvSpPr>
          <p:cNvPr id="25" name="Text 23"/>
          <p:cNvSpPr/>
          <p:nvPr/>
        </p:nvSpPr>
        <p:spPr>
          <a:xfrm>
            <a:off x="6286500" y="155448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新しく生まれる役割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377940" y="2148840"/>
            <a:ext cx="16002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86500" y="23317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・プロンプトエンジニア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286500" y="274320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・AI倫理監査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286500" y="31546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・AI導入コンサルタント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A-110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320040"/>
            <a:ext cx="1645920" cy="256032"/>
          </a:xfrm>
          <a:prstGeom prst="rect">
            <a:avLst>
              <a:gd name="adj" fmla="val 17857"/>
            </a:avLst>
          </a:prstGeom>
          <a:solidFill>
            <a:srgbClr val="D1FAE5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32004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キャリア視点 02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640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AI時代に価値が上がるスキル・下がるスキル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68680" y="1280160"/>
            <a:ext cx="347472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1280160"/>
            <a:ext cx="347472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8" name="Shape 6"/>
          <p:cNvSpPr/>
          <p:nvPr/>
        </p:nvSpPr>
        <p:spPr>
          <a:xfrm>
            <a:off x="1143000" y="1508760"/>
            <a:ext cx="2926080" cy="365760"/>
          </a:xfrm>
          <a:prstGeom prst="rect">
            <a:avLst>
              <a:gd name="adj" fmla="val 12500"/>
            </a:avLst>
          </a:prstGeom>
          <a:solidFill>
            <a:srgbClr val="D1FAE5"/>
          </a:solidFill>
          <a:ln/>
        </p:spPr>
      </p:sp>
      <p:sp>
        <p:nvSpPr>
          <p:cNvPr id="9" name="Text 7"/>
          <p:cNvSpPr/>
          <p:nvPr/>
        </p:nvSpPr>
        <p:spPr>
          <a:xfrm>
            <a:off x="1143000" y="150876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価値が上がる</a:t>
            </a:r>
            <a:endParaRPr lang="en-US" sz="16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148840"/>
            <a:ext cx="201168" cy="20116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463040" y="21031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課題設定力</a:t>
            </a:r>
            <a:endParaRPr lang="en-US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2606040"/>
            <a:ext cx="201168" cy="20116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463040" y="25603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異分野を繋ぐ力</a:t>
            </a:r>
            <a:endParaRPr lang="en-US" sz="16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3063240"/>
            <a:ext cx="201168" cy="20116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463040" y="3017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対人コミュニケーション</a:t>
            </a:r>
            <a:endParaRPr lang="en-US" sz="16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3520440"/>
            <a:ext cx="201168" cy="20116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463040" y="34747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倫理的判断力</a:t>
            </a:r>
            <a:endParaRPr lang="en-US" sz="1600" dirty="0"/>
          </a:p>
        </p:txBody>
      </p:sp>
      <p:sp>
        <p:nvSpPr>
          <p:cNvPr id="18" name="Shape 12"/>
          <p:cNvSpPr/>
          <p:nvPr/>
        </p:nvSpPr>
        <p:spPr>
          <a:xfrm>
            <a:off x="4800600" y="1280160"/>
            <a:ext cx="347472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800600" y="1280160"/>
            <a:ext cx="3474720" cy="54864"/>
          </a:xfrm>
          <a:prstGeom prst="rect">
            <a:avLst/>
          </a:prstGeom>
          <a:solidFill>
            <a:srgbClr val="9CA3AF"/>
          </a:solidFill>
          <a:ln/>
        </p:spPr>
      </p:sp>
      <p:sp>
        <p:nvSpPr>
          <p:cNvPr id="20" name="Shape 14"/>
          <p:cNvSpPr/>
          <p:nvPr/>
        </p:nvSpPr>
        <p:spPr>
          <a:xfrm>
            <a:off x="5074920" y="1508760"/>
            <a:ext cx="2926080" cy="365760"/>
          </a:xfrm>
          <a:prstGeom prst="rect">
            <a:avLst>
              <a:gd name="adj" fmla="val 12500"/>
            </a:avLst>
          </a:prstGeom>
          <a:solidFill>
            <a:srgbClr val="F3F4F6"/>
          </a:solidFill>
          <a:ln/>
        </p:spPr>
      </p:sp>
      <p:sp>
        <p:nvSpPr>
          <p:cNvPr id="21" name="Text 15"/>
          <p:cNvSpPr/>
          <p:nvPr/>
        </p:nvSpPr>
        <p:spPr>
          <a:xfrm>
            <a:off x="5074920" y="150876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価値が下がる</a:t>
            </a:r>
            <a:endParaRPr lang="en-US" sz="1600" dirty="0"/>
          </a:p>
        </p:txBody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4920" y="2148840"/>
            <a:ext cx="201168" cy="20116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394960" y="21031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定型作業の正確さ</a:t>
            </a:r>
            <a:endParaRPr lang="en-US" sz="160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4920" y="2606040"/>
            <a:ext cx="201168" cy="201168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5394960" y="25603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単純な記憶力</a:t>
            </a:r>
            <a:endParaRPr lang="en-US" sz="16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74920" y="3063240"/>
            <a:ext cx="201168" cy="201168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5394960" y="3017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情報検索速度</a:t>
            </a:r>
            <a:endParaRPr lang="en-US" sz="1600" dirty="0"/>
          </a:p>
        </p:txBody>
      </p:sp>
      <p:sp>
        <p:nvSpPr>
          <p:cNvPr id="28" name="Shape 19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9" name="Text 20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1100" dirty="0"/>
          </a:p>
        </p:txBody>
      </p:sp>
      <p:sp>
        <p:nvSpPr>
          <p:cNvPr id="30" name="Text 21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A-110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320040"/>
            <a:ext cx="1645920" cy="256032"/>
          </a:xfrm>
          <a:prstGeom prst="rect">
            <a:avLst>
              <a:gd name="adj" fmla="val 17857"/>
            </a:avLst>
          </a:prstGeom>
          <a:solidFill>
            <a:srgbClr val="FEF3C7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32004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キャリア視点 03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6400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代替ではなく協働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85800" y="1325880"/>
            <a:ext cx="77724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325880"/>
            <a:ext cx="45720" cy="7772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1508760"/>
            <a:ext cx="411480" cy="41148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600200" y="1463040"/>
            <a:ext cx="1371600" cy="320040"/>
          </a:xfrm>
          <a:prstGeom prst="rect">
            <a:avLst>
              <a:gd name="adj" fmla="val 14286"/>
            </a:avLst>
          </a:prstGeom>
          <a:solidFill>
            <a:srgbClr val="DBEAFE"/>
          </a:solidFill>
          <a:ln/>
        </p:spPr>
      </p:sp>
      <p:sp>
        <p:nvSpPr>
          <p:cNvPr id="10" name="Text 8"/>
          <p:cNvSpPr/>
          <p:nvPr/>
        </p:nvSpPr>
        <p:spPr>
          <a:xfrm>
            <a:off x="1600200" y="14630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効率化型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20040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既存業務の高速化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200400" y="170992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事務・経理・CS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85800" y="2286000"/>
            <a:ext cx="77724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2286000"/>
            <a:ext cx="45720" cy="7772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2468880"/>
            <a:ext cx="411480" cy="411480"/>
          </a:xfrm>
          <a:prstGeom prst="ellipse">
            <a:avLst/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600200" y="2423160"/>
            <a:ext cx="1371600" cy="320040"/>
          </a:xfrm>
          <a:prstGeom prst="rect">
            <a:avLst>
              <a:gd name="adj" fmla="val 14286"/>
            </a:avLst>
          </a:prstGeom>
          <a:solidFill>
            <a:srgbClr val="D1FAE5"/>
          </a:solidFill>
          <a:ln/>
        </p:spPr>
      </p:sp>
      <p:sp>
        <p:nvSpPr>
          <p:cNvPr id="17" name="Text 15"/>
          <p:cNvSpPr/>
          <p:nvPr/>
        </p:nvSpPr>
        <p:spPr>
          <a:xfrm>
            <a:off x="1600200" y="24231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高度化型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200400" y="23317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専門性の底上げ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200400" y="267004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コンサル・エンジニア・マーケ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85800" y="3246120"/>
            <a:ext cx="77724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5800" y="3246120"/>
            <a:ext cx="45720" cy="7772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2" name="Text 20"/>
          <p:cNvSpPr/>
          <p:nvPr/>
        </p:nvSpPr>
        <p:spPr>
          <a:xfrm>
            <a:off x="960120" y="3429000"/>
            <a:ext cx="411480" cy="411480"/>
          </a:xfrm>
          <a:prstGeom prst="ellipse">
            <a:avLst/>
          </a:prstGeom>
          <a:solidFill>
            <a:srgbClr val="D9770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600200" y="3383280"/>
            <a:ext cx="1371600" cy="320040"/>
          </a:xfrm>
          <a:prstGeom prst="rect">
            <a:avLst>
              <a:gd name="adj" fmla="val 14286"/>
            </a:avLst>
          </a:prstGeom>
          <a:solidFill>
            <a:srgbClr val="FEF3C7"/>
          </a:solidFill>
          <a:ln/>
        </p:spPr>
      </p:sp>
      <p:sp>
        <p:nvSpPr>
          <p:cNvPr id="24" name="Text 22"/>
          <p:cNvSpPr/>
          <p:nvPr/>
        </p:nvSpPr>
        <p:spPr>
          <a:xfrm>
            <a:off x="1600200" y="33832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創出型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200400" y="32918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新しい職種の誕生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3200400" y="363016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AI運用・データ倫理・プロンプト設計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A-110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320040"/>
            <a:ext cx="1645920" cy="256032"/>
          </a:xfrm>
          <a:prstGeom prst="rect">
            <a:avLst>
              <a:gd name="adj" fmla="val 17857"/>
            </a:avLst>
          </a:prstGeom>
          <a:solidFill>
            <a:srgbClr val="FEE2E2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32004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キャリア視点 04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6400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キャリアの分岐点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68680" y="1280160"/>
            <a:ext cx="347472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1280160"/>
            <a:ext cx="3474720" cy="54864"/>
          </a:xfrm>
          <a:prstGeom prst="rect">
            <a:avLst/>
          </a:prstGeom>
          <a:solidFill>
            <a:srgbClr val="2563EB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23160" y="1554480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68680" y="2011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AIを使う側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1234440" y="2468880"/>
            <a:ext cx="27432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43000" y="26060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AI活用スキルで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生産性と市場価値UP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800600" y="1280160"/>
            <a:ext cx="347472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800600" y="1280160"/>
            <a:ext cx="3474720" cy="54864"/>
          </a:xfrm>
          <a:prstGeom prst="rect">
            <a:avLst/>
          </a:prstGeom>
          <a:solidFill>
            <a:srgbClr val="9CA3A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554480"/>
            <a:ext cx="365760" cy="3657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800600" y="2011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AIに使われる側</a:t>
            </a:r>
            <a:endParaRPr lang="en-US" sz="2200" dirty="0"/>
          </a:p>
        </p:txBody>
      </p:sp>
      <p:sp>
        <p:nvSpPr>
          <p:cNvPr id="16" name="Shape 12"/>
          <p:cNvSpPr/>
          <p:nvPr/>
        </p:nvSpPr>
        <p:spPr>
          <a:xfrm>
            <a:off x="5166360" y="2468880"/>
            <a:ext cx="27432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5074920" y="26060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AIの指示通りの作業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単純労働化リスク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685800" y="3703320"/>
            <a:ext cx="7772400" cy="457200"/>
          </a:xfrm>
          <a:prstGeom prst="rect">
            <a:avLst/>
          </a:prstGeom>
          <a:solidFill>
            <a:srgbClr val="FEF3C7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794760"/>
            <a:ext cx="256032" cy="2560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280160" y="37033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AIリテラシーは全職種共通の基礎スキルになる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1100" dirty="0"/>
          </a:p>
        </p:txBody>
      </p:sp>
      <p:sp>
        <p:nvSpPr>
          <p:cNvPr id="23" name="Text 18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A-110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320040"/>
            <a:ext cx="137160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32004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変化する仕事 05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6400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エンジニア・IT部門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85800" y="1051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AI搭載ツールで開発効率を飛躍的に向上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1463040"/>
            <a:ext cx="3200400" cy="1371600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554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0120" y="19202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・コードを一行一行手書き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21945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・バグ原因究明に数時間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60120" y="24688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・ドキュメント作成が後回し</a:t>
            </a:r>
            <a:endParaRPr lang="en-US" sz="13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0" y="1965960"/>
            <a:ext cx="365760" cy="36576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4892040" y="1463040"/>
            <a:ext cx="32004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892040" y="1463040"/>
            <a:ext cx="320040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5" name="Text 12"/>
          <p:cNvSpPr/>
          <p:nvPr/>
        </p:nvSpPr>
        <p:spPr>
          <a:xfrm>
            <a:off x="5166360" y="15544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(AI)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5166360" y="19202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・コード補完・生成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5166360" y="21945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・バグ自動検出・修正提案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166360" y="24688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・ドキュメント自動生成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85800" y="3063240"/>
            <a:ext cx="7772400" cy="457200"/>
          </a:xfrm>
          <a:prstGeom prst="rect">
            <a:avLst/>
          </a:prstGeom>
          <a:solidFill>
            <a:srgbClr val="D1FAE5"/>
          </a:solidFill>
          <a:ln w="6350">
            <a:solidFill>
              <a:srgbClr val="059669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136392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234440" y="30632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人間の役割: アーキテクチャ設計 / 要件定義 / コードレビューと品質管理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A-110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200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AIキャリア行動計画の立て方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A-110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08660" y="1097280"/>
            <a:ext cx="169164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8660" y="1097280"/>
            <a:ext cx="169164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1325880" y="137160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08660" y="20116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棚卸し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82980" y="2606040"/>
            <a:ext cx="11430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5820" y="274320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業務を「定型/判断/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創造」に分類</a:t>
            </a:r>
            <a:endParaRPr lang="en-US" sz="13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55164" y="2267712"/>
            <a:ext cx="182880" cy="18288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2720340" y="1097280"/>
            <a:ext cx="169164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720340" y="1097280"/>
            <a:ext cx="169164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6" name="Text 13"/>
          <p:cNvSpPr/>
          <p:nvPr/>
        </p:nvSpPr>
        <p:spPr>
          <a:xfrm>
            <a:off x="3337560" y="1371600"/>
            <a:ext cx="457200" cy="457200"/>
          </a:xfrm>
          <a:prstGeom prst="ellipse">
            <a:avLst/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2720340" y="20116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AI活用ポイント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特定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2994660" y="2606040"/>
            <a:ext cx="11430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857500" y="274320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定型業務から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AI化を検討</a:t>
            </a:r>
            <a:endParaRPr lang="en-US" sz="13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6844" y="2267712"/>
            <a:ext cx="182880" cy="182880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4732020" y="1097280"/>
            <a:ext cx="169164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4732020" y="1097280"/>
            <a:ext cx="169164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3" name="Text 19"/>
          <p:cNvSpPr/>
          <p:nvPr/>
        </p:nvSpPr>
        <p:spPr>
          <a:xfrm>
            <a:off x="5349240" y="1371600"/>
            <a:ext cx="457200" cy="457200"/>
          </a:xfrm>
          <a:prstGeom prst="ellipse">
            <a:avLst/>
          </a:prstGeom>
          <a:solidFill>
            <a:srgbClr val="D9770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Text 20"/>
          <p:cNvSpPr/>
          <p:nvPr/>
        </p:nvSpPr>
        <p:spPr>
          <a:xfrm>
            <a:off x="4732020" y="20116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スキルアップ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計画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006340" y="2606040"/>
            <a:ext cx="11430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4869180" y="274320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3つのスキルを強化する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学習計画を作る</a:t>
            </a:r>
            <a:endParaRPr lang="en-US" sz="1300" dirty="0"/>
          </a:p>
        </p:txBody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8524" y="2267712"/>
            <a:ext cx="182880" cy="182880"/>
          </a:xfrm>
          <a:prstGeom prst="rect">
            <a:avLst/>
          </a:prstGeom>
        </p:spPr>
      </p:pic>
      <p:sp>
        <p:nvSpPr>
          <p:cNvPr id="28" name="Shape 23"/>
          <p:cNvSpPr/>
          <p:nvPr/>
        </p:nvSpPr>
        <p:spPr>
          <a:xfrm>
            <a:off x="6743700" y="1097280"/>
            <a:ext cx="169164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6743700" y="1097280"/>
            <a:ext cx="169164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0" name="Text 25"/>
          <p:cNvSpPr/>
          <p:nvPr/>
        </p:nvSpPr>
        <p:spPr>
          <a:xfrm>
            <a:off x="7360920" y="137160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1" name="Text 26"/>
          <p:cNvSpPr/>
          <p:nvPr/>
        </p:nvSpPr>
        <p:spPr>
          <a:xfrm>
            <a:off x="6743700" y="20116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実践と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振り返り</a:t>
            </a:r>
            <a:endParaRPr lang="en-US" sz="1800" dirty="0"/>
          </a:p>
        </p:txBody>
      </p:sp>
      <p:sp>
        <p:nvSpPr>
          <p:cNvPr id="32" name="Shape 27"/>
          <p:cNvSpPr/>
          <p:nvPr/>
        </p:nvSpPr>
        <p:spPr>
          <a:xfrm>
            <a:off x="7018020" y="2606040"/>
            <a:ext cx="11430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880860" y="274320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週1回AIツールを試し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効果を記録</a:t>
            </a:r>
            <a:endParaRPr lang="en-US" sz="1300" dirty="0"/>
          </a:p>
        </p:txBody>
      </p:sp>
      <p:sp>
        <p:nvSpPr>
          <p:cNvPr id="34" name="Shape 29"/>
          <p:cNvSpPr/>
          <p:nvPr/>
        </p:nvSpPr>
        <p:spPr>
          <a:xfrm>
            <a:off x="685800" y="3840480"/>
            <a:ext cx="7772400" cy="411480"/>
          </a:xfrm>
          <a:prstGeom prst="rect">
            <a:avLst/>
          </a:prstGeom>
          <a:solidFill>
            <a:srgbClr val="FEF3C7"/>
          </a:solidFill>
          <a:ln/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904488"/>
            <a:ext cx="256032" cy="256032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1280160" y="384048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小さなサイクルを回し続けることがAI時代のキャリアを切り拓く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200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まとめ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A-110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85800" y="1097280"/>
            <a:ext cx="77724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097280"/>
            <a:ext cx="45720" cy="6858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109728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3つの波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880360" y="109728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自動化 → 拡張 → 変革。仕事を奪うのではなく質を変える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1965960"/>
            <a:ext cx="77724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" y="1965960"/>
            <a:ext cx="45720" cy="6858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196596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3つのスキル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880360" y="196596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問いを立てる力・判断力・創造力がAI時代の武器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85800" y="2834640"/>
            <a:ext cx="77724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2834640"/>
            <a:ext cx="45720" cy="6858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283464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5つの変化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2880360" y="283464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営業・経理・サポート・企画・エンジニア全てでAI活用が進む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85800" y="3703320"/>
            <a:ext cx="77724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5800" y="3703320"/>
            <a:ext cx="45720" cy="6858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370332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行動計画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2880360" y="370332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棚卸し → AI活用ポイント特定 → スキルアップ → 実践と振り返り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0" y="640080"/>
            <a:ext cx="548640" cy="548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AIを味方に、キャリアを進化させよう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1828800" y="2103120"/>
            <a:ext cx="5486400" cy="2286000"/>
          </a:xfrm>
          <a:prstGeom prst="rect">
            <a:avLst>
              <a:gd name="adj" fmla="val 4000"/>
            </a:avLst>
          </a:prstGeom>
          <a:solidFill>
            <a:srgbClr val="FFFFFF"/>
          </a:solidFill>
          <a:ln/>
        </p:spPr>
      </p:sp>
      <p:sp>
        <p:nvSpPr>
          <p:cNvPr id="5" name="Text 2"/>
          <p:cNvSpPr/>
          <p:nvPr/>
        </p:nvSpPr>
        <p:spPr>
          <a:xfrm>
            <a:off x="1828800" y="228600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確認テスト（5問）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3200400" y="2834640"/>
            <a:ext cx="27432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828800" y="29718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80%以上の正答で修了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3200400" y="3474720"/>
            <a:ext cx="27432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828800" y="36118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今日から1つ、AIツールを使ってみましょう！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お疲れさまでした！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A-110: AIで変わる仕事の未来</dc:title>
  <dc:subject>PptxGenJS Presentation</dc:subject>
  <dc:creator>Gorilla Knowledge</dc:creator>
  <cp:lastModifiedBy>Gorilla Knowledge</cp:lastModifiedBy>
  <cp:revision>1</cp:revision>
  <dcterms:created xsi:type="dcterms:W3CDTF">2026-03-29T05:29:27Z</dcterms:created>
  <dcterms:modified xsi:type="dcterms:W3CDTF">2026-03-29T05:29:27Z</dcterms:modified>
</cp:coreProperties>
</file>