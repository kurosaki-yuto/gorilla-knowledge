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7315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主要AIツール徹底比較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33172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2026年版 — 最適なAIを選ぶための完全ガイド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A-103   |   全社員向け   |   20分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1005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Claude / Gemini / Copilotの特徴を説明できる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73736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574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20116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用途に応じて最適なAIツールを選択できる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7432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無料版と有料版の違い、企業利用時の注意点を理解する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18872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2026年のAIツール勢力図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23317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005840"/>
            <a:ext cx="2331720" cy="36576"/>
          </a:xfrm>
          <a:prstGeom prst="rect">
            <a:avLst/>
          </a:prstGeom>
          <a:solidFill>
            <a:srgbClr val="10A37F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" y="1097280"/>
            <a:ext cx="21122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5528" y="1353312"/>
            <a:ext cx="21122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5528" y="1600200"/>
            <a:ext cx="21122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週間9億ユーザー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1005840"/>
            <a:ext cx="23317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005840"/>
            <a:ext cx="2331720" cy="36576"/>
          </a:xfrm>
          <a:prstGeom prst="rect">
            <a:avLst/>
          </a:prstGeom>
          <a:solidFill>
            <a:srgbClr val="D4A27F"/>
          </a:solidFill>
          <a:ln/>
        </p:spPr>
      </p:sp>
      <p:sp>
        <p:nvSpPr>
          <p:cNvPr id="16" name="Text 14"/>
          <p:cNvSpPr/>
          <p:nvPr/>
        </p:nvSpPr>
        <p:spPr>
          <a:xfrm>
            <a:off x="3401568" y="1097280"/>
            <a:ext cx="21122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4A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01568" y="1353312"/>
            <a:ext cx="21122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01568" y="1600200"/>
            <a:ext cx="21122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1Mトークン対応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97880" y="1005840"/>
            <a:ext cx="23317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97880" y="1005840"/>
            <a:ext cx="2331720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Text 19"/>
          <p:cNvSpPr/>
          <p:nvPr/>
        </p:nvSpPr>
        <p:spPr>
          <a:xfrm>
            <a:off x="6007608" y="1097280"/>
            <a:ext cx="21122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07608" y="1353312"/>
            <a:ext cx="21122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07608" y="1600200"/>
            <a:ext cx="21122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Workspace統合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2377440"/>
            <a:ext cx="23317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2377440"/>
            <a:ext cx="233172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" y="2468880"/>
            <a:ext cx="21122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95528" y="2724912"/>
            <a:ext cx="21122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95528" y="2971800"/>
            <a:ext cx="21122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GPT-5搭載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91840" y="2377440"/>
            <a:ext cx="23317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91840" y="2377440"/>
            <a:ext cx="2331720" cy="36576"/>
          </a:xfrm>
          <a:prstGeom prst="rect">
            <a:avLst/>
          </a:prstGeom>
          <a:solidFill>
            <a:srgbClr val="0668E1"/>
          </a:solidFill>
          <a:ln/>
        </p:spPr>
      </p:sp>
      <p:sp>
        <p:nvSpPr>
          <p:cNvPr id="31" name="Text 29"/>
          <p:cNvSpPr/>
          <p:nvPr/>
        </p:nvSpPr>
        <p:spPr>
          <a:xfrm>
            <a:off x="3401568" y="2468880"/>
            <a:ext cx="21122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6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401568" y="2724912"/>
            <a:ext cx="21122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01568" y="2971800"/>
            <a:ext cx="21122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オープンソース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97880" y="2377440"/>
            <a:ext cx="23317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97880" y="2377440"/>
            <a:ext cx="2331720" cy="36576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36" name="Text 34"/>
          <p:cNvSpPr/>
          <p:nvPr/>
        </p:nvSpPr>
        <p:spPr>
          <a:xfrm>
            <a:off x="6007608" y="2468880"/>
            <a:ext cx="21122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007608" y="2724912"/>
            <a:ext cx="21122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中国発OSS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07608" y="2971800"/>
            <a:ext cx="21122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推論特化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商用クローズド（左4つ）  vs  オープンソース（右2つ）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00584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— GPT-5世代の実力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2801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GPT-5.3 Instant / o3-pro搭載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6002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週間9億ユーザーの圧倒的普及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9202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画像生成・GPTs・コード対応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2402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Free/Go $8/Plus $20/Pro $200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66360" y="12801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回答精度にムラがある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66360" y="16002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無料版に広告が導入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2194560"/>
            <a:ext cx="3474720" cy="640080"/>
          </a:xfrm>
          <a:prstGeom prst="rect">
            <a:avLst>
              <a:gd name="adj" fmla="val 11429"/>
            </a:avLst>
          </a:prstGeom>
          <a:solidFill>
            <a:srgbClr val="E6F7F1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2240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アイデア出し / 文章作成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画像生成 / 翻訳 / 汎用利用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91440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— 安全性と長文処理の強み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2801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Opus 4.6 / Sonnet 4.6（1Mトークン）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6002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論理的精度とビジネス文書品質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9202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Claude Codeでコーディング支援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2402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Free / Pro $17-20 / Max $100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66360" y="12801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画像生成は非対応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2194560"/>
            <a:ext cx="3474720" cy="640080"/>
          </a:xfrm>
          <a:prstGeom prst="rect">
            <a:avLst>
              <a:gd name="adj" fmla="val 11429"/>
            </a:avLst>
          </a:prstGeom>
          <a:solidFill>
            <a:srgbClr val="FDF2E9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2240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4A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長文分析 / 契約書作成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A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コーディング / ビジネス文書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91440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— Google統合の威力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2801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3.1 Pro / Flash Live搭載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6002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Google Workspace完全統合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9202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リアルタイム検索で最新情報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2402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Free / AI Pro $19.99 / Ultra $124.99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66360" y="12801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AI Ultra高額（$124.99/月）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66360" y="16002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独自差別化がやや弱い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2194560"/>
            <a:ext cx="3474720" cy="640080"/>
          </a:xfrm>
          <a:prstGeom prst="rect">
            <a:avLst>
              <a:gd name="adj" fmla="val 11429"/>
            </a:avLst>
          </a:prstGeom>
          <a:solidFill>
            <a:srgbClr val="E8F0FE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2240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リサーチ / Gmail連携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 / リアルタイム検索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00584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— Office連携の決定版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2801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GPT-5搭載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6002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Word / Excel / PPT / Teams統合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9202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企業向けセキュリティ設計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2402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Web無料 / M365 Copilot $30/月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66360" y="12801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M365ライセンス必須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66360" y="16002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コストが他ツールより高い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2194560"/>
            <a:ext cx="3474720" cy="640080"/>
          </a:xfrm>
          <a:prstGeom prst="rect">
            <a:avLst>
              <a:gd name="adj" fmla="val 11429"/>
            </a:avLst>
          </a:prstGeom>
          <a:solidFill>
            <a:srgbClr val="E5F1FB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2240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Word文書 / Excel分析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PPT作成 / Teams会議要約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37160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オープンソース勢力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35661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960120"/>
            <a:ext cx="3566160" cy="45720"/>
          </a:xfrm>
          <a:prstGeom prst="rect">
            <a:avLst/>
          </a:prstGeom>
          <a:solidFill>
            <a:srgbClr val="0668E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051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66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4（Meta）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Scout / Maverick 2モデル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17099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無料で自社サーバー展開可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0025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商用利用 + カスタマイズ自由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92040" y="960120"/>
            <a:ext cx="35661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960120"/>
            <a:ext cx="3566160" cy="457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051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DeepSeek（中国発）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V3 / R1 モデル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17099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推論タスクに特に強い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20025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無料 / オープンソース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3108960"/>
            <a:ext cx="7772400" cy="502920"/>
          </a:xfrm>
          <a:prstGeom prst="rect">
            <a:avLst>
              <a:gd name="adj" fmla="val 10909"/>
            </a:avLst>
          </a:prstGeom>
          <a:solidFill>
            <a:srgbClr val="FEF3C7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12724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共通注意: 自社サーバー運用の技術力が必要 / データ社外流出ゼロを実現可能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00584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無料版 vs 有料版 比較表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A-103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005840"/>
          <a:ext cx="77724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286000"/>
                <a:gridCol w="25603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ツール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無料版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有料版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GPT-5.3(広告あり/制限)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Plus: o3-pro等全モデル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$8 / Plus $20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 4.6(制限あり)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Pro: Opus 4.6+1Mトークン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$17-20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基本チャット機能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Pro: Workspace連携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Pro $19.99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Web版のみ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M365: Office完全統合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M365 $30/月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85800" y="3429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まず無料版で試して、業務に合うか確認してから有料版を検討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73736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業務別おすすめツール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7772400" cy="640080"/>
          </a:xfrm>
          <a:prstGeom prst="rect">
            <a:avLst>
              <a:gd name="adj" fmla="val 8571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960120"/>
            <a:ext cx="54864" cy="640080"/>
          </a:xfrm>
          <a:prstGeom prst="rect">
            <a:avLst/>
          </a:prstGeom>
          <a:solidFill>
            <a:srgbClr val="10A37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0058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文書作成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9784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Claude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速度ならChatGPT、正確さならClaude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1737360"/>
            <a:ext cx="7772400" cy="640080"/>
          </a:xfrm>
          <a:prstGeom prst="rect">
            <a:avLst>
              <a:gd name="adj" fmla="val 8571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1737360"/>
            <a:ext cx="54864" cy="6400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17830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データ分析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60320" y="17556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/ Claude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0320" y="2057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ExcelならCopilot、PDF/CSVならClaude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2514600"/>
            <a:ext cx="7772400" cy="640080"/>
          </a:xfrm>
          <a:prstGeom prst="rect">
            <a:avLst>
              <a:gd name="adj" fmla="val 8571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2514600"/>
            <a:ext cx="54864" cy="640080"/>
          </a:xfrm>
          <a:prstGeom prst="rect">
            <a:avLst/>
          </a:prstGeom>
          <a:solidFill>
            <a:srgbClr val="D4A27F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コーディング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60320" y="25328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4A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/ ChatGPT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560320" y="2834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自律エージェントならClaude Code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" y="3291840"/>
            <a:ext cx="7772400" cy="640080"/>
          </a:xfrm>
          <a:prstGeom prst="rect">
            <a:avLst>
              <a:gd name="adj" fmla="val 8571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291840"/>
            <a:ext cx="54864" cy="6400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3375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リサーチ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560320" y="331012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ChatGPT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560320" y="3611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リアルタイム検索ならGemini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28016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企業導入時の選定ポイント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77724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960120"/>
            <a:ext cx="64008" cy="82296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24712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100584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セキュリティ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63040" y="1325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データの学習利用ポリシーを確認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エンタープライズ契約の有無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5800" y="1920240"/>
            <a:ext cx="77724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1920240"/>
            <a:ext cx="64008" cy="82296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84832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63040" y="196596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コスト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463040" y="22860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ユーザー数 × 月額で総コスト試算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100人×Copilot = 年$36,000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85800" y="2880360"/>
            <a:ext cx="77724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85800" y="2880360"/>
            <a:ext cx="64008" cy="82296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44952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63040" y="292608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統合性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463040" y="32461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M365環境 → Copilot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Google環境 → Gemini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00584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データプライバシーの注意点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7772400" cy="594360"/>
          </a:xfrm>
          <a:prstGeom prst="rect">
            <a:avLst>
              <a:gd name="adj" fmla="val 9231"/>
            </a:avLst>
          </a:prstGeom>
          <a:solidFill>
            <a:srgbClr val="FEE2E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24128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98755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無料版では入力データがAI学習に使われる可能性あり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580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入力NGデータ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個人情報・顧客データ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23500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未公開の財務情報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" y="26426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機密プロジェクト情報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2920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対策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166360" y="2057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有料版/エンタープライズ版を利用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166360" y="23500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オープンソースでオンプレミス運用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166360" y="26426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ツールごとのポリシーを確認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0972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複数ツール使い分け戦略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7772400" cy="502920"/>
          </a:xfrm>
          <a:prstGeom prst="rect">
            <a:avLst>
              <a:gd name="adj" fmla="val 10909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98755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メインツール 1つ  +  サブツール 1-2つ  が最適解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645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 3ツール体制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011680"/>
            <a:ext cx="914400" cy="347472"/>
          </a:xfrm>
          <a:prstGeom prst="rect">
            <a:avLst>
              <a:gd name="adj" fmla="val 10526"/>
            </a:avLst>
          </a:prstGeom>
          <a:solidFill>
            <a:srgbClr val="10A37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01168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メイン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83080" y="20116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— 日常の文書作成・チャット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2468880"/>
            <a:ext cx="914400" cy="347472"/>
          </a:xfrm>
          <a:prstGeom prst="rect">
            <a:avLst>
              <a:gd name="adj" fmla="val 10526"/>
            </a:avLst>
          </a:prstGeom>
          <a:solidFill>
            <a:srgbClr val="D4A27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46888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サブ1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83080" y="24688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— 長文分析・正確性重視の作業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2926080"/>
            <a:ext cx="914400" cy="347472"/>
          </a:xfrm>
          <a:prstGeom prst="rect">
            <a:avLst>
              <a:gd name="adj" fmla="val 10526"/>
            </a:avLst>
          </a:prstGeom>
          <a:solidFill>
            <a:srgbClr val="0078D4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92608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サブ2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83080" y="29260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— Excel/Word/Teams業務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611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社内でルールを統一 → セキュリティ管理 + コスト管理を効率化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18872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ツール選定フローチャート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4114800" cy="438912"/>
          </a:xfrm>
          <a:prstGeom prst="rect">
            <a:avLst>
              <a:gd name="adj" fmla="val 125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9601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365環境？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960120"/>
            <a:ext cx="3429000" cy="438912"/>
          </a:xfrm>
          <a:prstGeom prst="rect">
            <a:avLst>
              <a:gd name="adj" fmla="val 12500"/>
            </a:avLst>
          </a:prstGeom>
          <a:solidFill>
            <a:srgbClr val="E5F1FB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960120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Copilot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960120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1527048"/>
            <a:ext cx="4114800" cy="438912"/>
          </a:xfrm>
          <a:prstGeom prst="rect">
            <a:avLst>
              <a:gd name="adj" fmla="val 125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152704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Workspace環境？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1527048"/>
            <a:ext cx="3429000" cy="438912"/>
          </a:xfrm>
          <a:prstGeom prst="rect">
            <a:avLst>
              <a:gd name="adj" fmla="val 12500"/>
            </a:avLst>
          </a:prstGeom>
          <a:solidFill>
            <a:srgbClr val="E8F0FE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1527048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Gemini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1527048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2093976"/>
            <a:ext cx="4114800" cy="438912"/>
          </a:xfrm>
          <a:prstGeom prst="rect">
            <a:avLst>
              <a:gd name="adj" fmla="val 125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209397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長文分析・正確さ最優先？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2093976"/>
            <a:ext cx="3429000" cy="438912"/>
          </a:xfrm>
          <a:prstGeom prst="rect">
            <a:avLst>
              <a:gd name="adj" fmla="val 12500"/>
            </a:avLst>
          </a:prstGeom>
          <a:solidFill>
            <a:srgbClr val="FDF2E9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2093976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4A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Claude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2093976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5800" y="2660904"/>
            <a:ext cx="4114800" cy="438912"/>
          </a:xfrm>
          <a:prstGeom prst="rect">
            <a:avLst>
              <a:gd name="adj" fmla="val 125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266090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データ社外NG？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0" y="2660904"/>
            <a:ext cx="3429000" cy="438912"/>
          </a:xfrm>
          <a:prstGeom prst="rect">
            <a:avLst>
              <a:gd name="adj" fmla="val 12500"/>
            </a:avLst>
          </a:prstGeom>
          <a:solidFill>
            <a:srgbClr val="E3F0FD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2660904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66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Llama 4 / DeepSeek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0600" y="2660904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5800" y="3227832"/>
            <a:ext cx="4114800" cy="438912"/>
          </a:xfrm>
          <a:prstGeom prst="rect">
            <a:avLst>
              <a:gd name="adj" fmla="val 125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322783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汎用的に使いたい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0" y="3227832"/>
            <a:ext cx="3429000" cy="438912"/>
          </a:xfrm>
          <a:prstGeom prst="rect">
            <a:avLst>
              <a:gd name="adj" fmla="val 12500"/>
            </a:avLst>
          </a:prstGeom>
          <a:solidFill>
            <a:srgbClr val="E6F7F1"/>
          </a:solidFill>
          <a:ln/>
        </p:spPr>
      </p:sp>
      <p:sp>
        <p:nvSpPr>
          <p:cNvPr id="32" name="Text 30"/>
          <p:cNvSpPr/>
          <p:nvPr/>
        </p:nvSpPr>
        <p:spPr>
          <a:xfrm>
            <a:off x="5120640" y="3227832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ChatGPT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3227832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005840"/>
            <a:ext cx="7772400" cy="548640"/>
          </a:xfrm>
          <a:prstGeom prst="rect">
            <a:avLst>
              <a:gd name="adj" fmla="val 10000"/>
            </a:avLst>
          </a:prstGeom>
          <a:solidFill>
            <a:srgbClr val="FAFB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78992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005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6つの主要ツールにはそれぞれ明確な得意分野がある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1691640"/>
            <a:ext cx="7772400" cy="54864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764792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16916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業務環境とタスクに合わせてツールを選ぶのが成功の鍵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2377440"/>
            <a:ext cx="7772400" cy="548640"/>
          </a:xfrm>
          <a:prstGeom prst="rect">
            <a:avLst>
              <a:gd name="adj" fmla="val 10000"/>
            </a:avLst>
          </a:prstGeom>
          <a:solidFill>
            <a:srgbClr val="FAFB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450592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2377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無料版で試してから有料版を検討しよう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3063240"/>
            <a:ext cx="7772400" cy="54864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136392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0632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セキュリティ・社内ルール・ファクトチェックは必須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ご視聴ありがとうございました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0" y="192024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2377440"/>
            <a:ext cx="4572000" cy="502920"/>
          </a:xfrm>
          <a:prstGeom prst="rect">
            <a:avLst>
              <a:gd name="adj" fmla="val 14545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23774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確認テスト（5問） — 80%以上で修了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A-103   |   主要AIツール徹底比較   |   16 / 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A-103: 主要AIツール徹底比較（2026年3月版）</dc:title>
  <dc:subject>PptxGenJS Presentation</dc:subject>
  <dc:creator>Gorilla Knowledge</dc:creator>
  <cp:lastModifiedBy>Gorilla Knowledge</cp:lastModifiedBy>
  <cp:revision>1</cp:revision>
  <dcterms:created xsi:type="dcterms:W3CDTF">2026-03-29T18:03:03Z</dcterms:created>
  <dcterms:modified xsi:type="dcterms:W3CDTF">2026-03-29T18:03:03Z</dcterms:modified>
</cp:coreProperties>
</file>