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プロンプトエンジニアリング基礎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AIから良い回答を引き出す技術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  |   全社員向け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プロンプトとは何か、なぜ重要かを説明できる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良いプロンプトの5つの要素（役割・文脈・指示・形式・制約）を使いこなせる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実務で使えるプロンプトテクニック（Few-shot、CoT等）を実践できる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プロンプトとは何か？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AIに出す「指示文」— 指示の出し方でAIの答えが劇的に変わる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3474720" cy="18288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曖昧な注文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01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「何かおいしいもの」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何が出てくるかわからない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8803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00600" y="2148840"/>
            <a:ext cx="3474720" cy="18288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86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具体的な注文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0749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「魚料理で、辛くなくて、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ご飯に合うもの」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749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期待通りの料理が出てくる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プロンプトエンジニアリング = AIから最大限の価値を引き出す「指示の技術」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良いプロンプトの5つの要素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" y="1051560"/>
            <a:ext cx="1417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8288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438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7260" y="310896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" y="32461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AIに演じてほしい立場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30886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08860" y="1051560"/>
            <a:ext cx="1417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2834640" y="128016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8288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30886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230886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491740" y="310896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400300" y="32461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背景情報・状況説明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86334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63340" y="1051560"/>
            <a:ext cx="1417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1"/>
          <p:cNvSpPr/>
          <p:nvPr/>
        </p:nvSpPr>
        <p:spPr>
          <a:xfrm>
            <a:off x="4389120" y="128016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82880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633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386334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046220" y="310896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954780" y="32461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やってほしいこと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41782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17820" y="1051560"/>
            <a:ext cx="1417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28"/>
          <p:cNvSpPr/>
          <p:nvPr/>
        </p:nvSpPr>
        <p:spPr>
          <a:xfrm>
            <a:off x="594360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828800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1782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541782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600700" y="310896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509260" y="32461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出力の形・構造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697230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972300" y="1051560"/>
            <a:ext cx="1417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5"/>
          <p:cNvSpPr/>
          <p:nvPr/>
        </p:nvSpPr>
        <p:spPr>
          <a:xfrm>
            <a:off x="7498080" y="12801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1828800"/>
            <a:ext cx="320040" cy="32004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97230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</a:t>
            </a:r>
            <a:endParaRPr lang="en-US" sz="1800" dirty="0"/>
          </a:p>
        </p:txBody>
      </p:sp>
      <p:sp>
        <p:nvSpPr>
          <p:cNvPr id="44" name="Text 37"/>
          <p:cNvSpPr/>
          <p:nvPr/>
        </p:nvSpPr>
        <p:spPr>
          <a:xfrm>
            <a:off x="697230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7155180" y="310896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063740" y="32461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守ってほしい条件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実践比較: 悪いプロンプト vs 良いプロンプト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36576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05840"/>
            <a:ext cx="3657600" cy="45720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789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悪いプロンプト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「メールを書いて」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誰に？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何のメール？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どんなトーン？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何文字？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的外れな汎用メールが出力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00600" y="1005840"/>
            <a:ext cx="36576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1005840"/>
            <a:ext cx="3657600" cy="45720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7899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983480" y="1645920"/>
            <a:ext cx="59436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22" name="Text 18"/>
          <p:cNvSpPr/>
          <p:nvPr/>
        </p:nvSpPr>
        <p:spPr>
          <a:xfrm>
            <a:off x="4983480" y="16459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71500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営業部のリーダーとして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983480" y="2121408"/>
            <a:ext cx="59436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25" name="Text 21"/>
          <p:cNvSpPr/>
          <p:nvPr/>
        </p:nvSpPr>
        <p:spPr>
          <a:xfrm>
            <a:off x="4983480" y="212140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71500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顧客訪問のアポ取り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983480" y="2596896"/>
            <a:ext cx="59436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28" name="Text 24"/>
          <p:cNvSpPr/>
          <p:nvPr/>
        </p:nvSpPr>
        <p:spPr>
          <a:xfrm>
            <a:off x="4983480" y="259689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715000" y="2596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メールを書いて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983480" y="3072384"/>
            <a:ext cx="59436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31" name="Text 27"/>
          <p:cNvSpPr/>
          <p:nvPr/>
        </p:nvSpPr>
        <p:spPr>
          <a:xfrm>
            <a:off x="4983480" y="307238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715000" y="30723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200文字程度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983480" y="3547872"/>
            <a:ext cx="59436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34" name="Text 30"/>
          <p:cNvSpPr/>
          <p:nvPr/>
        </p:nvSpPr>
        <p:spPr>
          <a:xfrm>
            <a:off x="4983480" y="354787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715000" y="3547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丁寧・日時候補3つ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5074920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そのまま使える高品質メール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801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— 例を示す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期待する入出力の「お手本」を2〜3個先に見せるテクニック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商品レビューの感情分析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77724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この商品は最高です！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121408"/>
            <a:ext cx="274320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43600" y="2084832"/>
            <a:ext cx="1463040" cy="347472"/>
          </a:xfrm>
          <a:prstGeom prst="rect">
            <a:avLst>
              <a:gd name="adj" fmla="val 13158"/>
            </a:avLst>
          </a:prstGeom>
          <a:solidFill>
            <a:srgbClr val="D1FAE5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2084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ポジティブ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2651760"/>
            <a:ext cx="77724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2651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08760" y="2651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届くのが遅かった。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61488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43600" y="2724912"/>
            <a:ext cx="1463040" cy="347472"/>
          </a:xfrm>
          <a:prstGeom prst="rect">
            <a:avLst>
              <a:gd name="adj" fmla="val 13158"/>
            </a:avLst>
          </a:prstGeom>
          <a:solidFill>
            <a:srgbClr val="FEE2E2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0" y="27249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ネガティブ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5800" y="3383280"/>
            <a:ext cx="77724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3383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入力: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508760" y="3383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値段の割に普通でした。   →  分類してください！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4223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2588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例は2〜3個で十分。代表的なパターンを見せるのがコツ。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80160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— 段階的に考えさせる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AIに思考過程をステップバイステップで説明させるテクニック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1600200"/>
            <a:ext cx="201168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A社のコストを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965960"/>
            <a:ext cx="182880" cy="182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566160" y="1600200"/>
            <a:ext cx="201168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B社のコストを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965960"/>
            <a:ext cx="182880" cy="182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80760" y="1600200"/>
            <a:ext cx="201168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807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08076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両者を比較し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85800" y="2926080"/>
            <a:ext cx="3657600" cy="77724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一気に聞く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887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「A社とB社を比較して」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800600" y="2926080"/>
            <a:ext cx="3657600" cy="77724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段階を踏む（CoT）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035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「まずA社→次にB社→比較」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0507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2588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計算・比較分析・論理的判断が必要な場面で特に効果的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80160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ロール指定 &amp; 出力形式指定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「誰として」回答するか + 「どんな形で」出力するかを組み合わせる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36576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73352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「データアナリスト」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0992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分析的な視点で回答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2240280"/>
            <a:ext cx="36576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134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「小学校の先生」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35000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9204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わかりやすい言葉で説明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85800" y="2880360"/>
            <a:ext cx="36576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5351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「マーケター」</a:t>
            </a:r>
            <a:endParaRPr lang="en-US" sz="1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990088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9204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顧客目線の提案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858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出力形式の指定例: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85800" y="3977640"/>
            <a:ext cx="17373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7" name="Text 19"/>
          <p:cNvSpPr/>
          <p:nvPr/>
        </p:nvSpPr>
        <p:spPr>
          <a:xfrm>
            <a:off x="68580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表形式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606040" y="3977640"/>
            <a:ext cx="17373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9" name="Text 21"/>
          <p:cNvSpPr/>
          <p:nvPr/>
        </p:nvSpPr>
        <p:spPr>
          <a:xfrm>
            <a:off x="260604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箇条書き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4526280" y="3977640"/>
            <a:ext cx="17373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31" name="Text 23"/>
          <p:cNvSpPr/>
          <p:nvPr/>
        </p:nvSpPr>
        <p:spPr>
          <a:xfrm>
            <a:off x="452628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JSON形式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446520" y="3977640"/>
            <a:ext cx="173736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33" name="Text 25"/>
          <p:cNvSpPr/>
          <p:nvPr/>
        </p:nvSpPr>
        <p:spPr>
          <a:xfrm>
            <a:off x="644652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○文字以内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実践例 — 3つの業務シーン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77724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0058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7772400" cy="10058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417320"/>
            <a:ext cx="36576" cy="10058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417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28600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あなたは営業担当です。田中部長へのお礼メールを書いてください。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内容: 打ち合わせのお礼 + 次回日程の提案。丁寧なビジネス文体、200文字程度。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2423160"/>
            <a:ext cx="77724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2423160"/>
            <a:ext cx="36576" cy="100584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24231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286000" y="2514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以下の議事録を、決定事項・未決事項・次のアクションの3つに分けて、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箇条書きで要約してください。各項目は1行30文字以内。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85800" y="3429000"/>
            <a:ext cx="7772400" cy="10058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3429000"/>
            <a:ext cx="36576" cy="10058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4440" y="3429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2286000" y="35204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あなたはデータアナリストです。以下の売上データから前月比の変動が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大きい上位3カテゴリを特定し、考えられる原因を表形式で提示してください。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85800" y="4389120"/>
            <a:ext cx="77724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21"/>
          <p:cNvSpPr/>
          <p:nvPr/>
        </p:nvSpPr>
        <p:spPr>
          <a:xfrm>
            <a:off x="960120" y="43891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いずれも5つの要素（役割・文脈・指示・形式・制約）の複数が含まれている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よくある失敗パターンと改善法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05840"/>
            <a:ext cx="4572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0515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曖昧すぎる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「いい感じにまとめて」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08760"/>
            <a:ext cx="201168" cy="20116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087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「箇条書き5つで、各30文字以内に」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" y="2103120"/>
            <a:ext cx="4572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214884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長すぎる（複数タスク混在）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0604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1プロンプトにあれもこれも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606040"/>
            <a:ext cx="201168" cy="201168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60604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292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1プロンプト = 1タスクに分割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85800" y="320040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85800" y="3200400"/>
            <a:ext cx="4572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19"/>
          <p:cNvSpPr/>
          <p:nvPr/>
        </p:nvSpPr>
        <p:spPr>
          <a:xfrm>
            <a:off x="868680" y="32461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前提なし</a:t>
            </a:r>
            <a:endParaRPr lang="en-US" sz="18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70332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344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「企画書を書いて」（背景ゼロ）</a:t>
            </a:r>
            <a:endParaRPr lang="en-US" sz="13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703320"/>
            <a:ext cx="201168" cy="201168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703320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0292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対象者・目的・状況を必ず添える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24"/>
          <p:cNvSpPr/>
          <p:nvPr/>
        </p:nvSpPr>
        <p:spPr>
          <a:xfrm>
            <a:off x="960120" y="42976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この3つを意識するだけで、AIの回答品質は大幅に向上します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AIへの「指示文」。質が回答を決める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5つの要素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役割・文脈・指示・形式・制約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/ Chain-of-Thought / ロール指定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失敗回避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具体的に・1タスクずつ・前提を伝える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AI-104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AI-103: プロンプトエンジニアリング基礎 — AIから良い回答を引き出す技術</dc:title>
  <dc:subject>PptxGenJS Presentation</dc:subject>
  <dc:creator>Gorilla Knowledge</dc:creator>
  <cp:lastModifiedBy>Gorilla Knowledge</cp:lastModifiedBy>
  <cp:revision>1</cp:revision>
  <dcterms:created xsi:type="dcterms:W3CDTF">2026-03-19T15:03:13Z</dcterms:created>
  <dcterms:modified xsi:type="dcterms:W3CDTF">2026-03-19T15:03:13Z</dcterms:modified>
</cp:coreProperties>
</file>