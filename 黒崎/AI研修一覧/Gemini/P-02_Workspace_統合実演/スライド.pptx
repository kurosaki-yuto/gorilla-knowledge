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37160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Google Workspace 統合実演</a:t>
            </a:r>
            <a:endParaRPr lang="en-US" sz="4000" dirty="0"/>
          </a:p>
        </p:txBody>
      </p:sp>
      <p:sp>
        <p:nvSpPr>
          <p:cNvPr id="3" name="Shape 1"/>
          <p:cNvSpPr/>
          <p:nvPr/>
        </p:nvSpPr>
        <p:spPr>
          <a:xfrm>
            <a:off x="3200400" y="2240280"/>
            <a:ext cx="2743200" cy="0"/>
          </a:xfrm>
          <a:prstGeom prst="line">
            <a:avLst/>
          </a:prstGeom>
          <a:noFill/>
          <a:ln w="19050">
            <a:solidFill>
              <a:srgbClr val="93C5FD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242316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2000" dirty="0">
                <a:solidFill>
                  <a:srgbClr val="93C5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実際に動く Gemini を見てみる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457200" y="347472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2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P-02  |  全社員向け  |  12分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2004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3" name="Text 1"/>
          <p:cNvSpPr/>
          <p:nvPr/>
        </p:nvSpPr>
        <p:spPr>
          <a:xfrm>
            <a:off x="685800" y="137160"/>
            <a:ext cx="7772400" cy="4114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今日のゴール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685800" y="4777740"/>
            <a:ext cx="7772400" cy="0"/>
          </a:xfrm>
          <a:prstGeom prst="line">
            <a:avLst/>
          </a:prstGeom>
          <a:noFill/>
          <a:ln w="6350">
            <a:solidFill>
              <a:srgbClr val="E5E7E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772400" y="4796028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10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/ 12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85800" y="4796028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0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P-02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685800" y="960120"/>
            <a:ext cx="457200" cy="457200"/>
          </a:xfrm>
          <a:prstGeom prst="ellipse">
            <a:avLst/>
          </a:prstGeom>
          <a:solidFill>
            <a:srgbClr val="2563EB"/>
          </a:solidFill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1325880" y="914400"/>
            <a:ext cx="6858000" cy="5486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6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Gmail での自動メール生成機能を実際に見て理解する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685800" y="1645920"/>
            <a:ext cx="7772400" cy="0"/>
          </a:xfrm>
          <a:prstGeom prst="line">
            <a:avLst/>
          </a:prstGeom>
          <a:noFill/>
          <a:ln w="6350">
            <a:solidFill>
              <a:srgbClr val="E5E7E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85800" y="2011680"/>
            <a:ext cx="457200" cy="457200"/>
          </a:xfrm>
          <a:prstGeom prst="ellipse">
            <a:avLst/>
          </a:prstGeom>
          <a:solidFill>
            <a:srgbClr val="2563EB"/>
          </a:solidFill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1325880" y="1965960"/>
            <a:ext cx="6858000" cy="5486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6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Google ドライブからの情報活用・カスタマイズの流れを把握する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685800" y="2697480"/>
            <a:ext cx="7772400" cy="0"/>
          </a:xfrm>
          <a:prstGeom prst="line">
            <a:avLst/>
          </a:prstGeom>
          <a:noFill/>
          <a:ln w="6350">
            <a:solidFill>
              <a:srgbClr val="E5E7E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85800" y="3063240"/>
            <a:ext cx="457200" cy="457200"/>
          </a:xfrm>
          <a:prstGeom prst="ellipse">
            <a:avLst/>
          </a:prstGeom>
          <a:solidFill>
            <a:srgbClr val="2563EB"/>
          </a:solidFill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1325880" y="3017520"/>
            <a:ext cx="6858000" cy="5486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6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実演を通じて Gemini との『対話』の実際を習得する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2004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3" name="Shape 1"/>
          <p:cNvSpPr/>
          <p:nvPr/>
        </p:nvSpPr>
        <p:spPr>
          <a:xfrm>
            <a:off x="685800" y="137160"/>
            <a:ext cx="1682496" cy="256032"/>
          </a:xfrm>
          <a:prstGeom prst="rect">
            <a:avLst>
              <a:gd name="adj" fmla="val 17857"/>
            </a:avLst>
          </a:prstGeom>
          <a:solidFill>
            <a:srgbClr val="DBEAFE"/>
          </a:solidFill>
          <a:ln/>
        </p:spPr>
      </p:sp>
      <p:sp>
        <p:nvSpPr>
          <p:cNvPr id="4" name="Text 2"/>
          <p:cNvSpPr/>
          <p:nvPr/>
        </p:nvSpPr>
        <p:spPr>
          <a:xfrm>
            <a:off x="685800" y="137160"/>
            <a:ext cx="1682496" cy="25603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GMAIL BASICS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85800" y="457200"/>
            <a:ext cx="7772400" cy="4114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Gmail × Gemini の3つの活用法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685800" y="4777740"/>
            <a:ext cx="7772400" cy="0"/>
          </a:xfrm>
          <a:prstGeom prst="line">
            <a:avLst/>
          </a:prstGeom>
          <a:noFill/>
          <a:ln w="6350">
            <a:solidFill>
              <a:srgbClr val="E5E7E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772400" y="4796028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10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/ 12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685800" y="4796028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0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P-02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685800" y="914400"/>
            <a:ext cx="7772400" cy="822960"/>
          </a:xfrm>
          <a:prstGeom prst="rect">
            <a:avLst>
              <a:gd name="adj" fmla="val 5556"/>
            </a:avLst>
          </a:prstGeom>
          <a:solidFill>
            <a:srgbClr val="FAFBFC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60120" y="960120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① 返信ドラフト自動生成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960120" y="1280160"/>
            <a:ext cx="6858000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受信メールに対して、Gemini が返信案を自動作成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685800" y="1920240"/>
            <a:ext cx="7772400" cy="822960"/>
          </a:xfrm>
          <a:prstGeom prst="rect">
            <a:avLst>
              <a:gd name="adj" fmla="val 5556"/>
            </a:avLst>
          </a:prstGeom>
          <a:solidFill>
            <a:srgbClr val="FAFBFC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960120" y="1965960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② メール分類・優先度付け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960120" y="2286000"/>
            <a:ext cx="6858000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受信トレイを自動分類。重要メールが一目で分かる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685800" y="2926080"/>
            <a:ext cx="7772400" cy="822960"/>
          </a:xfrm>
          <a:prstGeom prst="rect">
            <a:avLst>
              <a:gd name="adj" fmla="val 5556"/>
            </a:avLst>
          </a:prstGeom>
          <a:solidFill>
            <a:srgbClr val="FAFBFC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60120" y="2971800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③ 要約・重要ポイント抽出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960120" y="3291840"/>
            <a:ext cx="6858000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長いメールスレッドを AI が自動要約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2004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3" name="Shape 1"/>
          <p:cNvSpPr/>
          <p:nvPr/>
        </p:nvSpPr>
        <p:spPr>
          <a:xfrm>
            <a:off x="685800" y="137160"/>
            <a:ext cx="1353312" cy="256032"/>
          </a:xfrm>
          <a:prstGeom prst="rect">
            <a:avLst>
              <a:gd name="adj" fmla="val 17857"/>
            </a:avLst>
          </a:prstGeom>
          <a:solidFill>
            <a:srgbClr val="DBEAFE"/>
          </a:solidFill>
          <a:ln/>
        </p:spPr>
      </p:sp>
      <p:sp>
        <p:nvSpPr>
          <p:cNvPr id="4" name="Text 2"/>
          <p:cNvSpPr/>
          <p:nvPr/>
        </p:nvSpPr>
        <p:spPr>
          <a:xfrm>
            <a:off x="685800" y="137160"/>
            <a:ext cx="1353312" cy="25603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 PREP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85800" y="457200"/>
            <a:ext cx="7772400" cy="4114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実演のシナリオ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685800" y="4777740"/>
            <a:ext cx="7772400" cy="0"/>
          </a:xfrm>
          <a:prstGeom prst="line">
            <a:avLst/>
          </a:prstGeom>
          <a:noFill/>
          <a:ln w="6350">
            <a:solidFill>
              <a:srgbClr val="E5E7E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772400" y="4796028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10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/ 12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685800" y="4796028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0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P-02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685800" y="822960"/>
            <a:ext cx="7772400" cy="731520"/>
          </a:xfrm>
          <a:prstGeom prst="rect">
            <a:avLst>
              <a:gd name="adj" fmla="val 6250"/>
            </a:avLst>
          </a:prstGeom>
          <a:solidFill>
            <a:srgbClr val="DBEAFE"/>
          </a:solidFill>
          <a:ln/>
        </p:spPr>
      </p:sp>
      <p:sp>
        <p:nvSpPr>
          <p:cNvPr id="10" name="Text 8"/>
          <p:cNvSpPr/>
          <p:nvPr/>
        </p:nvSpPr>
        <p:spPr>
          <a:xfrm>
            <a:off x="960120" y="868680"/>
            <a:ext cx="768096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6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これから、営業メールへの返信を Gemini で作成する様子をお見せします。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868680" y="1828800"/>
            <a:ext cx="2286000" cy="1645920"/>
          </a:xfrm>
          <a:prstGeom prst="rect">
            <a:avLst>
              <a:gd name="adj" fmla="val 2778"/>
            </a:avLst>
          </a:prstGeom>
          <a:solidFill>
            <a:srgbClr val="DBEAFE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68680" y="2057400"/>
            <a:ext cx="2286000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受信メール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1005840" y="2423160"/>
            <a:ext cx="2011680" cy="8686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顧客からの</a:t>
            </a:r>
            <a:endParaRPr lang="en-US" sz="14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提案依頼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3429000" y="1828800"/>
            <a:ext cx="2286000" cy="1645920"/>
          </a:xfrm>
          <a:prstGeom prst="rect">
            <a:avLst>
              <a:gd name="adj" fmla="val 2778"/>
            </a:avLst>
          </a:prstGeom>
          <a:solidFill>
            <a:srgbClr val="D1FAE5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429000" y="2057400"/>
            <a:ext cx="2286000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Gemini処理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3566160" y="2423160"/>
            <a:ext cx="2011680" cy="8686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背景情報から</a:t>
            </a:r>
            <a:endParaRPr lang="en-US" sz="14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回答を生成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5989320" y="1828800"/>
            <a:ext cx="2286000" cy="1645920"/>
          </a:xfrm>
          <a:prstGeom prst="rect">
            <a:avLst>
              <a:gd name="adj" fmla="val 2778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989320" y="2057400"/>
            <a:ext cx="2286000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カスタマイズ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6126480" y="2423160"/>
            <a:ext cx="2011680" cy="8686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生成案を</a:t>
            </a:r>
            <a:endParaRPr lang="en-US" sz="14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微調整して送信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2004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3" name="Shape 1"/>
          <p:cNvSpPr/>
          <p:nvPr/>
        </p:nvSpPr>
        <p:spPr>
          <a:xfrm>
            <a:off x="685800" y="137160"/>
            <a:ext cx="1353312" cy="256032"/>
          </a:xfrm>
          <a:prstGeom prst="rect">
            <a:avLst>
              <a:gd name="adj" fmla="val 17857"/>
            </a:avLst>
          </a:prstGeom>
          <a:solidFill>
            <a:srgbClr val="DBEAFE"/>
          </a:solidFill>
          <a:ln/>
        </p:spPr>
      </p:sp>
      <p:sp>
        <p:nvSpPr>
          <p:cNvPr id="4" name="Text 2"/>
          <p:cNvSpPr/>
          <p:nvPr/>
        </p:nvSpPr>
        <p:spPr>
          <a:xfrm>
            <a:off x="685800" y="137160"/>
            <a:ext cx="1353312" cy="25603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 LIVE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85800" y="457200"/>
            <a:ext cx="7772400" cy="4114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実演: Gmail メール作成 + Drive 活用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685800" y="4777740"/>
            <a:ext cx="7772400" cy="0"/>
          </a:xfrm>
          <a:prstGeom prst="line">
            <a:avLst/>
          </a:prstGeom>
          <a:noFill/>
          <a:ln w="6350">
            <a:solidFill>
              <a:srgbClr val="E5E7E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772400" y="4796028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10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/ 12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685800" y="4796028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0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P-02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685800" y="868680"/>
            <a:ext cx="7772400" cy="1645920"/>
          </a:xfrm>
          <a:prstGeom prst="rect">
            <a:avLst>
              <a:gd name="adj" fmla="val 2778"/>
            </a:avLst>
          </a:prstGeom>
          <a:solidFill>
            <a:srgbClr val="F3F4F6"/>
          </a:solidFill>
          <a:ln/>
        </p:spPr>
      </p:sp>
      <p:sp>
        <p:nvSpPr>
          <p:cNvPr id="10" name="Text 8"/>
          <p:cNvSpPr/>
          <p:nvPr/>
        </p:nvSpPr>
        <p:spPr>
          <a:xfrm>
            <a:off x="960120" y="914400"/>
            <a:ext cx="7680960" cy="15544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【実演動画: 57.6秒】</a:t>
            </a:r>
            <a:endParaRPr lang="en-US" sz="1400" dirty="0"/>
          </a:p>
          <a:p>
            <a:pPr indent="0" marL="0">
              <a:lnSpc>
                <a:spcPct val="130000"/>
              </a:lnSpc>
              <a:buNone/>
            </a:pPr>
            <a:endParaRPr lang="en-US" sz="14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Gmail で顧客メールを受け取る</a:t>
            </a:r>
            <a:endParaRPr lang="en-US" sz="14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「Gemini で返信案を作成」をクリック</a:t>
            </a:r>
            <a:endParaRPr lang="en-US" sz="14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Drive から既存提案書を参照させ、カスタマイズ</a:t>
            </a:r>
            <a:endParaRPr lang="en-US" sz="14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数秒で完成した返信メールを確認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2004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3" name="Shape 1"/>
          <p:cNvSpPr/>
          <p:nvPr/>
        </p:nvSpPr>
        <p:spPr>
          <a:xfrm>
            <a:off x="685800" y="137160"/>
            <a:ext cx="2121408" cy="256032"/>
          </a:xfrm>
          <a:prstGeom prst="rect">
            <a:avLst>
              <a:gd name="adj" fmla="val 17857"/>
            </a:avLst>
          </a:prstGeom>
          <a:solidFill>
            <a:srgbClr val="DBEAFE"/>
          </a:solidFill>
          <a:ln/>
        </p:spPr>
      </p:sp>
      <p:sp>
        <p:nvSpPr>
          <p:cNvPr id="4" name="Text 2"/>
          <p:cNvSpPr/>
          <p:nvPr/>
        </p:nvSpPr>
        <p:spPr>
          <a:xfrm>
            <a:off x="685800" y="137160"/>
            <a:ext cx="2121408" cy="25603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DRAFT GENERATION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85800" y="457200"/>
            <a:ext cx="7772400" cy="4114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Gmail: 返信ドラフト自動生成の仕組み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685800" y="4777740"/>
            <a:ext cx="7772400" cy="0"/>
          </a:xfrm>
          <a:prstGeom prst="line">
            <a:avLst/>
          </a:prstGeom>
          <a:noFill/>
          <a:ln w="6350">
            <a:solidFill>
              <a:srgbClr val="E5E7E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772400" y="4796028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10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/ 12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685800" y="4796028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0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P-02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685800" y="914400"/>
            <a:ext cx="457200" cy="457200"/>
          </a:xfrm>
          <a:prstGeom prst="ellipse">
            <a:avLst/>
          </a:prstGeom>
          <a:solidFill>
            <a:srgbClr val="2563EB"/>
          </a:solidFill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1371600" y="932688"/>
            <a:ext cx="2286000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受信メール読み込み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1371600" y="1261872"/>
            <a:ext cx="2286000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顧客からのメール内容を AI が理解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685800" y="1783080"/>
            <a:ext cx="457200" cy="457200"/>
          </a:xfrm>
          <a:prstGeom prst="ellipse">
            <a:avLst/>
          </a:prstGeom>
          <a:solidFill>
            <a:srgbClr val="2563EB"/>
          </a:solidFill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1371600" y="1801368"/>
            <a:ext cx="2286000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背景情報の検索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371600" y="2130552"/>
            <a:ext cx="2286000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関連する過去メール・資料から文脈取得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685800" y="2651760"/>
            <a:ext cx="457200" cy="457200"/>
          </a:xfrm>
          <a:prstGeom prst="ellipse">
            <a:avLst/>
          </a:prstGeom>
          <a:solidFill>
            <a:srgbClr val="2563EB"/>
          </a:solidFill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000" dirty="0"/>
          </a:p>
        </p:txBody>
      </p:sp>
      <p:sp>
        <p:nvSpPr>
          <p:cNvPr id="16" name="Text 14"/>
          <p:cNvSpPr/>
          <p:nvPr/>
        </p:nvSpPr>
        <p:spPr>
          <a:xfrm>
            <a:off x="1371600" y="2670048"/>
            <a:ext cx="2286000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返信案の生成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1371600" y="2999232"/>
            <a:ext cx="2286000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トーン・内容・署名まで完全な返信を生成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685800" y="3520440"/>
            <a:ext cx="457200" cy="457200"/>
          </a:xfrm>
          <a:prstGeom prst="ellipse">
            <a:avLst/>
          </a:prstGeom>
          <a:solidFill>
            <a:srgbClr val="2563EB"/>
          </a:solidFill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2000" dirty="0"/>
          </a:p>
        </p:txBody>
      </p:sp>
      <p:sp>
        <p:nvSpPr>
          <p:cNvPr id="19" name="Text 17"/>
          <p:cNvSpPr/>
          <p:nvPr/>
        </p:nvSpPr>
        <p:spPr>
          <a:xfrm>
            <a:off x="1371600" y="3538728"/>
            <a:ext cx="2286000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ユーザーレビュー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1371600" y="3867912"/>
            <a:ext cx="2286000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生成案を確認・修正してから送信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2004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3" name="Shape 1"/>
          <p:cNvSpPr/>
          <p:nvPr/>
        </p:nvSpPr>
        <p:spPr>
          <a:xfrm>
            <a:off x="685800" y="137160"/>
            <a:ext cx="2231136" cy="256032"/>
          </a:xfrm>
          <a:prstGeom prst="rect">
            <a:avLst>
              <a:gd name="adj" fmla="val 17857"/>
            </a:avLst>
          </a:prstGeom>
          <a:solidFill>
            <a:srgbClr val="DBEAFE"/>
          </a:solidFill>
          <a:ln/>
        </p:spPr>
      </p:sp>
      <p:sp>
        <p:nvSpPr>
          <p:cNvPr id="4" name="Text 2"/>
          <p:cNvSpPr/>
          <p:nvPr/>
        </p:nvSpPr>
        <p:spPr>
          <a:xfrm>
            <a:off x="685800" y="137160"/>
            <a:ext cx="2231136" cy="25603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DRIVE INTEGRATION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85800" y="457200"/>
            <a:ext cx="7772400" cy="4114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Google ドライブ統合: 情報の再利用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685800" y="4777740"/>
            <a:ext cx="7772400" cy="0"/>
          </a:xfrm>
          <a:prstGeom prst="line">
            <a:avLst/>
          </a:prstGeom>
          <a:noFill/>
          <a:ln w="6350">
            <a:solidFill>
              <a:srgbClr val="E5E7E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772400" y="4796028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10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/ 12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685800" y="4796028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0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P-02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868680" y="914400"/>
            <a:ext cx="2286000" cy="1828800"/>
          </a:xfrm>
          <a:prstGeom prst="rect">
            <a:avLst>
              <a:gd name="adj" fmla="val 2500"/>
            </a:avLst>
          </a:prstGeom>
          <a:solidFill>
            <a:srgbClr val="DBEAFE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68680" y="1143000"/>
            <a:ext cx="2286000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自動検索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1005840" y="1508760"/>
            <a:ext cx="2011680" cy="10515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「去年のプロジェクト資料」と言うだけで</a:t>
            </a:r>
            <a:endParaRPr lang="en-US" sz="14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関連ファイルを自動抽出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3429000" y="914400"/>
            <a:ext cx="2286000" cy="1828800"/>
          </a:xfrm>
          <a:prstGeom prst="rect">
            <a:avLst>
              <a:gd name="adj" fmla="val 2500"/>
            </a:avLst>
          </a:prstGeom>
          <a:solidFill>
            <a:srgbClr val="D1FAE5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1143000"/>
            <a:ext cx="2286000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要約・抽出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3566160" y="1508760"/>
            <a:ext cx="2011680" cy="10515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PDF・スプレッドシートから</a:t>
            </a:r>
            <a:endParaRPr lang="en-US" sz="14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必要なデータだけを抽出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5989320" y="914400"/>
            <a:ext cx="2286000" cy="1828800"/>
          </a:xfrm>
          <a:prstGeom prst="rect">
            <a:avLst>
              <a:gd name="adj" fmla="val 2500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89320" y="1143000"/>
            <a:ext cx="2286000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カスタマイズ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6126480" y="1508760"/>
            <a:ext cx="2011680" cy="10515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抽出した情報をベースに</a:t>
            </a:r>
            <a:endParaRPr lang="en-US" sz="14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新規メール・資料を作成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685800" y="3200400"/>
            <a:ext cx="7772400" cy="365760"/>
          </a:xfrm>
          <a:prstGeom prst="rect">
            <a:avLst>
              <a:gd name="adj" fmla="val 10000"/>
            </a:avLst>
          </a:prstGeom>
          <a:solidFill>
            <a:srgbClr val="DBEAFE"/>
          </a:solidFill>
          <a:ln/>
        </p:spPr>
      </p:sp>
      <p:sp>
        <p:nvSpPr>
          <p:cNvPr id="19" name="Text 17"/>
          <p:cNvSpPr/>
          <p:nvPr/>
        </p:nvSpPr>
        <p:spPr>
          <a:xfrm>
            <a:off x="822960" y="3200400"/>
            <a:ext cx="7498080" cy="3657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2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過去資料を『再利用』するだけで、メール作成時間が大幅短縮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2004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3" name="Shape 1"/>
          <p:cNvSpPr/>
          <p:nvPr/>
        </p:nvSpPr>
        <p:spPr>
          <a:xfrm>
            <a:off x="685800" y="137160"/>
            <a:ext cx="1133856" cy="256032"/>
          </a:xfrm>
          <a:prstGeom prst="rect">
            <a:avLst>
              <a:gd name="adj" fmla="val 17857"/>
            </a:avLst>
          </a:prstGeom>
          <a:solidFill>
            <a:srgbClr val="DBEAFE"/>
          </a:solidFill>
          <a:ln/>
        </p:spPr>
      </p:sp>
      <p:sp>
        <p:nvSpPr>
          <p:cNvPr id="4" name="Text 2"/>
          <p:cNvSpPr/>
          <p:nvPr/>
        </p:nvSpPr>
        <p:spPr>
          <a:xfrm>
            <a:off x="685800" y="137160"/>
            <a:ext cx="1133856" cy="25603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SYNERGY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85800" y="457200"/>
            <a:ext cx="7772400" cy="4114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Workspace統合の相乗効果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685800" y="4777740"/>
            <a:ext cx="7772400" cy="0"/>
          </a:xfrm>
          <a:prstGeom prst="line">
            <a:avLst/>
          </a:prstGeom>
          <a:noFill/>
          <a:ln w="6350">
            <a:solidFill>
              <a:srgbClr val="E5E7E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772400" y="4796028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10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/ 12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685800" y="4796028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0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P-02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685800" y="868680"/>
            <a:ext cx="7772400" cy="1097280"/>
          </a:xfrm>
          <a:prstGeom prst="rect">
            <a:avLst>
              <a:gd name="adj" fmla="val 4167"/>
            </a:avLst>
          </a:prstGeom>
          <a:solidFill>
            <a:srgbClr val="FAFBFC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60120" y="914400"/>
            <a:ext cx="7680960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Gmail (メール返信) × ドライブ (背景情報) → 完全な返答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960120" y="1280160"/>
            <a:ext cx="768096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単体の機能ではなく、複数の Workspace ツールが連動することで、初めて業務効率化が実現する。これが Gemini の最大の強み。</a:t>
            </a:r>
            <a:endParaRPr lang="en-US" sz="14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2004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3" name="Shape 1"/>
          <p:cNvSpPr/>
          <p:nvPr/>
        </p:nvSpPr>
        <p:spPr>
          <a:xfrm>
            <a:off x="685800" y="137160"/>
            <a:ext cx="1901952" cy="256032"/>
          </a:xfrm>
          <a:prstGeom prst="rect">
            <a:avLst>
              <a:gd name="adj" fmla="val 17857"/>
            </a:avLst>
          </a:prstGeom>
          <a:solidFill>
            <a:srgbClr val="DBEAFE"/>
          </a:solidFill>
          <a:ln/>
        </p:spPr>
      </p:sp>
      <p:sp>
        <p:nvSpPr>
          <p:cNvPr id="4" name="Text 2"/>
          <p:cNvSpPr/>
          <p:nvPr/>
        </p:nvSpPr>
        <p:spPr>
          <a:xfrm>
            <a:off x="685800" y="137160"/>
            <a:ext cx="1901952" cy="25603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BEST PRACTICES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85800" y="457200"/>
            <a:ext cx="7772400" cy="4114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使う時のポイント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685800" y="4777740"/>
            <a:ext cx="7772400" cy="0"/>
          </a:xfrm>
          <a:prstGeom prst="line">
            <a:avLst/>
          </a:prstGeom>
          <a:noFill/>
          <a:ln w="6350">
            <a:solidFill>
              <a:srgbClr val="E5E7E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772400" y="4796028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10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/ 12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685800" y="4796028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0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P-02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960120" y="82296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生成案は確認してから送信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2971800" y="822960"/>
            <a:ext cx="5669280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が作ったものを『確認』『微調整』するステップが重要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960120" y="169164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機密情報を入力する時は注意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2971800" y="1691640"/>
            <a:ext cx="5669280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顧客情報・社外秘の内容は事前に確認・同意を得てから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960120" y="256032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ドライブに『テンプレート』を用意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2971800" y="2560320"/>
            <a:ext cx="5669280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が参照する基本フォーマットがあると、生成精度が大幅アップ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960120" y="342900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定期的に手動修正の例を学習させる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2971800" y="3429000"/>
            <a:ext cx="5669280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Workspace 管理者が『標準的な表現』を定義していく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2004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3" name="Shape 1"/>
          <p:cNvSpPr/>
          <p:nvPr/>
        </p:nvSpPr>
        <p:spPr>
          <a:xfrm>
            <a:off x="685800" y="137160"/>
            <a:ext cx="1463040" cy="256032"/>
          </a:xfrm>
          <a:prstGeom prst="rect">
            <a:avLst>
              <a:gd name="adj" fmla="val 17857"/>
            </a:avLst>
          </a:prstGeom>
          <a:solidFill>
            <a:srgbClr val="DBEAFE"/>
          </a:solidFill>
          <a:ln/>
        </p:spPr>
      </p:sp>
      <p:sp>
        <p:nvSpPr>
          <p:cNvPr id="4" name="Text 2"/>
          <p:cNvSpPr/>
          <p:nvPr/>
        </p:nvSpPr>
        <p:spPr>
          <a:xfrm>
            <a:off x="685800" y="137160"/>
            <a:ext cx="1463040" cy="25603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 STEPS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85800" y="457200"/>
            <a:ext cx="7772400" cy="4114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今からできることは？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685800" y="4777740"/>
            <a:ext cx="7772400" cy="0"/>
          </a:xfrm>
          <a:prstGeom prst="line">
            <a:avLst/>
          </a:prstGeom>
          <a:noFill/>
          <a:ln w="6350">
            <a:solidFill>
              <a:srgbClr val="E5E7E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772400" y="4796028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10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/ 12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685800" y="4796028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0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P-02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868680" y="914400"/>
            <a:ext cx="2286000" cy="1828800"/>
          </a:xfrm>
          <a:prstGeom prst="rect">
            <a:avLst>
              <a:gd name="adj" fmla="val 2500"/>
            </a:avLst>
          </a:prstGeom>
          <a:solidFill>
            <a:srgbClr val="DBEAFE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68680" y="1143000"/>
            <a:ext cx="2286000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1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1005840" y="1508760"/>
            <a:ext cx="2011680" cy="10515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Gmail での返信機能から</a:t>
            </a:r>
            <a:endParaRPr lang="en-US" sz="14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試してみる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3429000" y="914400"/>
            <a:ext cx="2286000" cy="1828800"/>
          </a:xfrm>
          <a:prstGeom prst="rect">
            <a:avLst>
              <a:gd name="adj" fmla="val 2500"/>
            </a:avLst>
          </a:prstGeom>
          <a:solidFill>
            <a:srgbClr val="D1FAE5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1143000"/>
            <a:ext cx="2286000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2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3566160" y="1508760"/>
            <a:ext cx="2011680" cy="10515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よく使う資料を Drive に</a:t>
            </a:r>
            <a:endParaRPr lang="en-US" sz="14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まとめておく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5989320" y="914400"/>
            <a:ext cx="2286000" cy="1828800"/>
          </a:xfrm>
          <a:prstGeom prst="rect">
            <a:avLst>
              <a:gd name="adj" fmla="val 2500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89320" y="1143000"/>
            <a:ext cx="2286000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3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6126480" y="1508760"/>
            <a:ext cx="2011680" cy="10515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生成されたメール・資料を</a:t>
            </a:r>
            <a:endParaRPr lang="en-US" sz="14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レビューして改善する</a:t>
            </a:r>
            <a:endParaRPr lang="en-US" sz="14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B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まとめ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2286000" y="1371600"/>
            <a:ext cx="457200" cy="457200"/>
          </a:xfrm>
          <a:prstGeom prst="ellipse">
            <a:avLst/>
          </a:prstGeom>
          <a:solidFill>
            <a:srgbClr val="93C5FD"/>
          </a:solidFill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2926080" y="1371600"/>
            <a:ext cx="4572000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Gmail × Drive の統合により、メール作成が劇的に効率化される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2286000" y="2286000"/>
            <a:ext cx="457200" cy="457200"/>
          </a:xfrm>
          <a:prstGeom prst="ellipse">
            <a:avLst/>
          </a:prstGeom>
          <a:solidFill>
            <a:srgbClr val="93C5FD"/>
          </a:solidFill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2926080" y="2286000"/>
            <a:ext cx="4572000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が生成した案を『確認・微調整』する『人間の目』が重要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2286000" y="3200400"/>
            <a:ext cx="457200" cy="457200"/>
          </a:xfrm>
          <a:prstGeom prst="ellipse">
            <a:avLst/>
          </a:prstGeom>
          <a:solidFill>
            <a:srgbClr val="93C5FD"/>
          </a:solidFill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2926080" y="3200400"/>
            <a:ext cx="4572000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小さく始めて、成功事例を社内で共有することが導入成功の鍵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685800" y="4777740"/>
            <a:ext cx="7772400" cy="0"/>
          </a:xfrm>
          <a:prstGeom prst="line">
            <a:avLst/>
          </a:prstGeom>
          <a:noFill/>
          <a:ln w="6350">
            <a:solidFill>
              <a:srgbClr val="E5E7E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772400" y="4796028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10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/ 12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685800" y="4796028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0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P-02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B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6459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P-02 修了</a:t>
            </a:r>
            <a:endParaRPr lang="en-US" sz="4000" dirty="0"/>
          </a:p>
        </p:txBody>
      </p:sp>
      <p:sp>
        <p:nvSpPr>
          <p:cNvPr id="3" name="Shape 1"/>
          <p:cNvSpPr/>
          <p:nvPr/>
        </p:nvSpPr>
        <p:spPr>
          <a:xfrm>
            <a:off x="3200400" y="2423160"/>
            <a:ext cx="2743200" cy="0"/>
          </a:xfrm>
          <a:prstGeom prst="line">
            <a:avLst/>
          </a:prstGeom>
          <a:noFill/>
          <a:ln w="19050">
            <a:solidFill>
              <a:srgbClr val="93C5FD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256032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2000" dirty="0">
                <a:solidFill>
                  <a:srgbClr val="93C5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実演で見えた、Workspace 統合の力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457200" y="347472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2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 → P-03 営業企画効率化実演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P-02: Google Workspace 統合実演</dc:title>
  <dc:subject>PptxGenJS Presentation</dc:subject>
  <dc:creator>Gorilla Knowledge</dc:creator>
  <cp:lastModifiedBy>Gorilla Knowledge</cp:lastModifiedBy>
  <cp:revision>1</cp:revision>
  <dcterms:created xsi:type="dcterms:W3CDTF">2026-04-02T00:52:30Z</dcterms:created>
  <dcterms:modified xsi:type="dcterms:W3CDTF">2026-04-02T00:52:30Z</dcterms:modified>
</cp:coreProperties>
</file>