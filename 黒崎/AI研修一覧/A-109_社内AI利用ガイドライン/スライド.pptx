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822960"/>
            <a:ext cx="640080" cy="640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社内AIガイドラインの考え方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安全で効果的なAI活用のための第一歩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A-109   |   全社員向け入門   |   20分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18872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17320" y="114300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なぜ社内AI利用ガイドラインが必要かを3つの理由で説明できる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19202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4028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17320" y="21945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ガイドラインに含めるべき主要項目（利用範囲・禁止事項・データ取扱い・承認フロー）を理解する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5800" y="297180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9184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324612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他社のAI利用ガイドライン事例から自社への応用ポイントを整理できる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463040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AIが職場に浸透する今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A-109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188720"/>
            <a:ext cx="3657600" cy="1645920"/>
          </a:xfrm>
          <a:prstGeom prst="rect">
            <a:avLst>
              <a:gd name="adj" fmla="val 5556"/>
            </a:avLst>
          </a:prstGeom>
          <a:solidFill>
            <a:srgbClr val="D1FAE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3716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約70%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85800" y="20116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AIツールを業務利用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（2025年時点）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00600" y="1188720"/>
            <a:ext cx="3657600" cy="1645920"/>
          </a:xfrm>
          <a:prstGeom prst="rect">
            <a:avLst>
              <a:gd name="adj" fmla="val 5556"/>
            </a:avLst>
          </a:prstGeom>
          <a:solidFill>
            <a:srgbClr val="FEE2E2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3716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約40%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800600" y="20116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社内ルール未整備の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企業の割合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" y="3108960"/>
            <a:ext cx="7772400" cy="45720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10896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使う人は増えているが、ルールが追いついていない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85800" y="3749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用途: メール下書き / 資料作成 / コード生成 / データ分析 / 議事録要約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ガイドラインが必要な3つの理由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A-109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0100" y="1051560"/>
            <a:ext cx="23317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1051560"/>
            <a:ext cx="23317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Shape 7"/>
          <p:cNvSpPr/>
          <p:nvPr/>
        </p:nvSpPr>
        <p:spPr>
          <a:xfrm>
            <a:off x="1645920" y="1417320"/>
            <a:ext cx="640080" cy="64008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155448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00100" y="2286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情報漏えいリスクの防止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165860" y="2880360"/>
            <a:ext cx="1600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0100" y="30175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機密情報や個人情報の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外部流出を防ぐ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406140" y="1051560"/>
            <a:ext cx="23317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06140" y="1051560"/>
            <a:ext cx="23317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Shape 13"/>
          <p:cNvSpPr/>
          <p:nvPr/>
        </p:nvSpPr>
        <p:spPr>
          <a:xfrm>
            <a:off x="4251960" y="1417320"/>
            <a:ext cx="640080" cy="640080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554480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406140" y="2286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品質・正確性の担保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3771900" y="2880360"/>
            <a:ext cx="1600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3406140" y="30175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ハルシネーションによる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業務ミスを防ぐ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012180" y="1051560"/>
            <a:ext cx="23317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012180" y="1051560"/>
            <a:ext cx="23317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Shape 19"/>
          <p:cNvSpPr/>
          <p:nvPr/>
        </p:nvSpPr>
        <p:spPr>
          <a:xfrm>
            <a:off x="6858000" y="1417320"/>
            <a:ext cx="640080" cy="64008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554480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012180" y="2286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法的・倫理的リスクの回避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6377940" y="2880360"/>
            <a:ext cx="1600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012180" y="30175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著作権侵害や差別的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出力を防ぐ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13385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01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主要項目① 利用範囲の定義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A-109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188720"/>
            <a:ext cx="7772400" cy="411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分類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1600200"/>
            <a:ext cx="7772400" cy="54864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" y="1600200"/>
            <a:ext cx="54864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16002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利用推奨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971800" y="1600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アイデア出し、文章校正、議事録要約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85800" y="2148840"/>
            <a:ext cx="77724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85800" y="2148840"/>
            <a:ext cx="54864" cy="548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条件付き許可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71800" y="21488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顧客向け資料の下書き（要上長確認）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85800" y="2697480"/>
            <a:ext cx="7772400" cy="54864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2697480"/>
            <a:ext cx="54864" cy="5486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269748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利用禁止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971800" y="26974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機密情報の入力、無確認での最終利用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85800" y="3291840"/>
            <a:ext cx="7772400" cy="45720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" y="32918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曖昧な表現を避け、具体的にどの業務にどのレベルで使えるかを示す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13385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02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主要項目② 禁止事項の明確化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A-109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188720"/>
            <a:ext cx="7772400" cy="457200"/>
          </a:xfrm>
          <a:prstGeom prst="rect">
            <a:avLst>
              <a:gd name="adj" fmla="val 10000"/>
            </a:avLst>
          </a:prstGeom>
          <a:solidFill>
            <a:srgbClr val="FEE2E2"/>
          </a:solidFill>
          <a:ln w="6350">
            <a:solidFill>
              <a:srgbClr val="E5E7E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34440" y="11887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個人情報・顧客情報のAIサービスへの入力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85800" y="1737360"/>
            <a:ext cx="77724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AI生成コンテンツの無断での社外公開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85800" y="2286000"/>
            <a:ext cx="7772400" cy="457200"/>
          </a:xfrm>
          <a:prstGeom prst="rect">
            <a:avLst>
              <a:gd name="adj" fmla="val 10000"/>
            </a:avLst>
          </a:prstGeom>
          <a:solidFill>
            <a:srgbClr val="FEE2E2"/>
          </a:solidFill>
          <a:ln w="6350">
            <a:solidFill>
              <a:srgbClr val="E5E7E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744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4440" y="22860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社内承認なしでの有料AIサービスの契約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85800" y="2834640"/>
            <a:ext cx="77724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2608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34440" y="2834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AIを使った他者の著作物の複製・改変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685800" y="3383280"/>
            <a:ext cx="7772400" cy="457200"/>
          </a:xfrm>
          <a:prstGeom prst="rect">
            <a:avLst>
              <a:gd name="adj" fmla="val 10000"/>
            </a:avLst>
          </a:prstGeom>
          <a:solidFill>
            <a:srgbClr val="FEE2E2"/>
          </a:solidFill>
          <a:ln w="6350">
            <a:solidFill>
              <a:srgbClr val="E5E7E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4747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34440" y="33832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人事評価・採用判断をAIに委ねること</a:t>
            </a:r>
            <a:endParaRPr lang="en-US" sz="1600" dirty="0"/>
          </a:p>
        </p:txBody>
      </p:sp>
      <p:sp>
        <p:nvSpPr>
          <p:cNvPr id="24" name="Text 17"/>
          <p:cNvSpPr/>
          <p:nvPr/>
        </p:nvSpPr>
        <p:spPr>
          <a:xfrm>
            <a:off x="685800" y="40233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「不適切な利用は禁止」ではなく、具体的な行為を列挙する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13385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03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主要項目③ データ取扱いルール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A-109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" y="1280160"/>
            <a:ext cx="173736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617220" y="128016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データを分類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18588" y="1572768"/>
            <a:ext cx="182880" cy="182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674620" y="1280160"/>
            <a:ext cx="1737360" cy="822960"/>
          </a:xfrm>
          <a:prstGeom prst="rect">
            <a:avLst>
              <a:gd name="adj" fmla="val 8889"/>
            </a:avLst>
          </a:prstGeom>
          <a:solidFill>
            <a:srgbClr val="059669"/>
          </a:solidFill>
          <a:ln/>
        </p:spPr>
      </p:sp>
      <p:sp>
        <p:nvSpPr>
          <p:cNvPr id="13" name="Text 10"/>
          <p:cNvSpPr/>
          <p:nvPr/>
        </p:nvSpPr>
        <p:spPr>
          <a:xfrm>
            <a:off x="2674620" y="128016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公開情報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外部AI OK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732020" y="1280160"/>
            <a:ext cx="1737360" cy="822960"/>
          </a:xfrm>
          <a:prstGeom prst="rect">
            <a:avLst>
              <a:gd name="adj" fmla="val 8889"/>
            </a:avLst>
          </a:prstGeom>
          <a:solidFill>
            <a:srgbClr val="D97706"/>
          </a:solidFill>
          <a:ln/>
        </p:spPr>
      </p:sp>
      <p:sp>
        <p:nvSpPr>
          <p:cNvPr id="15" name="Text 12"/>
          <p:cNvSpPr/>
          <p:nvPr/>
        </p:nvSpPr>
        <p:spPr>
          <a:xfrm>
            <a:off x="4732020" y="128016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社内限定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社内AIのみ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789420" y="1280160"/>
            <a:ext cx="1737360" cy="822960"/>
          </a:xfrm>
          <a:prstGeom prst="rect">
            <a:avLst>
              <a:gd name="adj" fmla="val 8889"/>
            </a:avLst>
          </a:prstGeom>
          <a:solidFill>
            <a:srgbClr val="DC2626"/>
          </a:solidFill>
          <a:ln/>
        </p:spPr>
      </p:sp>
      <p:sp>
        <p:nvSpPr>
          <p:cNvPr id="17" name="Text 14"/>
          <p:cNvSpPr/>
          <p:nvPr/>
        </p:nvSpPr>
        <p:spPr>
          <a:xfrm>
            <a:off x="6789420" y="128016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機密/個人情報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AI禁止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85800" y="2468880"/>
            <a:ext cx="7772400" cy="822960"/>
          </a:xfrm>
          <a:prstGeom prst="rect">
            <a:avLst>
              <a:gd name="adj" fmla="val 5556"/>
            </a:avLst>
          </a:prstGeom>
          <a:solidFill>
            <a:srgbClr val="DBEAFE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651760"/>
            <a:ext cx="365760" cy="36576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508760" y="2514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オプトアウト設定の義務化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1508760" y="28803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外部AIサービスの「入力データを学習に使わない」設定を必ず有効にする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13385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主要項目④ 承認フロー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A-109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225296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11887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利用申請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11880" y="1188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AIで何をしたいかを申請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1673352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755648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17190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上長承認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11880" y="1719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利用範囲内かを確認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85800" y="2203704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286000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22494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情シスチェック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611880" y="224942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データ分類を確認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85800" y="2734056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2816352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34440" y="27797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利用開始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611880" y="277977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承認後にAI利用を開始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85800" y="3264408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346704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34440" y="33101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定期レビュー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611880" y="33101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月次で利用状況を確認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85800" y="3931920"/>
            <a:ext cx="7772400" cy="411480"/>
          </a:xfrm>
          <a:prstGeom prst="rect">
            <a:avLst>
              <a:gd name="adj" fmla="val 11111"/>
            </a:avLst>
          </a:prstGeom>
          <a:solidFill>
            <a:srgbClr val="DBEAFE"/>
          </a:solidFill>
          <a:ln/>
        </p:spPr>
      </p:sp>
      <p:sp>
        <p:nvSpPr>
          <p:cNvPr id="29" name="Text 27"/>
          <p:cNvSpPr/>
          <p:nvPr/>
        </p:nvSpPr>
        <p:spPr>
          <a:xfrm>
            <a:off x="960120" y="39319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利用推奨は包括承認、条件付きのみ個別承認 → フローを重くしすぎない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463040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他社事例① 大手IT企業のアプローチ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A-109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188720"/>
            <a:ext cx="3657600" cy="109728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17320"/>
            <a:ext cx="548640" cy="548640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508760"/>
            <a:ext cx="365760" cy="3657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60020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全社員AIリテラシー研修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600200" y="1737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ガイドラインの「なぜ」を丁寧に説明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663440" y="1188720"/>
            <a:ext cx="3657600" cy="109728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6320" y="1417320"/>
            <a:ext cx="548640" cy="54864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50876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57784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社内専用AIプラットフォーム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5577840" y="1737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データの外部流出リスクを根本排除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85800" y="2560320"/>
            <a:ext cx="3657600" cy="109728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68680" y="2788920"/>
            <a:ext cx="548640" cy="548640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60020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AI利用ログの記録・監査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600200" y="3108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四半期ごとに不適切利用をチェック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4663440" y="2560320"/>
            <a:ext cx="3657600" cy="109728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846320" y="2788920"/>
            <a:ext cx="548640" cy="54864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88036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57784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AI倫理委員会の設置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5577840" y="3108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技術進化に合わせて継続アップデート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「ルールを作って終わり」ではなく、運用体制を一体で整備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463040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他社事例② 中小企業の段階的アプローチ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A-109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0100" y="1188720"/>
            <a:ext cx="233172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0100" y="1188720"/>
            <a:ext cx="23317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800100" y="13716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1（1ヶ月目）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0100" y="1737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最低限の禁止事項だけ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74420" y="2286000"/>
            <a:ext cx="17830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100" y="242316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機密・個人情報のAI入力禁止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AI出力の無断社外公開禁止</a:t>
            </a:r>
            <a:endParaRPr lang="en-US" sz="16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7540" y="2194560"/>
            <a:ext cx="182880" cy="18288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3406140" y="1188720"/>
            <a:ext cx="233172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06140" y="1188720"/>
            <a:ext cx="23317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Text 15"/>
          <p:cNvSpPr/>
          <p:nvPr/>
        </p:nvSpPr>
        <p:spPr>
          <a:xfrm>
            <a:off x="3406140" y="13716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2（3ヶ月目）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406140" y="1737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利用実態を調査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3680460" y="2286000"/>
            <a:ext cx="17830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406140" y="242316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利用範囲の分類と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データ取扱いルールを策定</a:t>
            </a:r>
            <a:endParaRPr lang="en-US" sz="16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0" y="2194560"/>
            <a:ext cx="182880" cy="18288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6012180" y="1188720"/>
            <a:ext cx="233172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012180" y="1188720"/>
            <a:ext cx="23317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5" name="Text 21"/>
          <p:cNvSpPr/>
          <p:nvPr/>
        </p:nvSpPr>
        <p:spPr>
          <a:xfrm>
            <a:off x="6012180" y="13716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3（6ヶ月目）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6012180" y="1737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正式ガイドライン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286500" y="2286000"/>
            <a:ext cx="17830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012180" y="242316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承認フローと研修プログラムを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整備してリリース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685800" y="3931920"/>
            <a:ext cx="7772400" cy="411480"/>
          </a:xfrm>
          <a:prstGeom prst="rect">
            <a:avLst>
              <a:gd name="adj" fmla="val 11111"/>
            </a:avLst>
          </a:prstGeom>
          <a:solidFill>
            <a:srgbClr val="DBEAFE"/>
          </a:solidFill>
          <a:ln/>
        </p:spPr>
      </p:sp>
      <p:sp>
        <p:nvSpPr>
          <p:cNvPr id="30" name="Text 26"/>
          <p:cNvSpPr/>
          <p:nvPr/>
        </p:nvSpPr>
        <p:spPr>
          <a:xfrm>
            <a:off x="960120" y="39319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完璧を目指さず、まず始めて段階的に改善する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024128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024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自社で始める5つのステップ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A-109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179576"/>
            <a:ext cx="411480" cy="411480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1143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現状把握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154680" y="11430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社員のAI利用状況を調査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1627632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709928"/>
            <a:ext cx="411480" cy="41148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16733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リスク評価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54680" y="167335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自社にとっての最大リスクを特定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85800" y="2157984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240280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22037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ドラフト作成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154680" y="220370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4つの主要項目を骨子にガイドラインを起草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85800" y="2688336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2770632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34440" y="273405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パイロット運用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154680" y="27340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一部門で試行してフィードバックを収集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85800" y="3218688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300984"/>
            <a:ext cx="411480" cy="411480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34440" y="32644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全社展開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154680" y="326440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研修と合わせてガイドラインを正式リリース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5800" y="40233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定期的な見直し（少なくとも年2回）を予定に組み込む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00100" y="1371600"/>
            <a:ext cx="2331720" cy="2560320"/>
          </a:xfrm>
          <a:prstGeom prst="rect">
            <a:avLst>
              <a:gd name="adj" fmla="val 3137"/>
            </a:avLst>
          </a:prstGeom>
          <a:solidFill>
            <a:srgbClr val="1F3461"/>
          </a:solidFill>
          <a:ln w="6350">
            <a:solidFill>
              <a:srgbClr val="93C5FD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160020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0100" y="21031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必要な理由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00100" y="25603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情報漏えい防止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品質担保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法的リスク回避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406140" y="1371600"/>
            <a:ext cx="2331720" cy="2560320"/>
          </a:xfrm>
          <a:prstGeom prst="rect">
            <a:avLst>
              <a:gd name="adj" fmla="val 3137"/>
            </a:avLst>
          </a:prstGeom>
          <a:solidFill>
            <a:srgbClr val="1F3461"/>
          </a:solidFill>
          <a:ln w="6350">
            <a:solidFill>
              <a:srgbClr val="93C5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60020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406140" y="21031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主要4項目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3406140" y="25603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利用範囲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禁止事項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データ取扱い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承認フロー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12180" y="1371600"/>
            <a:ext cx="2331720" cy="2560320"/>
          </a:xfrm>
          <a:prstGeom prst="rect">
            <a:avLst>
              <a:gd name="adj" fmla="val 3137"/>
            </a:avLst>
          </a:prstGeom>
          <a:solidFill>
            <a:srgbClr val="1F3461"/>
          </a:solidFill>
          <a:ln w="6350">
            <a:solidFill>
              <a:srgbClr val="93C5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600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012180" y="21031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成功のカギ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6012180" y="25603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完璧を目指さず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段階的に整備し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定期的に見直す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確認テストへ進んでください（5問中4問正解で修了）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A-109: 社内AI利用ガイドラインの考え方</dc:title>
  <dc:subject>PptxGenJS Presentation</dc:subject>
  <dc:creator>Gorilla Knowledge</dc:creator>
  <cp:lastModifiedBy>Gorilla Knowledge</cp:lastModifiedBy>
  <cp:revision>1</cp:revision>
  <dcterms:created xsi:type="dcterms:W3CDTF">2026-03-29T05:01:43Z</dcterms:created>
  <dcterms:modified xsi:type="dcterms:W3CDTF">2026-03-29T05:01:43Z</dcterms:modified>
</cp:coreProperties>
</file>