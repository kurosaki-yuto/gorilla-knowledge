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AIとは何か？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歴史から最新トレンドまで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  |  全社員向け入門  |  20分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AIの定義を一文で説明できる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3つの波（ルールベース / 機械学習 / 生成AI）を区別できる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生成AIブームの背景と意義を理解する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AIって結局なに？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7772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人間の知的なふるまいを、コンピュータで再現する技術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228600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8288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判断する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スパム判別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29000" y="1691640"/>
            <a:ext cx="228600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288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予測する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290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渋滞・売上予想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943600" y="1691640"/>
            <a:ext cx="2286000" cy="12801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436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作る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9436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文章・画像生成</a:t>
            </a:r>
            <a:endParaRPr lang="en-US" sz="1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9184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24612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AIは「考えている」のではなく、パターンを見つけて答えを出す技術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580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身近な例: メールのスパムフィルタ / カーナビの渋滞予測 / スマホの音声アシスタント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AIの3つの波 -- 全体タイムライン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51560" y="1051560"/>
            <a:ext cx="7040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777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1950年代〜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38528" y="97840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1417320"/>
            <a:ext cx="2286000" cy="2011680"/>
          </a:xfrm>
          <a:prstGeom prst="rect">
            <a:avLst>
              <a:gd name="adj" fmla="val 2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第1の波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ルールベースAI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人間がルールを書く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103120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429000" y="777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2010年代〜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98848" y="978408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Shape 16"/>
          <p:cNvSpPr/>
          <p:nvPr/>
        </p:nvSpPr>
        <p:spPr>
          <a:xfrm>
            <a:off x="3429000" y="1417320"/>
            <a:ext cx="2286000" cy="2011680"/>
          </a:xfrm>
          <a:prstGeom prst="rect">
            <a:avLst>
              <a:gd name="adj" fmla="val 227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290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第2の波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機械学習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42900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データからパターンを学ぶ</a:t>
            </a:r>
            <a:endParaRPr lang="en-US" sz="14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989320" y="777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2020年代〜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059168" y="9784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2"/>
          <p:cNvSpPr/>
          <p:nvPr/>
        </p:nvSpPr>
        <p:spPr>
          <a:xfrm>
            <a:off x="5989320" y="1417320"/>
            <a:ext cx="2286000" cy="2011680"/>
          </a:xfrm>
          <a:prstGeom prst="rect">
            <a:avLst>
              <a:gd name="adj" fmla="val 227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98932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第3の波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598932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59893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新しいものを作る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1950年代〜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第1の波: ルールベースAI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0058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仕組み: 「もしXならYする」を人間がプログラムで記述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3566160" cy="1371600"/>
          </a:xfrm>
          <a:prstGeom prst="rect">
            <a:avLst>
              <a:gd name="adj" fmla="val 3333"/>
            </a:avLst>
          </a:prstGeom>
          <a:solidFill>
            <a:srgbClr val="D1FAE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メリット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2057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動きが予測できる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結果の根拠を説明しやすい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医療・法律で今も活用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17720" y="1645920"/>
            <a:ext cx="3566160" cy="1371600"/>
          </a:xfrm>
          <a:prstGeom prst="rect">
            <a:avLst>
              <a:gd name="adj" fmla="val 3333"/>
            </a:avLst>
          </a:prstGeom>
          <a:solidFill>
            <a:srgbClr val="FEE2E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デメリット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754880" y="2057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ルール外の事態に対応不可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ルール作成コストが膨大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ルール間の矛盾が発生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MYCIN（1970年代の医療診断支援、約600個のルールを手動構築）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第1の波の代表事例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822960"/>
            <a:ext cx="2286000" cy="2560320"/>
          </a:xfrm>
          <a:prstGeom prst="rect">
            <a:avLst>
              <a:gd name="adj" fmla="val 2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1005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1997年チェス世界王者に勝利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1秒間に2億手を評価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29000" y="822960"/>
            <a:ext cx="2286000" cy="2560320"/>
          </a:xfrm>
          <a:prstGeom prst="rect">
            <a:avLst>
              <a:gd name="adj" fmla="val 2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005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チャットボット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Q&amp;A登録型の社内対応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決まった質問に即座に回答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89320" y="822960"/>
            <a:ext cx="2286000" cy="2560320"/>
          </a:xfrm>
          <a:prstGeom prst="rect">
            <a:avLst>
              <a:gd name="adj" fmla="val 2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0058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メールフィルタ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12648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キーワードでスパム判定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初期の迷惑メール対策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共通点: 人間が全てのルールを事前に定義する必要がある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2010年代〜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第2の波: 機械学習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005840"/>
            <a:ext cx="1645920" cy="411480"/>
          </a:xfrm>
          <a:prstGeom prst="rect">
            <a:avLst>
              <a:gd name="adj" fmla="val 1111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05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1124712"/>
            <a:ext cx="137160" cy="137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88920" y="1005840"/>
            <a:ext cx="1645920" cy="411480"/>
          </a:xfrm>
          <a:prstGeom prst="rect">
            <a:avLst>
              <a:gd name="adj" fmla="val 1111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88920" y="1005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124712"/>
            <a:ext cx="137160" cy="1371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9160" y="1005840"/>
            <a:ext cx="1645920" cy="411480"/>
          </a:xfrm>
          <a:prstGeom prst="rect">
            <a:avLst>
              <a:gd name="adj" fmla="val 1111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09160" y="1005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パターン発見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124712"/>
            <a:ext cx="137160" cy="1371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629400" y="1005840"/>
            <a:ext cx="1645920" cy="411480"/>
          </a:xfrm>
          <a:prstGeom prst="rect">
            <a:avLst>
              <a:gd name="adj" fmla="val 1111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629400" y="1005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予測・分類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85800" y="1645920"/>
            <a:ext cx="77724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1645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ディープラーニング = 脳の神経回路を模倣した多層の学習手法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85800" y="2331720"/>
            <a:ext cx="77724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2316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2012年: 転機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68680" y="27889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画像認識コンペImageNetで深層学習が圧勝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エラー率26% → 16%（約10ポイント改善）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Facebook / Amazonが巨額投資を開始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第2の波の代表事例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822960"/>
            <a:ext cx="2286000" cy="2560320"/>
          </a:xfrm>
          <a:prstGeom prst="rect">
            <a:avLst>
              <a:gd name="adj" fmla="val 2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1005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スマホの顔認証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3万以上の点で顔を識別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誤認率100万分の1以下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29000" y="822960"/>
            <a:ext cx="2286000" cy="2560320"/>
          </a:xfrm>
          <a:prstGeom prst="rect">
            <a:avLst>
              <a:gd name="adj" fmla="val 2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005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レコメンド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Amazon売上の35%が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レコメンド経由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89320" y="822960"/>
            <a:ext cx="2286000" cy="2560320"/>
          </a:xfrm>
          <a:prstGeom prst="rect">
            <a:avLst>
              <a:gd name="adj" fmla="val 2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0058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音声認識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12648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Siri・Alexa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認識精度95%以上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人間がルールを書かなくても、AIが自らパターンを発見する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2020年代〜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第3の波: 生成AI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0058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分類・予測から「創造」へ -- 新しいコンテンツを生成する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645920"/>
            <a:ext cx="164592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73736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88920" y="1645920"/>
            <a:ext cx="164592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73736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8892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09160" y="1645920"/>
            <a:ext cx="164592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7373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629400" y="1645920"/>
            <a:ext cx="164592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0" y="17373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294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85800" y="2743200"/>
            <a:ext cx="7772400" cy="868680"/>
          </a:xfrm>
          <a:prstGeom prst="rect">
            <a:avLst>
              <a:gd name="adj" fmla="val 5263"/>
            </a:avLst>
          </a:prstGeom>
          <a:solidFill>
            <a:srgbClr val="DBEAF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3464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大規模言語モデル（LLM）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686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膨大なテキストを学習した巨大AIモデル。GPT-4は推定約1兆パラメータ。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自然な言葉で指示するだけで応答 -- プログラミング知識不要。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第3の波の代表事例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822960"/>
            <a:ext cx="2286000" cy="2560320"/>
          </a:xfrm>
          <a:prstGeom prst="rect">
            <a:avLst>
              <a:gd name="adj" fmla="val 2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1005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2か月で1億ユーザー突破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文章生成・翻訳・分析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29000" y="822960"/>
            <a:ext cx="2286000" cy="2560320"/>
          </a:xfrm>
          <a:prstGeom prst="rect">
            <a:avLst>
              <a:gd name="adj" fmla="val 2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005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テキストから画像を生成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制作時間を1/5に短縮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89320" y="822960"/>
            <a:ext cx="2286000" cy="2560320"/>
          </a:xfrm>
          <a:prstGeom prst="rect">
            <a:avLst>
              <a:gd name="adj" fmla="val 2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0058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12648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コード自動補完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開発速度55%向上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2.5年 / TikTok 9か月 → ChatGPTは史上最速で1億ユーザー到達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なぜ今、AIが爆発的に広がったのか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822960"/>
            <a:ext cx="2286000" cy="2194560"/>
          </a:xfrm>
          <a:prstGeom prst="rect">
            <a:avLst>
              <a:gd name="adj" fmla="val 208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1005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計算能力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GPU性能が10年で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約1,000倍に向上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15468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29000" y="822960"/>
            <a:ext cx="2286000" cy="2194560"/>
          </a:xfrm>
          <a:prstGeom prst="rect">
            <a:avLst>
              <a:gd name="adj" fmla="val 208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0058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データ量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66160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全世界のデータが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2年ごとに倍増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71500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989320" y="822960"/>
            <a:ext cx="2286000" cy="2194560"/>
          </a:xfrm>
          <a:prstGeom prst="rect">
            <a:avLst>
              <a:gd name="adj" fmla="val 208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0058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8932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アルゴリズム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126480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2017年Transformer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技術が画期的な転機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85800" y="329184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32918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3つが同時に揃ったことで、AIが一気に実用レベルに到達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3つの波を比較する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13716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777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57400" y="777240"/>
            <a:ext cx="21031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777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第1の波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777240"/>
            <a:ext cx="24688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777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第2の波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0" y="777240"/>
            <a:ext cx="18288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第3の波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1234440"/>
            <a:ext cx="13716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57400" y="1234440"/>
            <a:ext cx="210312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1950年代〜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60520" y="1234440"/>
            <a:ext cx="246888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2010年代〜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234440"/>
            <a:ext cx="182880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2020年代〜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1691640"/>
            <a:ext cx="13716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57400" y="169164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ルールを書く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60520" y="16916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パターンを学ぶ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16916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コンテンツを作る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" y="2148840"/>
            <a:ext cx="13716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057400" y="2148840"/>
            <a:ext cx="210312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57400" y="2148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決まった応答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60520" y="2148840"/>
            <a:ext cx="246888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予測・分類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629400" y="2148840"/>
            <a:ext cx="182880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文章・画像生成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2606040"/>
            <a:ext cx="13716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代表例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057400" y="260604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5740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160520" y="26060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052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顔認証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629400" y="26060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3063240"/>
            <a:ext cx="13716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人の役割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057400" y="3063240"/>
            <a:ext cx="210312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5740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ルール作成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160520" y="3063240"/>
            <a:ext cx="246888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052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データ用意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629400" y="3063240"/>
            <a:ext cx="182880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指示を出す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生成AIが変える私たちの仕事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3566160" cy="1188720"/>
          </a:xfrm>
          <a:prstGeom prst="rect">
            <a:avLst>
              <a:gd name="adj" fmla="val 3846"/>
            </a:avLst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9601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914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文書作成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1234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メール・報告書・翻訳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作成速度40%向上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17720" y="777240"/>
            <a:ext cx="3566160" cy="1188720"/>
          </a:xfrm>
          <a:prstGeom prst="rect">
            <a:avLst>
              <a:gd name="adj" fmla="val 3846"/>
            </a:avLst>
          </a:prstGeom>
          <a:solidFill>
            <a:srgbClr val="D1FA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960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914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情報整理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166360" y="1234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議事録要約・データ分類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半日の作業が数分に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2194560"/>
            <a:ext cx="3566160" cy="1188720"/>
          </a:xfrm>
          <a:prstGeom prst="rect">
            <a:avLst>
              <a:gd name="adj" fmla="val 3846"/>
            </a:avLst>
          </a:prstGeom>
          <a:solidFill>
            <a:srgbClr val="FEF3C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774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アイデア出し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23444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企画ブレスト・コピー案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たたき台を瞬時に生成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617720" y="2194560"/>
            <a:ext cx="3566160" cy="1188720"/>
          </a:xfrm>
          <a:prstGeom prst="rect">
            <a:avLst>
              <a:gd name="adj" fmla="val 3846"/>
            </a:avLst>
          </a:prstGeom>
          <a:solidFill>
            <a:srgbClr val="DBEAF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774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調査・分析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16636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市場調査・競合分析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大量情報を即座に整理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85800" y="3429000"/>
            <a:ext cx="7772400" cy="457200"/>
          </a:xfrm>
          <a:prstGeom prst="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24" name="Text 18"/>
          <p:cNvSpPr/>
          <p:nvPr/>
        </p:nvSpPr>
        <p:spPr>
          <a:xfrm>
            <a:off x="868680" y="3429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基本スタンス: AIに下書き → 人間が確認して仕上げる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AIを使うときの3つの注意点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7772400" cy="822960"/>
          </a:xfrm>
          <a:prstGeom prst="rect">
            <a:avLst>
              <a:gd name="adj" fmla="val 5556"/>
            </a:avLst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9144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9601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機密情報を入力しない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91640" y="11887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社外AIに顧客情報・社内機密はNG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自社のAI利用ガイドラインを確認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1783080"/>
            <a:ext cx="7772400" cy="822960"/>
          </a:xfrm>
          <a:prstGeom prst="rect">
            <a:avLst>
              <a:gd name="adj" fmla="val 5556"/>
            </a:avLst>
          </a:prstGeom>
          <a:solidFill>
            <a:srgbClr val="FEF3C7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9659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出力を鵜呑みにしない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91640" y="2194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ハルシネーション（AIの思い込み）に注意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必ず人間がファクトチェック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2788920"/>
            <a:ext cx="7772400" cy="822960"/>
          </a:xfrm>
          <a:prstGeom prst="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9718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著作権・倫理に配慮する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32004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AI生成物の権利は法整備が進行中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外部公開時は上長に確認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7772400" cy="54864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914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777240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人間の知的なふるまいをコンピュータで再現する技術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1463040"/>
            <a:ext cx="7772400" cy="54864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463040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3つの波: ルールベース → 機械学習 → 生成AI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2148840"/>
            <a:ext cx="7772400" cy="54864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148840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爆発の理由: 計算能力 x データ量 x アルゴリズム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2834640"/>
            <a:ext cx="7772400" cy="54864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718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834640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 機密情報NG / 鵜呑みNG / 著作権に配慮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85800" y="361188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033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61188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確認テスト: 5問中4問正解(80%)で修了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A-101 修了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AIの世界への第一歩、ここから始めよう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次のステップ: A-102 AIツール活用入門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A-101: AIとは何か？ -- 歴史から最新トレンドまで</dc:title>
  <dc:subject>PptxGenJS Presentation</dc:subject>
  <dc:creator>Gorilla Knowledge</dc:creator>
  <cp:lastModifiedBy>Gorilla Knowledge</cp:lastModifiedBy>
  <cp:revision>1</cp:revision>
  <dcterms:created xsi:type="dcterms:W3CDTF">2026-03-29T12:48:58Z</dcterms:created>
  <dcterms:modified xsi:type="dcterms:W3CDTF">2026-03-29T12:48:58Z</dcterms:modified>
</cp:coreProperties>
</file>