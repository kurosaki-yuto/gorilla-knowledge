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91440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プロンプトの基本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3200400" y="26974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AIへの指示の出し方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   |   全社員向け   |   20分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18872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1430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プロンプトとは何かを説明できる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19202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402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21945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良いプロンプトの5つの要素（役割・文脈・指示・形式・制約）を使える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297180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9184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324612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悪いプロンプトと良いプロンプトの違いを具体例で比較できる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024128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024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プロンプトとは何か？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1645920" cy="502920"/>
          </a:xfrm>
          <a:prstGeom prst="rect">
            <a:avLst>
              <a:gd name="adj" fmla="val 9091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716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あなた</a:t>
            </a:r>
            <a:endParaRPr lang="en-US" sz="16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0592" y="1508760"/>
            <a:ext cx="182880" cy="182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743200" y="1371600"/>
            <a:ext cx="1645920" cy="502920"/>
          </a:xfrm>
          <a:prstGeom prst="rect">
            <a:avLst>
              <a:gd name="adj" fmla="val 9091"/>
            </a:avLst>
          </a:prstGeom>
          <a:solidFill>
            <a:srgbClr val="2563EB"/>
          </a:solidFill>
          <a:ln/>
        </p:spPr>
      </p:sp>
      <p:sp>
        <p:nvSpPr>
          <p:cNvPr id="13" name="Text 10"/>
          <p:cNvSpPr/>
          <p:nvPr/>
        </p:nvSpPr>
        <p:spPr>
          <a:xfrm>
            <a:off x="2743200" y="13716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</a:t>
            </a:r>
            <a:endParaRPr lang="en-US" sz="16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1508760"/>
            <a:ext cx="182880" cy="1828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754880" y="1371600"/>
            <a:ext cx="1645920" cy="502920"/>
          </a:xfrm>
          <a:prstGeom prst="rect">
            <a:avLst>
              <a:gd name="adj" fmla="val 9091"/>
            </a:avLst>
          </a:prstGeom>
          <a:solidFill>
            <a:srgbClr val="DBEAFE"/>
          </a:solidFill>
          <a:ln/>
        </p:spPr>
      </p:sp>
      <p:sp>
        <p:nvSpPr>
          <p:cNvPr id="16" name="Text 12"/>
          <p:cNvSpPr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6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508760"/>
            <a:ext cx="182880" cy="1828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766560" y="1371600"/>
            <a:ext cx="1645920" cy="502920"/>
          </a:xfrm>
          <a:prstGeom prst="rect">
            <a:avLst>
              <a:gd name="adj" fmla="val 9091"/>
            </a:avLst>
          </a:prstGeom>
          <a:solidFill>
            <a:srgbClr val="D1FAE5"/>
          </a:solidFill>
          <a:ln/>
        </p:spPr>
      </p:sp>
      <p:sp>
        <p:nvSpPr>
          <p:cNvPr id="19" name="Text 14"/>
          <p:cNvSpPr/>
          <p:nvPr/>
        </p:nvSpPr>
        <p:spPr>
          <a:xfrm>
            <a:off x="6766560" y="13716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777240" y="2194560"/>
            <a:ext cx="23774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77240" y="2194560"/>
            <a:ext cx="23774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Shape 17"/>
          <p:cNvSpPr/>
          <p:nvPr/>
        </p:nvSpPr>
        <p:spPr>
          <a:xfrm>
            <a:off x="1668780" y="246888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5940" y="26060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1440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AIとの会話の入り口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9144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AIに入力する文章はすべてプロンプト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3383280" y="2194560"/>
            <a:ext cx="23774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3383280" y="2194560"/>
            <a:ext cx="237744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8" name="Shape 22"/>
          <p:cNvSpPr/>
          <p:nvPr/>
        </p:nvSpPr>
        <p:spPr>
          <a:xfrm>
            <a:off x="4274820" y="2468880"/>
            <a:ext cx="594360" cy="59436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1980" y="2606040"/>
            <a:ext cx="320040" cy="32004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52044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指示の質 = 回答の質</a:t>
            </a:r>
            <a:endParaRPr lang="en-US" sz="1600" dirty="0"/>
          </a:p>
        </p:txBody>
      </p:sp>
      <p:sp>
        <p:nvSpPr>
          <p:cNvPr id="31" name="Text 24"/>
          <p:cNvSpPr/>
          <p:nvPr/>
        </p:nvSpPr>
        <p:spPr>
          <a:xfrm>
            <a:off x="352044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曖昧な指示→曖昧な回答、具体的→的確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5989320" y="2194560"/>
            <a:ext cx="23774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989320" y="2194560"/>
            <a:ext cx="237744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Shape 27"/>
          <p:cNvSpPr/>
          <p:nvPr/>
        </p:nvSpPr>
        <p:spPr>
          <a:xfrm>
            <a:off x="6880860" y="2468880"/>
            <a:ext cx="594360" cy="59436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020" y="2606040"/>
            <a:ext cx="320040" cy="32004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12648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プロンプトは「レシピ」</a:t>
            </a:r>
            <a:endParaRPr lang="en-US" sz="1600" dirty="0"/>
          </a:p>
        </p:txBody>
      </p:sp>
      <p:sp>
        <p:nvSpPr>
          <p:cNvPr id="37" name="Text 29"/>
          <p:cNvSpPr/>
          <p:nvPr/>
        </p:nvSpPr>
        <p:spPr>
          <a:xfrm>
            <a:off x="612648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同じAIでも書き方次第で結果が全く変わる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68249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なぜAIの回答がイマイチなのか？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371600"/>
            <a:ext cx="7772400" cy="640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371600"/>
            <a:ext cx="45720" cy="6400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27048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71600" y="1371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「いい感じにして」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92040" y="1371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何を、どう？ AIには分からない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" y="2148840"/>
            <a:ext cx="7772400" cy="640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5" name="Shape 12"/>
          <p:cNvSpPr/>
          <p:nvPr/>
        </p:nvSpPr>
        <p:spPr>
          <a:xfrm>
            <a:off x="685800" y="2148840"/>
            <a:ext cx="45720" cy="6400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04288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371600" y="21488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「マーケティングについて教えて」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892040" y="2148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範囲が広すぎて一般論しか返せない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85800" y="2926080"/>
            <a:ext cx="7772400" cy="640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0" name="Shape 16"/>
          <p:cNvSpPr/>
          <p:nvPr/>
        </p:nvSpPr>
        <p:spPr>
          <a:xfrm>
            <a:off x="685800" y="2926080"/>
            <a:ext cx="45720" cy="6400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081528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371600" y="29260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「文章を書いて」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4892040" y="2926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メール？ ブログ？ 誰向け？ 何文字？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685800" y="3840480"/>
            <a:ext cx="7772400" cy="5943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0"/>
          <p:cNvSpPr/>
          <p:nvPr/>
        </p:nvSpPr>
        <p:spPr>
          <a:xfrm>
            <a:off x="960120" y="3840480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共通点: 具体性がない・前提がない・ゴールが不明確 → 指示を改善すればAIは変わる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353312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良いプロンプトの5つの要素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54380" y="1188720"/>
            <a:ext cx="1417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" y="1188720"/>
            <a:ext cx="1417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1211580" y="146304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45820" y="21945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45820" y="2606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37260" y="3017520"/>
            <a:ext cx="10515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5820" y="31546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どんな専門家として振る舞うか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308860" y="1188720"/>
            <a:ext cx="1417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08860" y="1188720"/>
            <a:ext cx="14173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2766060" y="146304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400300" y="21945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文脈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400300" y="2606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91740" y="3017520"/>
            <a:ext cx="10515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00300" y="31546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背景情報・前提条件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863340" y="1188720"/>
            <a:ext cx="1417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63340" y="1188720"/>
            <a:ext cx="14173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4320540" y="1463040"/>
            <a:ext cx="502920" cy="50292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954780" y="21945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指示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954780" y="2606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046220" y="3017520"/>
            <a:ext cx="10515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54780" y="31546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具体的にやってほしいこと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17820" y="1188720"/>
            <a:ext cx="1417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17820" y="1188720"/>
            <a:ext cx="14173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Text 30"/>
          <p:cNvSpPr/>
          <p:nvPr/>
        </p:nvSpPr>
        <p:spPr>
          <a:xfrm>
            <a:off x="5875020" y="1463040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509260" y="21945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509260" y="2606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00700" y="3017520"/>
            <a:ext cx="10515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09260" y="31546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出力の形・長さ・構成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972300" y="1188720"/>
            <a:ext cx="1417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72300" y="1188720"/>
            <a:ext cx="1417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9" name="Text 37"/>
          <p:cNvSpPr/>
          <p:nvPr/>
        </p:nvSpPr>
        <p:spPr>
          <a:xfrm>
            <a:off x="7429500" y="146304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063740" y="21945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063740" y="2606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155180" y="3017520"/>
            <a:ext cx="10515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63740" y="31546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やってはいけないこと・条件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353312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役割と文脈 — AIに「前提」を伝える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1887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188720"/>
            <a:ext cx="36576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役割の例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2880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88720" y="17647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10年経験のあるWebデザイナー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94560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8872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中学生に教える理科の先生</a:t>
            </a:r>
            <a:endParaRPr lang="en-US" sz="13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560320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88720" y="24963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IT企業の採用担当者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0" y="1188720"/>
            <a:ext cx="38862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572000" y="1188720"/>
            <a:ext cx="38862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5"/>
          <p:cNvSpPr/>
          <p:nvPr/>
        </p:nvSpPr>
        <p:spPr>
          <a:xfrm>
            <a:off x="475488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文脈の例</a:t>
            </a:r>
            <a:endParaRPr lang="en-US" sz="16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828800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074920" y="17647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飲食店を経営、新メニュー開発中</a:t>
            </a:r>
            <a:endParaRPr lang="en-US" sz="13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194560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074920" y="2130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営業チーム5人のリーダー</a:t>
            </a:r>
            <a:endParaRPr lang="en-US" sz="13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560320"/>
            <a:ext cx="182880" cy="18288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074920" y="24963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来月の展示会に出展予定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685800" y="3429000"/>
            <a:ext cx="3657600" cy="9144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8" name="Text 20"/>
          <p:cNvSpPr/>
          <p:nvPr/>
        </p:nvSpPr>
        <p:spPr>
          <a:xfrm>
            <a:off x="822960" y="3474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29" name="Text 21"/>
          <p:cNvSpPr/>
          <p:nvPr/>
        </p:nvSpPr>
        <p:spPr>
          <a:xfrm>
            <a:off x="82296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「集客方法を教えて」</a:t>
            </a:r>
            <a:endParaRPr lang="en-US" sz="1600" dirty="0"/>
          </a:p>
        </p:txBody>
      </p:sp>
      <p:sp>
        <p:nvSpPr>
          <p:cNvPr id="30" name="Shape 22"/>
          <p:cNvSpPr/>
          <p:nvPr/>
        </p:nvSpPr>
        <p:spPr>
          <a:xfrm>
            <a:off x="4572000" y="3429000"/>
            <a:ext cx="3886200" cy="9144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1" name="Text 23"/>
          <p:cNvSpPr/>
          <p:nvPr/>
        </p:nvSpPr>
        <p:spPr>
          <a:xfrm>
            <a:off x="4709160" y="3474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32" name="Text 24"/>
          <p:cNvSpPr/>
          <p:nvPr/>
        </p:nvSpPr>
        <p:spPr>
          <a:xfrm>
            <a:off x="4709160" y="37490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「あなたは飲食店コンサルタントです。駅前ラーメン店の平日ランチ集客を低予算で3つ教えて」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353312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指示 — 「何をしてほしいか」を明確に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280160"/>
            <a:ext cx="3200400" cy="3657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80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曖昧な指示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0" y="1280160"/>
            <a:ext cx="4343400" cy="36576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0" y="12801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明確な指示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1783080"/>
            <a:ext cx="7772400" cy="41148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1783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「教えて」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874520"/>
            <a:ext cx="182880" cy="1828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4114800" y="178308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「3つのステップに分けて説明して」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85800" y="2286000"/>
            <a:ext cx="7772400" cy="41148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2286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「まとめて」</a:t>
            </a:r>
            <a:endParaRPr lang="en-US" sz="16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2377440"/>
            <a:ext cx="182880" cy="18288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114800" y="228600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「要点を5つの箇条書きにまとめて」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85800" y="2788920"/>
            <a:ext cx="7772400" cy="41148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2" name="Text 18"/>
          <p:cNvSpPr/>
          <p:nvPr/>
        </p:nvSpPr>
        <p:spPr>
          <a:xfrm>
            <a:off x="822960" y="2788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「考えて」</a:t>
            </a:r>
            <a:endParaRPr lang="en-US" sz="16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880360"/>
            <a:ext cx="182880" cy="1828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114800" y="278892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「メリ3つ・デメ3つを表形式で比較して」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685800" y="3337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指示を明確にする3つのコツ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777240" y="3749040"/>
            <a:ext cx="320040" cy="32004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1234440" y="37490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動詞を具体的にする（比較/要約/翻訳）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777240" y="4114800"/>
            <a:ext cx="320040" cy="32004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1234440" y="41148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数を指定する（「いくつか」→「5つ」）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777240" y="4480560"/>
            <a:ext cx="320040" cy="32004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1234440" y="44805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ステップに分解する（複雑→小さく分ける）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353312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形式と制約 — アウトプットをコントロールする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188720"/>
            <a:ext cx="36576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188720"/>
            <a:ext cx="36576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形式の指定例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2880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88720" y="17647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「箇条書きで」「番号付きリストで」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94560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8872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「表形式（項目/メリ/デメ）で」</a:t>
            </a:r>
            <a:endParaRPr lang="en-US" sz="13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560320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88720" y="24963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「300文字以内で」「見出し付きで」</a:t>
            </a:r>
            <a:endParaRPr lang="en-US" sz="13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926080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188720" y="28620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「メール文面として」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572000" y="1188720"/>
            <a:ext cx="38862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72000" y="1188720"/>
            <a:ext cx="388620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16"/>
          <p:cNvSpPr/>
          <p:nvPr/>
        </p:nvSpPr>
        <p:spPr>
          <a:xfrm>
            <a:off x="475488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制約の指定例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828800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074920" y="17647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「専門用語を使わず中学生にも分かる言葉で」</a:t>
            </a:r>
            <a:endParaRPr lang="en-US" sz="13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194560"/>
            <a:ext cx="182880" cy="18288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074920" y="2130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「日本市場に限定して」</a:t>
            </a:r>
            <a:endParaRPr lang="en-US" sz="13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560320"/>
            <a:ext cx="182880" cy="18288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5074920" y="24963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「ネガティブな表現は避けて」</a:t>
            </a:r>
            <a:endParaRPr lang="en-US" sz="13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2926080"/>
            <a:ext cx="182880" cy="18288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74920" y="2862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「競合ブランド名は使わないで」</a:t>
            </a:r>
            <a:endParaRPr lang="en-US" sz="1300" dirty="0"/>
          </a:p>
        </p:txBody>
      </p:sp>
      <p:sp>
        <p:nvSpPr>
          <p:cNvPr id="31" name="Shape 21"/>
          <p:cNvSpPr/>
          <p:nvPr/>
        </p:nvSpPr>
        <p:spPr>
          <a:xfrm>
            <a:off x="685800" y="3840480"/>
            <a:ext cx="7772400" cy="548640"/>
          </a:xfrm>
          <a:prstGeom prst="rect">
            <a:avLst/>
          </a:prstGeom>
          <a:solidFill>
            <a:srgbClr val="DBEAFE"/>
          </a:solidFill>
          <a:ln/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39319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1325880" y="38404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 =「どんな形で出すか」  /  制約 =「何をやらないか」→ 出力を自在にコントロール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243584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243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実践！ Before → After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280160"/>
            <a:ext cx="3474720" cy="22860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371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1783080"/>
            <a:ext cx="320040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1783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新商品のキャッチコピーを考えて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「素敵な毎日を」...抽象的で使えない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34840" y="1280160"/>
            <a:ext cx="4023360" cy="22860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3716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After（5要素を活用）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[役割]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49240" y="1783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コピーライターとして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2103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[文脈]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49240" y="2103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20代女性向けオーガニック美容液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0" y="2423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[指示]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49240" y="2423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キャッチコピーを5案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[形式]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49240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各20文字以内、理由付き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0" y="3063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[制約]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49240" y="3063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競合名は使わない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0" y="3246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ターゲットに刺さる具体的な5案が出る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5800" y="3840480"/>
            <a:ext cx="7772400" cy="548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384048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同じAIでもプロンプトの書き方だけでこれだけ差が出る ― これがプロンプトの力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804672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よくある失敗と改善テクニック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188720"/>
            <a:ext cx="36576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188720"/>
            <a:ext cx="365760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失敗パターン → 対策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回答が長すぎる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1460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→「3行で」「100字以内で」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8680" y="2286000"/>
            <a:ext cx="32918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331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的外れな回答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14600" y="2331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文脈と役割を追加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68680" y="2743200"/>
            <a:ext cx="32918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788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一般論しか出ない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14600" y="2788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具体的な条件を追加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68680" y="3200400"/>
            <a:ext cx="32918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246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話が脱線する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514600" y="3246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→「この質問だけ答えて」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0" y="1188720"/>
            <a:ext cx="38862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0" y="1188720"/>
            <a:ext cx="38862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上級テクニック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754880" y="1920240"/>
            <a:ext cx="3520440" cy="822960"/>
          </a:xfrm>
          <a:prstGeom prst="rect">
            <a:avLst>
              <a:gd name="adj" fmla="val 5556"/>
            </a:avLst>
          </a:prstGeom>
          <a:solidFill>
            <a:srgbClr val="DBEAFE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「ステップバイステップで考えて」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92040" y="2331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AIの思考の質が上がる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2880360"/>
            <a:ext cx="3520440" cy="822960"/>
          </a:xfrm>
          <a:prstGeom prst="rect">
            <a:avLst>
              <a:gd name="adj" fmla="val 5556"/>
            </a:avLst>
          </a:prstGeom>
          <a:solidFill>
            <a:srgbClr val="D1FAE5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「回答前に前提条件を確認して」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92040" y="3291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認識ズレを防げる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今日のまとめ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1097280"/>
            <a:ext cx="23774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097280"/>
            <a:ext cx="23774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1668780" y="137160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150876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1440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 = 指示文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1051560" y="2651760"/>
            <a:ext cx="18288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788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指示の質がそのまま回答の質に。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曖昧な指示 → 曖昧な回答。具体的 → 的確。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83280" y="1097280"/>
            <a:ext cx="23774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83280" y="1097280"/>
            <a:ext cx="237744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Shape 13"/>
          <p:cNvSpPr/>
          <p:nvPr/>
        </p:nvSpPr>
        <p:spPr>
          <a:xfrm>
            <a:off x="4274820" y="1371600"/>
            <a:ext cx="594360" cy="59436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150876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52044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5つの要素: RCIFC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3657600" y="2651760"/>
            <a:ext cx="18288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3520440" y="2788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役割・文脈・指示・形式・制約。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状況に応じて組み合わせる。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989320" y="1097280"/>
            <a:ext cx="23774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989320" y="1097280"/>
            <a:ext cx="237744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Shape 19"/>
          <p:cNvSpPr/>
          <p:nvPr/>
        </p:nvSpPr>
        <p:spPr>
          <a:xfrm>
            <a:off x="6880860" y="1371600"/>
            <a:ext cx="594360" cy="59436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020" y="1508760"/>
            <a:ext cx="320040" cy="32004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12648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まず「具体的に」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6263640" y="2651760"/>
            <a:ext cx="18288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126480" y="2788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完璧でなくてOK。「もう少し具体的に書けないかな？」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と問いかけるだけで回答は確実に良くなる。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685800" y="3931920"/>
            <a:ext cx="7772400" cy="548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4"/>
          <p:cNvSpPr/>
          <p:nvPr/>
        </p:nvSpPr>
        <p:spPr>
          <a:xfrm>
            <a:off x="960120" y="393192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プロンプトは「練習」で上手くなる ― 今日からどんどん試してみよう！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09728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920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お疲れさまでした！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3200400" y="26974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2926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このあと確認テスト（5問）があります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80%以上の正答で修了です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5つの要素を思い出しながらチャレンジ！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A-105: プロンプトの基本〜AIへの指示の出し方</dc:title>
  <dc:subject>PptxGenJS Presentation</dc:subject>
  <dc:creator>Gorilla Knowledge</dc:creator>
  <cp:lastModifiedBy>Gorilla Knowledge</cp:lastModifiedBy>
  <cp:revision>1</cp:revision>
  <dcterms:created xsi:type="dcterms:W3CDTF">2026-03-30T12:10:06Z</dcterms:created>
  <dcterms:modified xsi:type="dcterms:W3CDTF">2026-03-30T12:10:06Z</dcterms:modified>
</cp:coreProperties>
</file>