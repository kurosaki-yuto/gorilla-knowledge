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AI時代の情報リテラシー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AIの限界とリスクを正しく理解する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   |   全社員向け（AI-101修了者）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ハルシネーションの仕組みと具体的な対策方法を実践できる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AI利用時の著作権・個人情報保護のリスクを判断できる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社内AI利用ガイドラインの基本方針を理解し、適切に行動できる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AIは万能ではない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5943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AIにできないことを正しく理解することが、正しく使う第一歩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9202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20240"/>
            <a:ext cx="23774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668780" y="2194560"/>
            <a:ext cx="594360" cy="59436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233172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事実の正確性を保証できない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最新情報を知らない。専門知識で間違えることも。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383280" y="19202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92024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74820" y="2194560"/>
            <a:ext cx="594360" cy="59436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3317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倫理的な判断ができない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52044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善悪の判断・価値判断は人間の仕事。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89320" y="19202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89320" y="192024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19"/>
          <p:cNvSpPr/>
          <p:nvPr/>
        </p:nvSpPr>
        <p:spPr>
          <a:xfrm>
            <a:off x="6880860" y="219456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233172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文脈や感情を完全に理解できない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12648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空気を読む、相手の気持ちを汲み取ることは苦手。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80467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 — AIが自信満々にウソをつく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371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AIがもっともらしいが事実ではない情報を生成する現象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" y="21488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21488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1488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「○○法は2019年に改正されました」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3212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実際には改正されていない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28346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28346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" y="28346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架空の論文を引用（著者名・タイトルまで捏造）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321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存在しない論文を自信満々に提示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35204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352044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520440"/>
            <a:ext cx="457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弁護士がAI生成の準備書面を提出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3212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存在しない判例を引用し大問題に（米国実例）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AIは「正しいかどうか」ではなく「次に来そうな言葉」を予測して生成している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ハルシネーション対策 — 3ステップ・ファクトチェック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2377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9728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1325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複数ソースで確認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256032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AIの回答を別の情報源でクロスチェック。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1つのソースだけで判断しない。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256" y="2404872"/>
            <a:ext cx="182880" cy="182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83280" y="1097280"/>
            <a:ext cx="2377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4320540" y="132588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一次情報にあたる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749040" y="256032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公式サイト、法令データベース、原典を確認。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「誰が言っているか」が重要。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2404872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89320" y="1097280"/>
            <a:ext cx="2377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89320" y="109728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6926580" y="132588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12648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専門家に聞く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355080" y="256032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7220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判断に迷ったら詳しい人に相談。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これが最も確実な方法。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4"/>
          <p:cNvSpPr/>
          <p:nvPr/>
        </p:nvSpPr>
        <p:spPr>
          <a:xfrm>
            <a:off x="960120" y="4114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「AIが言ったから正しい」は絶対NG — 最終判断は必ず人間がする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80467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AIのバイアスと公平性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20116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偏ったデータ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112" y="150876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66160" y="1371600"/>
            <a:ext cx="20116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AIが学習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5087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26480" y="1371600"/>
            <a:ext cx="2011680" cy="502920"/>
          </a:xfrm>
          <a:prstGeom prst="rect">
            <a:avLst>
              <a:gd name="adj" fmla="val 9091"/>
            </a:avLst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偏った出力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6868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採用AI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過去データの偏りにより、特定の性別・学歴を不当に優遇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85800" y="2788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6868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翻訳AI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697480" y="27889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「医者=男性、看護師=女性」と性別を勝手に決めつける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85800" y="33832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画像生成AI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2697480" y="3383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特定の人種ばかりを生成し、多様性が欠如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42232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2588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AIの出力を使うときは「この内容に偏りがないか？」と常に意識する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69494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AI生成物の著作権 — 知っておくべきリスク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371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AI生成物の著作権は法的にグレーゾーン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3212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国・地域によって判断が分かれている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1284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103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学習データに類似したコンテンツを出力するリスク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32120" y="2103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知らず知らずのうちに他者の著作物を模倣する可能性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283464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443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2834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商用利用には特に注意が必要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532120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訴訟リスクを避けるため、権利関係を確認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業務で守るべき3つのルール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3192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他者の著作物をそのままAIに入力して改変させない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5196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4160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AI生成物を外部公開する際は上長確認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572000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AIサービスの利用規約を確認する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24358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AIに入力してはいけない情報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777240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18872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顧客の氏名・住所・電話番号・メールアドレス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1828800"/>
            <a:ext cx="777240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182880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社内の機密情報（売上データ、戦略資料、未公開情報）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2468880"/>
            <a:ext cx="777240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246888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パスワード・認証情報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85800" y="3108960"/>
            <a:ext cx="777240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310896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108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社員の個人情報（評価情報、給与情報）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85800" y="3840480"/>
            <a:ext cx="777240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0448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外部AIに入力したデータは学習に使われる可能性がある → 情報漏洩リスク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0740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88720" y="4343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社内承認済みのAIツールを使う。「ちょっとだけなら」は絶対NG。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社内AI利用ガイドライン — 5つの基本方針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7772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298448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234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機密情報・個人情報の入力禁止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社内承認ツール以外に入力しない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1874520"/>
            <a:ext cx="7772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874520"/>
            <a:ext cx="457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1938528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ファクトチェック必須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AI出力は必ず人間が正確性を確認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7772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514600"/>
            <a:ext cx="457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578608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著作権の確認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外部公開前に権利関係を確認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3154680"/>
            <a:ext cx="7772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154680"/>
            <a:ext cx="457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21868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利用記録の保持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いつ・何の目的で・どのAIを使ったか記録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3794760"/>
            <a:ext cx="7772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794760"/>
            <a:ext cx="457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85876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問題発生時の即報告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060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上長・情報システム部門にすぐ報告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ケーススタディ — この行動は適切？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344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1430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ChatGPTにお客様の名前と住所を入力してお礼メールを作成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00200" y="1600200"/>
            <a:ext cx="658368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個人情報を社外AIに入力 → ガイドライン違反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148840"/>
            <a:ext cx="4572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AIの市場レポート数値を政府統計サイトで確認してから社内資料に使用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" y="2651760"/>
            <a:ext cx="658368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1737360" y="2651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ファクトチェック済み → 適切な利用方法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200400"/>
            <a:ext cx="7772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0040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3246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AI生成画像をそのまま自社の広告素材として外部公開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00200" y="3703320"/>
            <a:ext cx="658368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著作権未確認で外部公開 → ガイドライン違反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AIの限界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10972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万能ではない。ハルシネーションに要注意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複数ソース確認 → 一次情報 → 専門家に聞く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情報保護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71800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機密情報・個人情報は社外AIに入力しない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71800" y="3703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5つの基本方針を守って、安全にAIを活用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AI-106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AI-105: AI時代の情報リテラシー — AIの限界とリスクを正しく理解する</dc:title>
  <dc:subject>PptxGenJS Presentation</dc:subject>
  <dc:creator>Gorilla Knowledge</dc:creator>
  <cp:lastModifiedBy>Gorilla Knowledge</cp:lastModifiedBy>
  <cp:revision>1</cp:revision>
  <dcterms:created xsi:type="dcterms:W3CDTF">2026-03-19T15:03:39Z</dcterms:created>
  <dcterms:modified xsi:type="dcterms:W3CDTF">2026-03-19T15:03:39Z</dcterms:modified>
</cp:coreProperties>
</file>