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8229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生成AIの仕組み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なぜ文章が書けるのか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   |   全社員向け入門   |   20分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LLMの基本原理を平易に説明できる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AIが学習データからパターンを学ぶ仕組みを理解する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生成AIの「できること」と「仕組み上の限界」を区別できる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生成AIは何をしている?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0058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「次に来る言葉を予測する」を繰り返しているだけ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1737360"/>
            <a:ext cx="1307592" cy="411480"/>
          </a:xfrm>
          <a:prstGeom prst="roundRect">
            <a:avLst>
              <a:gd name="adj" fmla="val 1111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37360"/>
            <a:ext cx="130759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今日の天気は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67712" y="1737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24912" y="1737360"/>
            <a:ext cx="649224" cy="4114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1737360"/>
            <a:ext cx="64922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晴れ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65576" y="1737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22776" y="1737360"/>
            <a:ext cx="649224" cy="4114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22776" y="1737360"/>
            <a:ext cx="64922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1737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1737360"/>
            <a:ext cx="484632" cy="4114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737360"/>
            <a:ext cx="48463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6888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スマホの予測変換の超高性能版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「考えている」のではなく、統計的に最もありそうな言葉を選んでいる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-- 大規模言語モデルの全体像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005840"/>
            <a:ext cx="2286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005840"/>
            <a:ext cx="228600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2344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Large（大規模）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数兆語のテキストを学習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29000" y="1005840"/>
            <a:ext cx="2286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1005840"/>
            <a:ext cx="228600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2344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2044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Language（言語）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2044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言葉のパターンを扱う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43600" y="1005840"/>
            <a:ext cx="22860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0" y="1005840"/>
            <a:ext cx="2286000" cy="457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344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Model（モデル）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03504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パターンを数式で表現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5800" y="3108960"/>
            <a:ext cx="777240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20"/>
          <p:cNvSpPr/>
          <p:nvPr/>
        </p:nvSpPr>
        <p:spPr>
          <a:xfrm>
            <a:off x="868680" y="31089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「世界中の図書館の本を読んだ人」のようなもの。ただし「理解」ではなくパターン記憶。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学習ステップ1: 大量のテキストを読み込む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377440" cy="82296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05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数十兆+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トークン（最新モデル推定）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005840"/>
            <a:ext cx="2377440" cy="82296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05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数百万冊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書籍相当のテキスト量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005840"/>
            <a:ext cx="2377440" cy="822960"/>
          </a:xfrm>
          <a:prstGeom prst="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5989320" y="1005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約90%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8932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英語データの比率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1031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ニュース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21031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書籍 / 論文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1031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コード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1031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フォーラム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2743200"/>
            <a:ext cx="777240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74320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データの質がAIの質を決める。偏り・誤情報も一緒に学習してしまう。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学習ステップ2: 穴埋め問題を解いて学ぶ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058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「今日は天気が ＿＿ ので公園に行った」 -&gt; 「よい」を予測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最初はデタラメな回答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ランダムに近い予測からスタート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正解と比較して修正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誤差を計算し、パラメータを微調整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何兆回も繰り返す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だんだん正確な予測ができるように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246120"/>
            <a:ext cx="77724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2461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パラメータ（調整つまみ）: 最新モデルは数兆個規模。最適値を見つける作業が「学習」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5544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RLHF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学習ステップ3: 人間のフィードバックで磨く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468880" cy="1371600"/>
          </a:xfrm>
          <a:prstGeom prst="rect">
            <a:avLst>
              <a:gd name="adj" fmla="val 3333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AIが複数回答を生成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同じ質問に対して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複数パターンを出力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29000" y="1005840"/>
            <a:ext cx="2468880" cy="1371600"/>
          </a:xfrm>
          <a:prstGeom prst="rect">
            <a:avLst>
              <a:gd name="adj" fmla="val 3333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人間が比較・評価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1508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「こちらが正確で丁寧」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と順位をつける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72200" y="1005840"/>
            <a:ext cx="2468880" cy="1371600"/>
          </a:xfrm>
          <a:prstGeom prst="rect">
            <a:avLst>
              <a:gd name="adj" fmla="val 3333"/>
            </a:avLst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報酬で調整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良い回答パターンを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強化する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651760"/>
            <a:ext cx="777240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6517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結果: 「次の言葉を予測」だけでなく「人間に役立つ回答」を生成する方向に進化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推論の仕組み -- 確率的に次の単語を選ぶ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入力: 「日本の首都は」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1554480"/>
            <a:ext cx="5029200" cy="228600"/>
          </a:xfrm>
          <a:prstGeom prst="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1508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京都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1965960"/>
            <a:ext cx="822960" cy="228600"/>
          </a:xfrm>
          <a:prstGeom prst="rect">
            <a:avLst>
              <a:gd name="adj" fmla="val 12000"/>
            </a:avLst>
          </a:prstGeom>
          <a:solidFill>
            <a:srgbClr val="93C5FD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74520" y="2377440"/>
            <a:ext cx="548640" cy="228600"/>
          </a:xfrm>
          <a:prstGeom prst="rect">
            <a:avLst>
              <a:gd name="adj" fmla="val 12000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2331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926080"/>
            <a:ext cx="36576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926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低い: 確実な回答（事実確認向き）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926080"/>
            <a:ext cx="3657600" cy="502920"/>
          </a:xfrm>
          <a:prstGeom prst="rect">
            <a:avLst>
              <a:gd name="adj" fmla="val 9091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26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高い: 創造的な回答（ブレスト向き）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-- なぜ高性能なのか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0058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アテンション（注意機構） -- 文中の単語間の関連度を計算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645920"/>
            <a:ext cx="3657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「銀行に行った。お金を下ろす。」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194560"/>
            <a:ext cx="338328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 + お金 -&gt; 金融機関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64592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645920"/>
            <a:ext cx="36576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「銀行に行った。魚を釣る。」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338328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 + 釣り -&gt; 川の土手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2017年 Google「Attention Is All You Need」以降、全主要モデルが採用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8872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生成AIが得意なこと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05840"/>
            <a:ext cx="3657600" cy="45720"/>
          </a:xfrm>
          <a:prstGeom prst="rect">
            <a:avLst/>
          </a:prstGeom>
          <a:solidFill>
            <a:srgbClr val="98D4B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文章作成・要約・翻訳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メール下書き、報告書、多言語翻訳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00584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1005840"/>
            <a:ext cx="3657600" cy="45720"/>
          </a:xfrm>
          <a:prstGeom prst="rect">
            <a:avLst/>
          </a:prstGeom>
          <a:solidFill>
            <a:srgbClr val="C7B8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アイデアの壁打ち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7492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企画ブレスト、多角的な提案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219456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2194560"/>
            <a:ext cx="3657600" cy="45720"/>
          </a:xfrm>
          <a:prstGeom prst="rect">
            <a:avLst/>
          </a:prstGeom>
          <a:solidFill>
            <a:srgbClr val="A8D8E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情報の整理・構造化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4300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議事録整理、分類、表形式変換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17720" y="219456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17720" y="2194560"/>
            <a:ext cx="3657600" cy="45720"/>
          </a:xfrm>
          <a:prstGeom prst="rect">
            <a:avLst/>
          </a:prstGeom>
          <a:solidFill>
            <a:srgbClr val="FFE6A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7744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74920" y="2331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コード生成・説明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07492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プログラム作成、既存コード解説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85800" y="3383280"/>
            <a:ext cx="77724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" y="33832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共通点: 「既存パターンの組み合わせ」で対応できるタスク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8016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生成AIの限界1: ハルシネーション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0058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事実でない情報をもっともらしく生成してしまう現象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なぜ起きるのか?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AIは「事実かどうか」を確認する機能を持たない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「次に来そうな言葉」を選んでいるだけ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パターンに従って自然な文を作るが、事実性は無関係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017520"/>
            <a:ext cx="77724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実例: 米国の弁護士がChatGPTで判例調査 -&gt; 架空の判例を6件引用し裁判所で問題に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716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生成AIの限界2: 最新情報・計算・倫理判断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005840"/>
            <a:ext cx="45720" cy="6400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最新情報を知らない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1325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学習データの締め切り以降の出来事は未知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1783080"/>
            <a:ext cx="45720" cy="6400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計算が苦手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28016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電卓ではなく言葉の予測エンジン。桁数増で誤り増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2560320"/>
            <a:ext cx="7772400" cy="640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Shape 16"/>
          <p:cNvSpPr/>
          <p:nvPr/>
        </p:nvSpPr>
        <p:spPr>
          <a:xfrm>
            <a:off x="685800" y="2560320"/>
            <a:ext cx="45720" cy="6400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倫理判断ができない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80160" y="2880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善悪の価値判断は本質的に不可能。パターンに過ぎない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85800" y="3383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全て「次の言葉を予測する」仕組みから来る構造的な限界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972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仕組みを知ると使い方が変わる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657600" cy="914400"/>
          </a:xfrm>
          <a:prstGeom prst="rect">
            <a:avLst>
              <a:gd name="adj" fmla="val 5000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051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AIを万能ツールとして使う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ハルシネーションに振り回される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3657600" cy="914400"/>
          </a:xfrm>
          <a:prstGeom prst="rect">
            <a:avLst>
              <a:gd name="adj" fmla="val 5000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51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得意分野に絞って使う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高い成果を安定的に出せる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194560"/>
            <a:ext cx="237744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267712"/>
            <a:ext cx="228600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" y="25420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下書き利用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724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AIの出力は必ず人間が編集・確認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37560" y="2194560"/>
            <a:ext cx="237744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267712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429000" y="25420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42900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数字・日付・人名は一次情報で裏取り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89320" y="2194560"/>
            <a:ext cx="237744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67712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80760" y="254203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壁打ち活用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0807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アイデア発散・論点整理に最適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8016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主要モデルの比較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155448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005840"/>
            <a:ext cx="210312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005840"/>
            <a:ext cx="246888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86600" y="1005840"/>
            <a:ext cx="164592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公開形態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1371600"/>
            <a:ext cx="155448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GPT-5.3 / o3-pro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31720" y="1371600"/>
            <a:ext cx="21031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26280" y="1371600"/>
            <a:ext cx="246888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371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汎用+推論特化の二本柱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1371600"/>
            <a:ext cx="16459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371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有料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1755648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17556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31720" y="17556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1755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26280" y="1755648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安全性重視、100万トークン対応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175564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17556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有料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2139696"/>
            <a:ext cx="155448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1396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331720" y="2139696"/>
            <a:ext cx="21031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21396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26280" y="2139696"/>
            <a:ext cx="246888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1396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検索統合、最新情報対応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86600" y="2139696"/>
            <a:ext cx="16459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21396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無料有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2523744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25237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331720" y="252374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25237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26280" y="2523744"/>
            <a:ext cx="2468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25237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オープンソース、自社運用可能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086600" y="252374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25237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無料公開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" y="2907792"/>
            <a:ext cx="155448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29077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V3/R1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331720" y="2907792"/>
            <a:ext cx="21031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23160" y="2907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26280" y="2907792"/>
            <a:ext cx="246888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29077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低コスト高推論、OSS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086600" y="2907792"/>
            <a:ext cx="16459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040" y="29077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無料公開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5800" y="3383280"/>
            <a:ext cx="7772400" cy="3657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8" name="Text 56"/>
          <p:cNvSpPr/>
          <p:nvPr/>
        </p:nvSpPr>
        <p:spPr>
          <a:xfrm>
            <a:off x="868680" y="33832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根本は同じTransformerベース。学習データとRLHFの方針で「味付け」が異なる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91640" y="10058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生成AIの正体は「次の単語を予測する」仕組み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1783080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18745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691640" y="17830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大量データからパターンを学習し、RLHFで磨かれる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7772400" cy="594360"/>
          </a:xfrm>
          <a:prstGeom prst="rect">
            <a:avLst>
              <a:gd name="adj" fmla="val 7692"/>
            </a:avLst>
          </a:prstGeom>
          <a:solidFill>
            <a:srgbClr val="D1FA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65176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691640" y="25603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得意分野で活用し、限界を理解して使いこなす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286000" y="347472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22860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確認テストに挑戦 -&gt; 5問中4問正解で修了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確認テストに進みましょう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A-102   生成AIの仕組み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A-102: 生成AIの仕組み〜なぜ文章が書けるのか</dc:title>
  <dc:subject>PptxGenJS Presentation</dc:subject>
  <dc:creator>Gorilla Knowledge</dc:creator>
  <cp:lastModifiedBy>Gorilla Knowledge</cp:lastModifiedBy>
  <cp:revision>1</cp:revision>
  <dcterms:created xsi:type="dcterms:W3CDTF">2026-03-30T12:00:17Z</dcterms:created>
  <dcterms:modified xsi:type="dcterms:W3CDTF">2026-03-30T12:00:17Z</dcterms:modified>
</cp:coreProperties>
</file>