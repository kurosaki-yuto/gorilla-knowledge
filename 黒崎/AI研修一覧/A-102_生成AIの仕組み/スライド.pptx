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82296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554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生成AIの仕組み</a:t>
            </a:r>
            <a:endParaRPr lang="en-US" sz="4000" dirty="0"/>
          </a:p>
        </p:txBody>
      </p:sp>
      <p:sp>
        <p:nvSpPr>
          <p:cNvPr id="4" name="Shape 1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2606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なぜ文章が書けるのか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A-102   |   全社員向け入門   |   20分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371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今日のゴール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105156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100584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LLMの基本原理を平易に説明できる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173736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5740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201168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AIが学習データからパターンを学ぶ仕組みを理解する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274320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06324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25880" y="30175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生成AIの「できること」と「仕組み上の限界」を区別できる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46304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生成AIは何をしている?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1005840"/>
            <a:ext cx="7772400" cy="45720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005840"/>
            <a:ext cx="7406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「次に来る言葉を予測する」を繰り返しているだけ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68680" y="1737360"/>
            <a:ext cx="1307592" cy="411480"/>
          </a:xfrm>
          <a:prstGeom prst="roundRect">
            <a:avLst>
              <a:gd name="adj" fmla="val 11111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1737360"/>
            <a:ext cx="1307592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今日の天気は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267712" y="173736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24912" y="1737360"/>
            <a:ext cx="649224" cy="411480"/>
          </a:xfrm>
          <a:prstGeom prst="roundRect">
            <a:avLst>
              <a:gd name="adj" fmla="val 11111"/>
            </a:avLst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24912" y="1737360"/>
            <a:ext cx="649224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晴れ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465576" y="173736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922776" y="1737360"/>
            <a:ext cx="649224" cy="411480"/>
          </a:xfrm>
          <a:prstGeom prst="roundRect">
            <a:avLst>
              <a:gd name="adj" fmla="val 11111"/>
            </a:avLst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922776" y="1737360"/>
            <a:ext cx="649224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63440" y="173736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120640" y="1737360"/>
            <a:ext cx="484632" cy="411480"/>
          </a:xfrm>
          <a:prstGeom prst="roundRect">
            <a:avLst>
              <a:gd name="adj" fmla="val 11111"/>
            </a:avLst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20640" y="1737360"/>
            <a:ext cx="484632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4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468880"/>
            <a:ext cx="274320" cy="27432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051560" y="2468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スマホの予測変換の超高性能版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85800" y="2926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「考えている」のではなく、統計的に最もありそうな言葉を選んでいる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09728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TERM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-- 大規模言語モデルの全体像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914400" y="1005840"/>
            <a:ext cx="22860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005840"/>
            <a:ext cx="2286000" cy="45720"/>
          </a:xfrm>
          <a:prstGeom prst="rect">
            <a:avLst/>
          </a:prstGeom>
          <a:solidFill>
            <a:srgbClr val="2563EB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0240" y="1234440"/>
            <a:ext cx="274320" cy="2743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005840" y="164592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= Large（大規模）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21031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数兆語のテキストを学習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429000" y="1005840"/>
            <a:ext cx="22860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29000" y="1005840"/>
            <a:ext cx="2286000" cy="45720"/>
          </a:xfrm>
          <a:prstGeom prst="rect">
            <a:avLst/>
          </a:prstGeom>
          <a:solidFill>
            <a:srgbClr val="2563EB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23444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520440" y="164592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= Language（言語）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3520440" y="21031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言葉のパターンを扱う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943600" y="1005840"/>
            <a:ext cx="22860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943600" y="1005840"/>
            <a:ext cx="2286000" cy="45720"/>
          </a:xfrm>
          <a:prstGeom prst="rect">
            <a:avLst/>
          </a:prstGeom>
          <a:solidFill>
            <a:srgbClr val="2563EB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234440"/>
            <a:ext cx="274320" cy="27432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035040" y="164592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Model（モデル）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6035040" y="21031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パターンを数式で表現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685800" y="3108960"/>
            <a:ext cx="7772400" cy="4114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25" name="Text 20"/>
          <p:cNvSpPr/>
          <p:nvPr/>
        </p:nvSpPr>
        <p:spPr>
          <a:xfrm>
            <a:off x="868680" y="3108960"/>
            <a:ext cx="74066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「世界中の図書館の本を読んだ人」のようなもの。ただし「理解」ではなくパターン記憶。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91440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学習ステップ1: 大量のテキストを読み込む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1005840"/>
            <a:ext cx="2377440" cy="822960"/>
          </a:xfrm>
          <a:prstGeom prst="rect">
            <a:avLst>
              <a:gd name="adj" fmla="val 5556"/>
            </a:avLst>
          </a:prstGeom>
          <a:solidFill>
            <a:srgbClr val="DBEAFE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0058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数十兆+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85800" y="14630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トークン（最新モデル推定）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37560" y="1005840"/>
            <a:ext cx="2377440" cy="822960"/>
          </a:xfrm>
          <a:prstGeom prst="rect">
            <a:avLst>
              <a:gd name="adj" fmla="val 5556"/>
            </a:avLst>
          </a:prstGeom>
          <a:solidFill>
            <a:srgbClr val="DBEAFE"/>
          </a:solidFill>
          <a:ln/>
        </p:spPr>
      </p:sp>
      <p:sp>
        <p:nvSpPr>
          <p:cNvPr id="13" name="Text 11"/>
          <p:cNvSpPr/>
          <p:nvPr/>
        </p:nvSpPr>
        <p:spPr>
          <a:xfrm>
            <a:off x="3337560" y="10058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数百万冊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337560" y="14630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書籍相当のテキスト量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89320" y="1005840"/>
            <a:ext cx="2377440" cy="822960"/>
          </a:xfrm>
          <a:prstGeom prst="rect">
            <a:avLst>
              <a:gd name="adj" fmla="val 5556"/>
            </a:avLst>
          </a:prstGeom>
          <a:solidFill>
            <a:srgbClr val="DBEAFE"/>
          </a:solidFill>
          <a:ln/>
        </p:spPr>
      </p:sp>
      <p:sp>
        <p:nvSpPr>
          <p:cNvPr id="16" name="Text 14"/>
          <p:cNvSpPr/>
          <p:nvPr/>
        </p:nvSpPr>
        <p:spPr>
          <a:xfrm>
            <a:off x="5989320" y="10058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約90%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989320" y="14630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英語データの比率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5800" y="210312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21031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ニュース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651760" y="210312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51760" y="21031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書籍 / 論文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17720" y="210312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17720" y="21031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コード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583680" y="210312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21031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/ フォーラム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85800" y="2743200"/>
            <a:ext cx="7772400" cy="4114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27" name="Text 25"/>
          <p:cNvSpPr/>
          <p:nvPr/>
        </p:nvSpPr>
        <p:spPr>
          <a:xfrm>
            <a:off x="868680" y="2743200"/>
            <a:ext cx="74066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データの質がAIの質を決める。偏り・誤情報も一緒に学習してしまう。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91440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学習ステップ2: 穴埋め問題を解いて学ぶ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1005840"/>
            <a:ext cx="7772400" cy="457200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005840"/>
            <a:ext cx="7406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「今日は天気が ＿＿ ので公園に行った」 -&gt; 「よい」を予測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169164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43000" y="16916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最初はデタラメな回答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114800" y="16916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ランダムに近い予測からスタート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219456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43000" y="21945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正解と比較して修正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114800" y="2194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誤差を計算し、パラメータを微調整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269748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43000" y="26974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何兆回も繰り返す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114800" y="2697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だんだん正確な予測ができるように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3246120"/>
            <a:ext cx="7772400" cy="41148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3246120"/>
            <a:ext cx="74066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パラメータ（調整つまみ）: 最新モデルは数兆個規模。最適値を見つける作業が「学習」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55448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/ RLHF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学習ステップ3: 人間のフィードバックで磨く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1005840"/>
            <a:ext cx="2468880" cy="1371600"/>
          </a:xfrm>
          <a:prstGeom prst="rect">
            <a:avLst>
              <a:gd name="adj" fmla="val 3333"/>
            </a:avLst>
          </a:prstGeom>
          <a:solidFill>
            <a:srgbClr val="DBEAFE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0515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AIが複数回答を生成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150876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同じ質問に対して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複数パターンを出力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108960" y="1417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3429000" y="1005840"/>
            <a:ext cx="2468880" cy="1371600"/>
          </a:xfrm>
          <a:prstGeom prst="rect">
            <a:avLst>
              <a:gd name="adj" fmla="val 3333"/>
            </a:avLst>
          </a:prstGeom>
          <a:solidFill>
            <a:srgbClr val="D1FAE5"/>
          </a:solidFill>
          <a:ln/>
        </p:spPr>
      </p:sp>
      <p:sp>
        <p:nvSpPr>
          <p:cNvPr id="14" name="Text 12"/>
          <p:cNvSpPr/>
          <p:nvPr/>
        </p:nvSpPr>
        <p:spPr>
          <a:xfrm>
            <a:off x="3520440" y="10515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人間が比較・評価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20440" y="150876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「こちらが正確で丁寧」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と順位をつける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852160" y="1417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172200" y="1005840"/>
            <a:ext cx="2468880" cy="1371600"/>
          </a:xfrm>
          <a:prstGeom prst="rect">
            <a:avLst>
              <a:gd name="adj" fmla="val 3333"/>
            </a:avLst>
          </a:prstGeom>
          <a:solidFill>
            <a:srgbClr val="FEF3C7"/>
          </a:solidFill>
          <a:ln/>
        </p:spPr>
      </p:sp>
      <p:sp>
        <p:nvSpPr>
          <p:cNvPr id="18" name="Text 16"/>
          <p:cNvSpPr/>
          <p:nvPr/>
        </p:nvSpPr>
        <p:spPr>
          <a:xfrm>
            <a:off x="6263640" y="10515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報酬で調整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63640" y="150876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良い回答パターンを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強化する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651760"/>
            <a:ext cx="7772400" cy="4572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2651760"/>
            <a:ext cx="7406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結果: 「次の言葉を予測」だけでなく「人間に役立つ回答」を生成する方向に進化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18872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推論の仕組み -- 確率的に次の単語を選ぶ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10058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入力: 「日本の首都は」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15087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東京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874520" y="1554480"/>
            <a:ext cx="5029200" cy="228600"/>
          </a:xfrm>
          <a:prstGeom prst="rect">
            <a:avLst>
              <a:gd name="adj" fmla="val 12000"/>
            </a:avLst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6995160" y="15087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92%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5800" y="192024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京都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874520" y="1965960"/>
            <a:ext cx="822960" cy="228600"/>
          </a:xfrm>
          <a:prstGeom prst="rect">
            <a:avLst>
              <a:gd name="adj" fmla="val 12000"/>
            </a:avLst>
          </a:prstGeom>
          <a:solidFill>
            <a:srgbClr val="93C5FD"/>
          </a:solidFill>
          <a:ln/>
        </p:spPr>
      </p:sp>
      <p:sp>
        <p:nvSpPr>
          <p:cNvPr id="15" name="Text 13"/>
          <p:cNvSpPr/>
          <p:nvPr/>
        </p:nvSpPr>
        <p:spPr>
          <a:xfrm>
            <a:off x="2788920" y="192024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85800" y="23317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大阪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874520" y="2377440"/>
            <a:ext cx="548640" cy="228600"/>
          </a:xfrm>
          <a:prstGeom prst="rect">
            <a:avLst>
              <a:gd name="adj" fmla="val 12000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/>
          <p:nvPr/>
        </p:nvSpPr>
        <p:spPr>
          <a:xfrm>
            <a:off x="2514600" y="23317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5800" y="2926080"/>
            <a:ext cx="3657600" cy="502920"/>
          </a:xfrm>
          <a:prstGeom prst="rect">
            <a:avLst>
              <a:gd name="adj" fmla="val 9091"/>
            </a:avLst>
          </a:prstGeom>
          <a:solidFill>
            <a:srgbClr val="DBEAFE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292608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低い: 確実な回答（事実確認向き）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17720" y="2926080"/>
            <a:ext cx="3657600" cy="502920"/>
          </a:xfrm>
          <a:prstGeom prst="rect">
            <a:avLst>
              <a:gd name="adj" fmla="val 9091"/>
            </a:avLst>
          </a:prstGeom>
          <a:solidFill>
            <a:srgbClr val="FEF3C7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292608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高い: 創造的な回答（ブレスト向き）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46304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-- なぜ高性能なのか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1005840"/>
            <a:ext cx="7772400" cy="41148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005840"/>
            <a:ext cx="74066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核心: アテンション（注意機構） -- 文中の単語間の関連度を計算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1645920"/>
            <a:ext cx="36576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1645920"/>
            <a:ext cx="365760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17373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「銀行に行った。お金を下ろす。」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2194560"/>
            <a:ext cx="3383280" cy="32004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2194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銀行 + お金 -&gt; 金融機関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17720" y="1645920"/>
            <a:ext cx="36576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17720" y="1645920"/>
            <a:ext cx="3657600" cy="457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4754880" y="17373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「銀行に行った。魚を釣る。」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54880" y="2194560"/>
            <a:ext cx="3383280" cy="32004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2194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銀行 + 釣り -&gt; 川の土手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2926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2017年 Google「Attention Is All You Need」以降、全主要モデルが採用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18872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生成AIが得意なこと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1005840"/>
            <a:ext cx="36576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1005840"/>
            <a:ext cx="3657600" cy="45720"/>
          </a:xfrm>
          <a:prstGeom prst="rect">
            <a:avLst/>
          </a:prstGeom>
          <a:solidFill>
            <a:srgbClr val="98D4BB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188720"/>
            <a:ext cx="228600" cy="2286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43000" y="114300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文章作成・要約・翻訳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43000" y="150876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メール下書き、報告書、多言語翻訳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617720" y="1005840"/>
            <a:ext cx="36576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617720" y="1005840"/>
            <a:ext cx="3657600" cy="45720"/>
          </a:xfrm>
          <a:prstGeom prst="rect">
            <a:avLst/>
          </a:prstGeom>
          <a:solidFill>
            <a:srgbClr val="C7B8EA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0"/>
            <a:ext cx="228600" cy="2286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074920" y="114300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アイデアの壁打ち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5074920" y="150876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企画ブレスト、多角的な提案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85800" y="2194560"/>
            <a:ext cx="36576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85800" y="2194560"/>
            <a:ext cx="3657600" cy="45720"/>
          </a:xfrm>
          <a:prstGeom prst="rect">
            <a:avLst/>
          </a:prstGeom>
          <a:solidFill>
            <a:srgbClr val="A8D8EA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377440"/>
            <a:ext cx="228600" cy="22860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143000" y="23317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情報の整理・構造化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1143000" y="26974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議事録整理、分類、表形式変換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4617720" y="2194560"/>
            <a:ext cx="36576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617720" y="2194560"/>
            <a:ext cx="3657600" cy="45720"/>
          </a:xfrm>
          <a:prstGeom prst="rect">
            <a:avLst/>
          </a:prstGeom>
          <a:solidFill>
            <a:srgbClr val="FFE6A7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377440"/>
            <a:ext cx="228600" cy="22860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074920" y="23317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コード生成・説明</a:t>
            </a:r>
            <a:endParaRPr lang="en-US" sz="1400" dirty="0"/>
          </a:p>
        </p:txBody>
      </p:sp>
      <p:sp>
        <p:nvSpPr>
          <p:cNvPr id="28" name="Text 22"/>
          <p:cNvSpPr/>
          <p:nvPr/>
        </p:nvSpPr>
        <p:spPr>
          <a:xfrm>
            <a:off x="5074920" y="26974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プログラム作成、既存コード解説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685800" y="3383280"/>
            <a:ext cx="7772400" cy="36576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30" name="Text 24"/>
          <p:cNvSpPr/>
          <p:nvPr/>
        </p:nvSpPr>
        <p:spPr>
          <a:xfrm>
            <a:off x="868680" y="3383280"/>
            <a:ext cx="7406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共通点: 「既存パターンの組み合わせ」で対応できるタスク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28016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生成AIの限界1: ハルシネーション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1005840"/>
            <a:ext cx="7772400" cy="41148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005840"/>
            <a:ext cx="74066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事実でない情報をもっともらしく生成してしまう現象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16002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なぜ起きるのか?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1965960"/>
            <a:ext cx="74066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AIは「事実かどうか」を確認する機能を持たない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2286000"/>
            <a:ext cx="74066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「次に来そうな言葉」を選んでいるだけ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2606040"/>
            <a:ext cx="74066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パターンに従って自然な文を作るが、事実性は無関係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017520"/>
            <a:ext cx="7772400" cy="45720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017520"/>
            <a:ext cx="7406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実例: 米国の弁護士がChatGPTで判例調査 -&gt; 架空の判例を6件引用し裁判所で問題に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37160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生成AIの限界2: 最新情報・計算・倫理判断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1005840"/>
            <a:ext cx="77724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1005840"/>
            <a:ext cx="45720" cy="640080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143000"/>
            <a:ext cx="274320" cy="2743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280160" y="1005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最新情報を知らない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280160" y="1325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学習データの締め切り以降の出来事は未知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1783080"/>
            <a:ext cx="77724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5" name="Shape 12"/>
          <p:cNvSpPr/>
          <p:nvPr/>
        </p:nvSpPr>
        <p:spPr>
          <a:xfrm>
            <a:off x="685800" y="1783080"/>
            <a:ext cx="45720" cy="640080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280160" y="1783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計算が苦手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1280160" y="21031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電卓ではなく言葉の予測エンジン。桁数増で誤り増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85800" y="2560320"/>
            <a:ext cx="7772400" cy="64008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20" name="Shape 16"/>
          <p:cNvSpPr/>
          <p:nvPr/>
        </p:nvSpPr>
        <p:spPr>
          <a:xfrm>
            <a:off x="685800" y="2560320"/>
            <a:ext cx="45720" cy="640080"/>
          </a:xfrm>
          <a:prstGeom prst="rect">
            <a:avLst/>
          </a:prstGeom>
          <a:solidFill>
            <a:srgbClr val="DC2626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97480"/>
            <a:ext cx="274320" cy="27432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280160" y="2560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倫理判断ができない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1280160" y="28803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善悪の価値判断は本質的に不可能。パターンに過ぎない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685800" y="33832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全て「次の言葉を予測する」仕組みから来る構造的な限界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09728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仕組みを知ると使い方が変わる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1005840"/>
            <a:ext cx="3657600" cy="914400"/>
          </a:xfrm>
          <a:prstGeom prst="rect">
            <a:avLst>
              <a:gd name="adj" fmla="val 5000"/>
            </a:avLst>
          </a:prstGeom>
          <a:solidFill>
            <a:srgbClr val="FEE2E2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0515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12801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AIを万能ツールとして使う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1554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ハルシネーションに振り回される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17720" y="1005840"/>
            <a:ext cx="3657600" cy="914400"/>
          </a:xfrm>
          <a:prstGeom prst="rect">
            <a:avLst>
              <a:gd name="adj" fmla="val 5000"/>
            </a:avLst>
          </a:prstGeom>
          <a:solidFill>
            <a:srgbClr val="D1FAE5"/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0" y="10515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0" y="12801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得意分野に絞って使う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54880" y="1554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高い成果を安定的に出せる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2194560"/>
            <a:ext cx="2377440" cy="914400"/>
          </a:xfrm>
          <a:prstGeom prst="rect">
            <a:avLst>
              <a:gd name="adj" fmla="val 5000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0" y="2267712"/>
            <a:ext cx="228600" cy="22860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777240" y="254203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下書き利用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77240" y="2788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AIの出力は必ず人間が編集・確認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3337560" y="2194560"/>
            <a:ext cx="2377440" cy="914400"/>
          </a:xfrm>
          <a:prstGeom prst="rect">
            <a:avLst>
              <a:gd name="adj" fmla="val 5000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2267712"/>
            <a:ext cx="228600" cy="22860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3429000" y="254203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ファクトチェック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3429000" y="2788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数字・日付・人名は一次情報で裏取り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5989320" y="2194560"/>
            <a:ext cx="2377440" cy="914400"/>
          </a:xfrm>
          <a:prstGeom prst="rect">
            <a:avLst>
              <a:gd name="adj" fmla="val 5000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2267712"/>
            <a:ext cx="228600" cy="22860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6080760" y="254203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壁打ち活用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6080760" y="2788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アイデア発散・論点整理に最適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28016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主要モデルの比較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1005840"/>
            <a:ext cx="1554480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0058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モデル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331720" y="1005840"/>
            <a:ext cx="2103120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2423160" y="1005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開発元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26280" y="1005840"/>
            <a:ext cx="2468880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/>
          <p:nvPr/>
        </p:nvSpPr>
        <p:spPr>
          <a:xfrm>
            <a:off x="4617720" y="10058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特徴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086600" y="1005840"/>
            <a:ext cx="1645920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7178040" y="10058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公開形態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1417320"/>
            <a:ext cx="1554480" cy="411480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141732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GPT-5.3 / o3-pro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331720" y="1417320"/>
            <a:ext cx="2103120" cy="411480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23160" y="14173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26280" y="1417320"/>
            <a:ext cx="2468880" cy="411480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17720" y="14173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汎用+推論特化の二本柱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086600" y="1417320"/>
            <a:ext cx="1645920" cy="411480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78040" y="14173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/ 有料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85800" y="1874520"/>
            <a:ext cx="15544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187452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4.6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331720" y="1874520"/>
            <a:ext cx="210312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23160" y="18745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26280" y="1874520"/>
            <a:ext cx="24688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17720" y="18745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安全性重視、100万トークン対応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086600" y="1874520"/>
            <a:ext cx="164592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78040" y="18745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/ 有料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85800" y="2331720"/>
            <a:ext cx="1554480" cy="411480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7240" y="233172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3.1 Pro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331720" y="2331720"/>
            <a:ext cx="2103120" cy="411480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423160" y="23317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526280" y="2331720"/>
            <a:ext cx="2468880" cy="411480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17720" y="23317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検索統合、最新情報対応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7086600" y="2331720"/>
            <a:ext cx="1645920" cy="411480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178040" y="2331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/ 無料有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85800" y="2788920"/>
            <a:ext cx="15544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7240" y="278892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4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2331720" y="2788920"/>
            <a:ext cx="210312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423160" y="27889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26280" y="2788920"/>
            <a:ext cx="24688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17720" y="27889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オープンソース、自社運用可能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7086600" y="2788920"/>
            <a:ext cx="164592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78040" y="27889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無料公開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85800" y="3246120"/>
            <a:ext cx="1554480" cy="411480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7240" y="324612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V3/R1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2331720" y="3246120"/>
            <a:ext cx="2103120" cy="411480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423160" y="32461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526280" y="3246120"/>
            <a:ext cx="2468880" cy="411480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0" y="32461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低コスト高推論、OSS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7086600" y="3246120"/>
            <a:ext cx="1645920" cy="411480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040" y="32461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無料公開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85800" y="3474720"/>
            <a:ext cx="7772400" cy="36576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58" name="Text 56"/>
          <p:cNvSpPr/>
          <p:nvPr/>
        </p:nvSpPr>
        <p:spPr>
          <a:xfrm>
            <a:off x="868680" y="3474720"/>
            <a:ext cx="7406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根本は同じTransformerベース。学習データとRLHFの方針で「味付け」が異なる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371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まとめ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" y="1005840"/>
            <a:ext cx="7772400" cy="594360"/>
          </a:xfrm>
          <a:prstGeom prst="rect">
            <a:avLst>
              <a:gd name="adj" fmla="val 7692"/>
            </a:avLst>
          </a:prstGeom>
          <a:solidFill>
            <a:srgbClr val="DBEAFE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143000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88720" y="109728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691640" y="1005840"/>
            <a:ext cx="65836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生成AIの正体は「次の単語を予測する」仕組み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85800" y="1783080"/>
            <a:ext cx="7772400" cy="594360"/>
          </a:xfrm>
          <a:prstGeom prst="rect">
            <a:avLst>
              <a:gd name="adj" fmla="val 7692"/>
            </a:avLst>
          </a:prstGeom>
          <a:solidFill>
            <a:srgbClr val="DBEAF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2024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88720" y="187452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1691640" y="1783080"/>
            <a:ext cx="65836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大量データからパターンを学習し、RLHFで磨かれる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85800" y="2560320"/>
            <a:ext cx="7772400" cy="594360"/>
          </a:xfrm>
          <a:prstGeom prst="rect">
            <a:avLst>
              <a:gd name="adj" fmla="val 7692"/>
            </a:avLst>
          </a:prstGeom>
          <a:solidFill>
            <a:srgbClr val="D1FAE5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69748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88720" y="2651760"/>
            <a:ext cx="320040" cy="320040"/>
          </a:xfrm>
          <a:prstGeom prst="ellipse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1691640" y="2560320"/>
            <a:ext cx="65836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得意分野で活用し、限界を理解して使いこなす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2286000" y="3474720"/>
            <a:ext cx="4572000" cy="45720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/>
        </p:spPr>
      </p:sp>
      <p:sp>
        <p:nvSpPr>
          <p:cNvPr id="20" name="Text 15"/>
          <p:cNvSpPr/>
          <p:nvPr/>
        </p:nvSpPr>
        <p:spPr>
          <a:xfrm>
            <a:off x="2286000" y="34747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確認テストに挑戦 -&gt; 5問中4問正解で修了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お疲れさまでした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3200400" y="2286000"/>
            <a:ext cx="2743200" cy="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確認テストに進みましょう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A-102   生成AIの仕組み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A-102: 生成AIの仕組み〜なぜ文章が書けるのか</dc:title>
  <dc:subject>PptxGenJS Presentation</dc:subject>
  <dc:creator>Gorilla Knowledge</dc:creator>
  <cp:lastModifiedBy>Gorilla Knowledge</cp:lastModifiedBy>
  <cp:revision>1</cp:revision>
  <dcterms:created xsi:type="dcterms:W3CDTF">2026-03-29T14:44:28Z</dcterms:created>
  <dcterms:modified xsi:type="dcterms:W3CDTF">2026-03-29T14:44:28Z</dcterms:modified>
</cp:coreProperties>
</file>