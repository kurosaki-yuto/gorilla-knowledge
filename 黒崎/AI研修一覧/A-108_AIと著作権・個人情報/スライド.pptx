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AIと著作権・個人情報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AI時代に知っておくべき法的リスクと対策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   |   全社員向け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AI利用時の著作権リスク（学習データの著作権、生成物の著作権）を説明できる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192024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個人情報・機密情報をAIに入力する際のリスクと対策を理解する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17320" y="2971800"/>
            <a:ext cx="658368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企業としてAIを安全に利用するためのルールを設計する視点を持てる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2340864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AIと著作権 — 2つの問題を区別する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657600" cy="1463040"/>
          </a:xfrm>
          <a:prstGeom prst="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54864" cy="146304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問題A: 学習データの著作権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1783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他人の著作物をAIが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学習に使うのは合法か？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00600" y="1371600"/>
            <a:ext cx="3657600" cy="1463040"/>
          </a:xfrm>
          <a:prstGeom prst="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371600"/>
            <a:ext cx="54864" cy="14630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問題B: 生成物の著作権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83480" y="1783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AIが作ったものに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著作権は発生するか？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931920" y="16459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685800" y="3200400"/>
            <a:ext cx="7772400" cy="548640"/>
          </a:xfrm>
          <a:prstGeom prst="rect">
            <a:avLst>
              <a:gd name="adj" fmla="val 13333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dash"/>
          </a:ln>
        </p:spPr>
      </p:sp>
      <p:sp>
        <p:nvSpPr>
          <p:cNvPr id="21" name="Text 17"/>
          <p:cNvSpPr/>
          <p:nvPr/>
        </p:nvSpPr>
        <p:spPr>
          <a:xfrm>
            <a:off x="68580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この2つは別の問題 — 混同しないことが重要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792224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学習データの著作権 — 著作権法30条の4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822960"/>
          </a:xfrm>
          <a:prstGeom prst="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54864" cy="822960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481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日本: 原則OK — 「情報解析」目的での著作物利用は認められる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2377440"/>
            <a:ext cx="7772400" cy="822960"/>
          </a:xfrm>
          <a:prstGeom prst="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2377440"/>
            <a:ext cx="54864" cy="822960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146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80160" y="24871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ただし例外 — 「著作権者の利益を不当に害する場合」は不可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3383280"/>
            <a:ext cx="7772400" cy="9144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383280"/>
            <a:ext cx="54864" cy="91440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2044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4930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海外では訴訟が進行中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8680" y="37947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Getty Images vs Stability AI / New York Times vs OpenAI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353312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AI生成物に著作権はあるか？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人間の関与度で著作権の有無が変わる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645920"/>
            <a:ext cx="2468880" cy="1097280"/>
          </a:xfrm>
          <a:prstGeom prst="rect">
            <a:avLst>
              <a:gd name="adj" fmla="val 6667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著作権なし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AIに丸投げ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2468880" cy="1097280"/>
          </a:xfrm>
          <a:prstGeom prst="rect">
            <a:avLst>
              <a:gd name="adj" fmla="val 6667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グレーゾーン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詳細指示+修正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80760" y="1645920"/>
            <a:ext cx="2468880" cy="109728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著作権あり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2194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人間が主体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108960"/>
            <a:ext cx="7772400" cy="731520"/>
          </a:xfrm>
          <a:prstGeom prst="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108960"/>
            <a:ext cx="54864" cy="731520"/>
          </a:xfrm>
          <a:prstGeom prst="rect">
            <a:avLst>
              <a:gd name="adj" fmla="val 50000"/>
            </a:avLst>
          </a:prstGeom>
          <a:solidFill>
            <a:srgbClr val="E5E7EB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46120"/>
            <a:ext cx="320040" cy="320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32186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著作権は「人間の思想や感情を創作的に表現したもの」に発生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792224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実務で注意すべき著作権リスク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学習データに酷似したコンテンツの出力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AI生成物を「自分のオリジナル」として公表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他者の著作物を入力し改変・翻案させる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1732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749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9377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外部公開前に類似コンテンツをチェック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93776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「AI作成」明記の社内ルール整備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他者著作物の入力は引用ルールを遵守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434840" y="1371600"/>
            <a:ext cx="0" cy="18288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57276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個人情報保護法とAI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237744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80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個人情報を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AIに入力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566160" y="1280160"/>
            <a:ext cx="237744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280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サービス提供者への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「第三者提供」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46520" y="1280160"/>
            <a:ext cx="2377440" cy="914400"/>
          </a:xfrm>
          <a:prstGeom prst="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2801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本人同意なしは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法律違反の可能性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2560320"/>
            <a:ext cx="7772400" cy="100584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560320"/>
            <a:ext cx="54864" cy="100584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9748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80160" y="26700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さらに: 学習データとして利用される可能性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" y="2971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多くのAIサービスはデフォルトで入力データをモデル改善に利用。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オプトアウトしない限りデータは残る。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68249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INPUT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AIに入力してはいけない情報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80160"/>
            <a:ext cx="2468880" cy="100584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80160"/>
            <a:ext cx="54864" cy="100584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389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顧客の個人情報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氏名・住所・連絡先・購買履歴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83280" y="1280160"/>
            <a:ext cx="2468880" cy="100584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280160"/>
            <a:ext cx="54864" cy="100584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77640" y="1389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社内の機密情報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56616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売上データ・戦略資料・未公開情報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80760" y="1280160"/>
            <a:ext cx="2468880" cy="100584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80760" y="1280160"/>
            <a:ext cx="54864" cy="100584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1732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1389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認証情報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6364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パスワード・APIキー・トークン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2514600"/>
            <a:ext cx="2468880" cy="100584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5800" y="2514600"/>
            <a:ext cx="54864" cy="100584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517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80160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社員の人事情報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6868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評価・給与・健康情報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383280" y="2514600"/>
            <a:ext cx="2468880" cy="1005840"/>
          </a:xfrm>
          <a:prstGeom prst="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383280" y="2514600"/>
            <a:ext cx="54864" cy="100584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65176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77640" y="2624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契約情報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3566160" y="2926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契約書・NDA内容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57276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PRACTICES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安全にAIを使うための5つの実践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1887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143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匿名化・抽象化してから入力する（固有名詞→「A社」「お客様」）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0160" y="169164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85800" y="184708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18013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社内承認済みのAIツールを使う（API版はデータ学習OFF設定が可能）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2350008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85800" y="2505456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45973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入力前に「外部に漏れても問題ないか？」と自問する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80160" y="3008376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85800" y="3163824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11810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AI生成物の外部公開前にダブルチェック（著作権+機密情報）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0160" y="3666744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85800" y="382219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77647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利用ログを残す（いつ・何を・どのAIで処理したか）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2121408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AI利用ガイドラインの4つの柱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3749040" cy="100584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34440"/>
            <a:ext cx="54864" cy="10058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1344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利用範囲の明確化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1645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どの業務で・どのAIツールを使ってよいか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1234440"/>
            <a:ext cx="3749040" cy="100584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1234440"/>
            <a:ext cx="54864" cy="10058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9240" y="1344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入力データの分類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37760" y="1645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公開/社内限定/機密/個人情報→レベル別ルール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85800" y="2468880"/>
            <a:ext cx="3749040" cy="100584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2468880"/>
            <a:ext cx="54864" cy="10058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060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生成物の取扱いルール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868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社内利用OK / 外部公開は承認制 / 商用は要審査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754880" y="2468880"/>
            <a:ext cx="3749040" cy="100584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754880" y="2468880"/>
            <a:ext cx="54864" cy="100584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0604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4924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インシデント対応フロー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937760" y="2880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報告先・初動対応・再発防止を事前に設計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85800" y="3840480"/>
            <a:ext cx="7772400" cy="502920"/>
          </a:xfrm>
          <a:prstGeom prst="rect">
            <a:avLst>
              <a:gd name="adj" fmla="val 14545"/>
            </a:avLst>
          </a:prstGeom>
          <a:solidFill>
            <a:srgbClr val="D1FAE5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3840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ガイドラインは「禁止」ではなく「安全に活用するための枠組み」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13385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今日のまとめ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188720"/>
            <a:ext cx="777240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188720"/>
            <a:ext cx="73152" cy="868680"/>
          </a:xfrm>
          <a:prstGeom prst="rect">
            <a:avLst>
              <a:gd name="adj" fmla="val 37500"/>
            </a:avLst>
          </a:prstGeom>
          <a:solidFill>
            <a:srgbClr val="C7B8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261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著作権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学習データと生成物の2つの問題を区別する。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生成物の著作権は人間の関与度で変わる。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2240280"/>
            <a:ext cx="777240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2240280"/>
            <a:ext cx="73152" cy="868680"/>
          </a:xfrm>
          <a:prstGeom prst="rect">
            <a:avLst>
              <a:gd name="adj" fmla="val 37500"/>
            </a:avLst>
          </a:prstGeom>
          <a:solidFill>
            <a:srgbClr val="F4B8C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17320" y="2313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個人情報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4173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外部AIへの個人情報入力は法的リスクあり。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匿名化・承認済みツール利用を徹底。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85800" y="3291840"/>
            <a:ext cx="777240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3291840"/>
            <a:ext cx="73152" cy="868680"/>
          </a:xfrm>
          <a:prstGeom prst="rect">
            <a:avLst>
              <a:gd name="adj" fmla="val 37500"/>
            </a:avLst>
          </a:prstGeom>
          <a:solidFill>
            <a:srgbClr val="FFE6A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364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ルール設計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1732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利用範囲・データ分類・生成物ルール・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インシデント対応の4つの柱で設計。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このあと確認テスト（5問）があります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80%以上の正答で修了です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AIを正しく理解して、安全に活用していきましょう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A-108: AIと著作権・個人情報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A-108: AIと著作権・個人情報</dc:title>
  <dc:subject>PptxGenJS Presentation</dc:subject>
  <dc:creator>Gorilla Knowledge</dc:creator>
  <cp:lastModifiedBy>Gorilla Knowledge</cp:lastModifiedBy>
  <cp:revision>1</cp:revision>
  <dcterms:created xsi:type="dcterms:W3CDTF">2026-03-30T12:17:49Z</dcterms:created>
  <dcterms:modified xsi:type="dcterms:W3CDTF">2026-03-30T12:17:49Z</dcterms:modified>
</cp:coreProperties>
</file>