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91440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プロンプト実践テクニック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2743200" y="2697480"/>
            <a:ext cx="36576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AIの回答精度を引き上げる応用スキル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   |   入門〜中級   |   20分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Few-shot（例示）プロンプティングを実践できる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Chain-of-Thought（段階的思考）の使い方を理解する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29718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32461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ステップバイステップ指示、出力形式指定、制約条件設定を使い分けられる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プロンプト実践テクニック 5選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54380" y="1051560"/>
            <a:ext cx="14173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4380" y="1051560"/>
            <a:ext cx="1417320" cy="54864"/>
          </a:xfrm>
          <a:prstGeom prst="rect">
            <a:avLst/>
          </a:prstGeom>
          <a:solidFill>
            <a:srgbClr val="98D4BB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2801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3020" y="18288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54380" y="2331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4582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例を見せて精度UP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308860" y="1051560"/>
            <a:ext cx="14173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308860" y="1051560"/>
            <a:ext cx="1417320" cy="54864"/>
          </a:xfrm>
          <a:prstGeom prst="rect">
            <a:avLst/>
          </a:prstGeom>
          <a:solidFill>
            <a:srgbClr val="C7B8EA"/>
          </a:solidFill>
          <a:ln/>
        </p:spPr>
      </p:sp>
      <p:sp>
        <p:nvSpPr>
          <p:cNvPr id="15" name="Text 12"/>
          <p:cNvSpPr/>
          <p:nvPr/>
        </p:nvSpPr>
        <p:spPr>
          <a:xfrm>
            <a:off x="2834640" y="12801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82880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08860" y="2331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240030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段階的に考えさせる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3863340" y="1051560"/>
            <a:ext cx="14173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863340" y="1051560"/>
            <a:ext cx="1417320" cy="54864"/>
          </a:xfrm>
          <a:prstGeom prst="rect">
            <a:avLst/>
          </a:prstGeom>
          <a:solidFill>
            <a:srgbClr val="F4B8C5"/>
          </a:solidFill>
          <a:ln/>
        </p:spPr>
      </p:sp>
      <p:sp>
        <p:nvSpPr>
          <p:cNvPr id="21" name="Text 17"/>
          <p:cNvSpPr/>
          <p:nvPr/>
        </p:nvSpPr>
        <p:spPr>
          <a:xfrm>
            <a:off x="4389120" y="12801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2880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863340" y="2331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Step指示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395478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作業を分解する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17820" y="1051560"/>
            <a:ext cx="14173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417820" y="1051560"/>
            <a:ext cx="1417320" cy="54864"/>
          </a:xfrm>
          <a:prstGeom prst="rect">
            <a:avLst/>
          </a:prstGeom>
          <a:solidFill>
            <a:srgbClr val="A8D8EA"/>
          </a:solidFill>
          <a:ln/>
        </p:spPr>
      </p:sp>
      <p:sp>
        <p:nvSpPr>
          <p:cNvPr id="27" name="Text 22"/>
          <p:cNvSpPr/>
          <p:nvPr/>
        </p:nvSpPr>
        <p:spPr>
          <a:xfrm>
            <a:off x="5943600" y="12801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182880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17820" y="2331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形式指定</a:t>
            </a:r>
            <a:endParaRPr lang="en-US" sz="1800" dirty="0"/>
          </a:p>
        </p:txBody>
      </p:sp>
      <p:sp>
        <p:nvSpPr>
          <p:cNvPr id="30" name="Text 24"/>
          <p:cNvSpPr/>
          <p:nvPr/>
        </p:nvSpPr>
        <p:spPr>
          <a:xfrm>
            <a:off x="550926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使える形で出力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6972300" y="1051560"/>
            <a:ext cx="14173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972300" y="1051560"/>
            <a:ext cx="1417320" cy="54864"/>
          </a:xfrm>
          <a:prstGeom prst="rect">
            <a:avLst/>
          </a:prstGeom>
          <a:solidFill>
            <a:srgbClr val="FFE6A7"/>
          </a:solidFill>
          <a:ln/>
        </p:spPr>
      </p:sp>
      <p:sp>
        <p:nvSpPr>
          <p:cNvPr id="33" name="Text 27"/>
          <p:cNvSpPr/>
          <p:nvPr/>
        </p:nvSpPr>
        <p:spPr>
          <a:xfrm>
            <a:off x="7498080" y="128016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0940" y="182880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6972300" y="2331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制約設定</a:t>
            </a:r>
            <a:endParaRPr lang="en-US" sz="1800" dirty="0"/>
          </a:p>
        </p:txBody>
      </p:sp>
      <p:sp>
        <p:nvSpPr>
          <p:cNvPr id="36" name="Text 29"/>
          <p:cNvSpPr/>
          <p:nvPr/>
        </p:nvSpPr>
        <p:spPr>
          <a:xfrm>
            <a:off x="706374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ルールで品質を守る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68249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テクニック1 — Few-shot（例示）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051560"/>
            <a:ext cx="7772400" cy="5029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0515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期待する入出力の「例」を2〜3個示してからタスクを依頼する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783080"/>
            <a:ext cx="3566160" cy="246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783080"/>
            <a:ext cx="3566160" cy="411480"/>
          </a:xfrm>
          <a:prstGeom prst="rect">
            <a:avLst/>
          </a:prstGeom>
          <a:solidFill>
            <a:srgbClr val="FEE2E2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56232"/>
            <a:ext cx="228600" cy="2286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Zero-shot（例なし）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68680" y="23774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「レビューをポジティブ・ネガティブ・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ニュートラルに分類して」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686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判断基準が曖昧...</a:t>
            </a:r>
            <a:endParaRPr lang="en-US" sz="13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834640"/>
            <a:ext cx="320040" cy="3200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800600" y="1783080"/>
            <a:ext cx="3566160" cy="246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800600" y="1783080"/>
            <a:ext cx="3566160" cy="411480"/>
          </a:xfrm>
          <a:prstGeom prst="rect">
            <a:avLst/>
          </a:prstGeom>
          <a:solidFill>
            <a:srgbClr val="D1FAE5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185623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1208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Few-shot（例あり）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4983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例1: 「最高です!」→ ポジティブ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98348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例2: 「届くのが遅い」→ ネガティブ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98348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例3: 「普通に使える」→ ニュートラル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9834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精度が大幅UP!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85800" y="4434840"/>
            <a:ext cx="77724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2"/>
          <p:cNvSpPr/>
          <p:nvPr/>
        </p:nvSpPr>
        <p:spPr>
          <a:xfrm>
            <a:off x="960120" y="44348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Point: 例は2〜3個で十分。代表的なパターンを厳選する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2011680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01 応用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応用 — 業務での活用シーン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23774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1234440"/>
            <a:ext cx="2377440" cy="54864"/>
          </a:xfrm>
          <a:prstGeom prst="rect">
            <a:avLst/>
          </a:prstGeom>
          <a:solidFill>
            <a:srgbClr val="98D4B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50876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772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トーン統一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1440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チャット → ビジネスメール変換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83280" y="1234440"/>
            <a:ext cx="23774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83280" y="1234440"/>
            <a:ext cx="2377440" cy="54864"/>
          </a:xfrm>
          <a:prstGeom prst="rect">
            <a:avLst/>
          </a:prstGeom>
          <a:solidFill>
            <a:srgbClr val="A8D8E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087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832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データ整形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35204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住所の正規化・フォーマット変換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989320" y="1234440"/>
            <a:ext cx="23774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989320" y="1234440"/>
            <a:ext cx="2377440" cy="54864"/>
          </a:xfrm>
          <a:prstGeom prst="rect">
            <a:avLst/>
          </a:prstGeom>
          <a:solidFill>
            <a:srgbClr val="C7B8E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0876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98932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分類・ラベル付け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12648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問い合わせカテゴリ振り分け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85800" y="3794760"/>
            <a:ext cx="7772400" cy="502920"/>
          </a:xfrm>
          <a:prstGeom prst="rect">
            <a:avLst/>
          </a:prstGeom>
          <a:solidFill>
            <a:srgbClr val="DBEAFE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58768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325880" y="37947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言葉で基準を説明するより、具体例を見せるほうが早くて正確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68249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テクニック2 — Chain-of-Thought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段階的思考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1234440"/>
            <a:ext cx="35661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234440"/>
            <a:ext cx="3566160" cy="4114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通常プロンプト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1828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「マーケティング予算100万円の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最適な配分を教えて」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根拠が薄い即答...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2331720"/>
            <a:ext cx="320040" cy="3200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800600" y="1234440"/>
            <a:ext cx="35661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00600" y="1234440"/>
            <a:ext cx="3566160" cy="41148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8" name="Text 15"/>
          <p:cNvSpPr/>
          <p:nvPr/>
        </p:nvSpPr>
        <p:spPr>
          <a:xfrm>
            <a:off x="498348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CoTプロンプト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98348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市場状況を分析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983480" y="2057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各チャネルのROI推定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83480" y="2331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優先順位を決定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983480" y="2606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金額配分を提示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983480" y="2880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根拠を説明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98348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論理的で説得力のある回答!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85800" y="4069080"/>
            <a:ext cx="77724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6" name="Text 23"/>
          <p:cNvSpPr/>
          <p:nvPr/>
        </p:nvSpPr>
        <p:spPr>
          <a:xfrm>
            <a:off x="960120" y="40690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効果的な場面: 計算 / 比較分析 / 意思決定 / 原因分析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2011680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02 応用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応用テクニック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34440"/>
            <a:ext cx="356616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C7B8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solidFill>
            <a:srgbClr val="E8E0F7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構文A: 「まず〜、次に〜、最後に〜」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まず課題を洗い出して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次に解決策を3つずつ提案して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最後に優先順位をつけて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1234440"/>
            <a:ext cx="356616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A8D8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solidFill>
            <a:srgbClr val="D4EDF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構文B: 「理由→結論」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7492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理由を3つ挙げてから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結論を出してください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3200400"/>
            <a:ext cx="3794760" cy="914400"/>
          </a:xfrm>
          <a:prstGeom prst="rect">
            <a:avLst/>
          </a:prstGeom>
          <a:solidFill>
            <a:srgbClr val="FEE2E2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246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5204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「コスト削減案を教えて」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思いつきの一般論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3200400"/>
            <a:ext cx="3794760" cy="914400"/>
          </a:xfrm>
          <a:prstGeom prst="rect">
            <a:avLst/>
          </a:prstGeom>
          <a:solidFill>
            <a:srgbClr val="D1FAE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46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35204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「コスト構造→削減手法→投資対効果」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根拠のある具体策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68249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テクニック3 — ステップバイステップ指示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051560"/>
            <a:ext cx="77724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0515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 = 考え方を指定  /  ステップバイステップ = 作業手順を分解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737360"/>
            <a:ext cx="777240" cy="411480"/>
          </a:xfrm>
          <a:prstGeom prst="rect">
            <a:avLst>
              <a:gd name="adj" fmla="val 11111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73736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45920" y="17373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抽出: データから主要な傾向を3つ抽出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51560" y="2148840"/>
            <a:ext cx="0" cy="13716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286000"/>
            <a:ext cx="777240" cy="411480"/>
          </a:xfrm>
          <a:prstGeom prst="rect">
            <a:avLst>
              <a:gd name="adj" fmla="val 11111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28600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645920" y="22860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分析: 各傾向の原因を分析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51560" y="2697480"/>
            <a:ext cx="0" cy="13716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2834640"/>
            <a:ext cx="777240" cy="411480"/>
          </a:xfrm>
          <a:prstGeom prst="rect">
            <a:avLst>
              <a:gd name="adj" fmla="val 11111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3464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28346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提案: 各課題に対する改善策を提案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51560" y="3246120"/>
            <a:ext cx="0" cy="13716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383280"/>
            <a:ext cx="777240" cy="411480"/>
          </a:xfrm>
          <a:prstGeom prst="rect">
            <a:avLst>
              <a:gd name="adj" fmla="val 11111"/>
            </a:avLst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45920" y="33832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要約: エグゼクティブサマリーを200文字で作成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406908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Point: 各ステップの出力を具体的に / ステップは5つ以内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68249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テクニック4 — 出力形式指定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051560"/>
            <a:ext cx="1097280" cy="320040"/>
          </a:xfrm>
          <a:prstGeom prst="rect">
            <a:avLst>
              <a:gd name="adj" fmla="val 4285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051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箇条書き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20240" y="1051560"/>
            <a:ext cx="1097280" cy="320040"/>
          </a:xfrm>
          <a:prstGeom prst="rect">
            <a:avLst>
              <a:gd name="adj" fmla="val 42857"/>
            </a:avLst>
          </a:prstGeom>
          <a:solidFill>
            <a:srgbClr val="DBEAFE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1051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番号リスト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54680" y="1051560"/>
            <a:ext cx="1097280" cy="320040"/>
          </a:xfrm>
          <a:prstGeom prst="rect">
            <a:avLst>
              <a:gd name="adj" fmla="val 42857"/>
            </a:avLst>
          </a:prstGeom>
          <a:solidFill>
            <a:srgbClr val="DBEAFE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1051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表（テーブル）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9120" y="1051560"/>
            <a:ext cx="1097280" cy="320040"/>
          </a:xfrm>
          <a:prstGeom prst="rect">
            <a:avLst>
              <a:gd name="adj" fmla="val 42857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0" y="1051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23560" y="1051560"/>
            <a:ext cx="1097280" cy="320040"/>
          </a:xfrm>
          <a:prstGeom prst="rect">
            <a:avLst>
              <a:gd name="adj" fmla="val 42857"/>
            </a:avLst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5623560" y="1051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マークダウン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0" y="1051560"/>
            <a:ext cx="1097280" cy="320040"/>
          </a:xfrm>
          <a:prstGeom prst="rect">
            <a:avLst>
              <a:gd name="adj" fmla="val 42857"/>
            </a:avLst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051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1645920"/>
            <a:ext cx="356616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8D8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1645920"/>
            <a:ext cx="3566160" cy="365760"/>
          </a:xfrm>
          <a:prstGeom prst="rect">
            <a:avLst/>
          </a:prstGeom>
          <a:solidFill>
            <a:srgbClr val="D4EDFA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同じ質問でも形式で変わる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21031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「競合A社・B社・C社の特徴を教えて」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「箇条書きで」→ リスト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「表形式で」→ 比較表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「JSON形式で」→ データ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92040" y="1645920"/>
            <a:ext cx="356616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E6A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solidFill>
            <a:srgbClr val="FFF3D4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上級: テンプレートを渡す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74920" y="21031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以下のテンプレートに従って: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件名:（ここに件名）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本文:（ここに本文）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署名:（ここに署名）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68249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テクニック5 — 制約条件設定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1051560"/>
            <a:ext cx="23774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051560"/>
            <a:ext cx="237744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禁止事項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専門用語を使わない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個人名を含めない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推測で回答しない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83280" y="1051560"/>
            <a:ext cx="23774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1051560"/>
            <a:ext cx="23774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必須条件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204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必ずデータを引用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必ず3つ以上の選択肢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0" y="1051560"/>
            <a:ext cx="23774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1051560"/>
            <a:ext cx="23774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品質基準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08076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新入社員にもわかるレベル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経営会議で使える品質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" y="2788920"/>
            <a:ext cx="35661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788920"/>
            <a:ext cx="3566160" cy="32004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2788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制約なし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3200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「リモートワークのFAQを作って」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一般的で冗長...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92040" y="2788920"/>
            <a:ext cx="35661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92040" y="2788920"/>
            <a:ext cx="3566160" cy="32004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2788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制約あり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200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各回答100文字以内 / 専門用語禁止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具体的手順を含める / 社内規定番号記載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簡潔で実用的!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テクニック使い分けガイド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5156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テクニック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97480" y="1051560"/>
            <a:ext cx="29260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051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最適な場面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23560" y="1051560"/>
            <a:ext cx="1828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5623560" y="1051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1417320"/>
            <a:ext cx="201168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1417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97480" y="1417320"/>
            <a:ext cx="292608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4173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分類・変換・フォーマット統一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23560" y="1417320"/>
            <a:ext cx="182880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23560" y="14173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精度向上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182880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97480" y="1828800"/>
            <a:ext cx="2926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97480" y="1828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分析・判断・推論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23560" y="182880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23560" y="1828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論理性向上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" y="2240280"/>
            <a:ext cx="201168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22402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ステップバイステップ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7480" y="2240280"/>
            <a:ext cx="292608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97480" y="22402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複雑な作業の分解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623560" y="2240280"/>
            <a:ext cx="182880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23560" y="2240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網羅性向上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85800" y="26517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26517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出力形式指定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97480" y="2651760"/>
            <a:ext cx="2926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97480" y="26517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レポート・データ整理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23560" y="26517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23560" y="26517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実用性向上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85800" y="3063240"/>
            <a:ext cx="201168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30632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制約条件設定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97480" y="3063240"/>
            <a:ext cx="292608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97480" y="30632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品質管理・トーン統一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23560" y="3063240"/>
            <a:ext cx="182880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23560" y="3063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安定性向上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85800" y="3794760"/>
            <a:ext cx="7772400" cy="502920"/>
          </a:xfrm>
          <a:prstGeom prst="rect">
            <a:avLst/>
          </a:prstGeom>
          <a:solidFill>
            <a:srgbClr val="DBEAFE"/>
          </a:solidFill>
          <a:ln/>
        </p:spPr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867912"/>
            <a:ext cx="274320" cy="274320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1234440" y="379476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組み合わせのヒント: Few-shot + 出力形式指定 + 制約条件 → 単独より高い精度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54380" y="1097280"/>
            <a:ext cx="1417320" cy="2011680"/>
          </a:xfrm>
          <a:prstGeom prst="rect">
            <a:avLst/>
          </a:prstGeom>
          <a:solidFill>
            <a:srgbClr val="2A3A5A"/>
          </a:solidFill>
          <a:ln w="19050">
            <a:solidFill>
              <a:srgbClr val="98D4B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4380" y="12801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8D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54380" y="1783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5820" y="22860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例を見せて精度UP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08860" y="1097280"/>
            <a:ext cx="1417320" cy="2011680"/>
          </a:xfrm>
          <a:prstGeom prst="rect">
            <a:avLst/>
          </a:prstGeom>
          <a:solidFill>
            <a:srgbClr val="2A3A5A"/>
          </a:solidFill>
          <a:ln w="19050">
            <a:solidFill>
              <a:srgbClr val="C7B8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08860" y="12801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7B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308860" y="1783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400300" y="22860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段階的に考えさせる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63340" y="1097280"/>
            <a:ext cx="1417320" cy="2011680"/>
          </a:xfrm>
          <a:prstGeom prst="rect">
            <a:avLst/>
          </a:prstGeom>
          <a:solidFill>
            <a:srgbClr val="2A3A5A"/>
          </a:solidFill>
          <a:ln w="19050">
            <a:solidFill>
              <a:srgbClr val="F4B8C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63340" y="12801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8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863340" y="1783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Step指示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54780" y="22860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作業を分解する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17820" y="1097280"/>
            <a:ext cx="1417320" cy="2011680"/>
          </a:xfrm>
          <a:prstGeom prst="rect">
            <a:avLst/>
          </a:prstGeom>
          <a:solidFill>
            <a:srgbClr val="2A3A5A"/>
          </a:solidFill>
          <a:ln w="19050">
            <a:solidFill>
              <a:srgbClr val="A8D8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7820" y="12801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417820" y="1783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形式指定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09260" y="22860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使える形で出力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72300" y="1097280"/>
            <a:ext cx="1417320" cy="2011680"/>
          </a:xfrm>
          <a:prstGeom prst="rect">
            <a:avLst/>
          </a:prstGeom>
          <a:solidFill>
            <a:srgbClr val="2A3A5A"/>
          </a:solidFill>
          <a:ln w="19050">
            <a:solidFill>
              <a:srgbClr val="FFE6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72300" y="12801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E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972300" y="1783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制約設定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63740" y="22860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ルールで品質を守る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828800" y="3383280"/>
            <a:ext cx="5486400" cy="914400"/>
          </a:xfrm>
          <a:prstGeom prst="rect">
            <a:avLst>
              <a:gd name="adj" fmla="val 10000"/>
            </a:avLst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1828800" y="3429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お疲れさまでした！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8288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確認テスト（5問）に挑戦 — 80%以上で修了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A-106   |   プロンプト実践テクニック   |   20分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A-106: プロンプト実践テクニック — AIの回答精度を引き上げる応用スキル</dc:title>
  <dc:subject>PptxGenJS Presentation</dc:subject>
  <dc:creator>Gorilla Knowledge</dc:creator>
  <cp:lastModifiedBy>Gorilla Knowledge</cp:lastModifiedBy>
  <cp:revision>1</cp:revision>
  <dcterms:created xsi:type="dcterms:W3CDTF">2026-03-29T05:00:25Z</dcterms:created>
  <dcterms:modified xsi:type="dcterms:W3CDTF">2026-03-29T05:00:25Z</dcterms:modified>
</cp:coreProperties>
</file>