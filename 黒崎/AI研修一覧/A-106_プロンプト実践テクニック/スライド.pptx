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51960" y="914400"/>
            <a:ext cx="640080" cy="6400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173736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プロンプト実践テクニック</a:t>
            </a:r>
            <a:endParaRPr lang="en-US" sz="4400" dirty="0"/>
          </a:p>
        </p:txBody>
      </p:sp>
      <p:sp>
        <p:nvSpPr>
          <p:cNvPr id="4" name="Shape 1"/>
          <p:cNvSpPr/>
          <p:nvPr/>
        </p:nvSpPr>
        <p:spPr>
          <a:xfrm>
            <a:off x="2743200" y="2697480"/>
            <a:ext cx="3657600" cy="0"/>
          </a:xfrm>
          <a:prstGeom prst="line">
            <a:avLst/>
          </a:prstGeom>
          <a:noFill/>
          <a:ln w="19050">
            <a:solidFill>
              <a:srgbClr val="93C5FD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457200" y="28803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AIの回答精度を引き上げる応用スキル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457200" y="3840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A-106   |   入門〜中級   |   20分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00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32004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今日のゴール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685800" y="4777740"/>
            <a:ext cx="77724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0" y="479602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12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85800" y="47960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A-106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85800" y="1188720"/>
            <a:ext cx="502920" cy="502920"/>
          </a:xfrm>
          <a:prstGeom prst="ellipse">
            <a:avLst/>
          </a:prstGeom>
          <a:solidFill>
            <a:srgbClr val="2563E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417320" y="1143000"/>
            <a:ext cx="6858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Few-shot（例示）プロンプティングを実践できる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85800" y="1920240"/>
            <a:ext cx="77724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2240280"/>
            <a:ext cx="502920" cy="502920"/>
          </a:xfrm>
          <a:prstGeom prst="ellipse">
            <a:avLst/>
          </a:prstGeom>
          <a:solidFill>
            <a:srgbClr val="2563E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417320" y="2194560"/>
            <a:ext cx="6858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Chain-of-Thought（段階的思考）の使い方を理解する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685800" y="2971800"/>
            <a:ext cx="77724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" y="3291840"/>
            <a:ext cx="502920" cy="502920"/>
          </a:xfrm>
          <a:prstGeom prst="ellipse">
            <a:avLst/>
          </a:prstGeom>
          <a:solidFill>
            <a:srgbClr val="2563E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417320" y="3246120"/>
            <a:ext cx="6858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ステップバイステップ指示、出力形式指定、制約条件設定を使い分けられる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00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32004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プロンプト実践テクニック 5選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685800" y="4777740"/>
            <a:ext cx="77724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0" y="479602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12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85800" y="47960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A-106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754380" y="1051560"/>
            <a:ext cx="1417320" cy="329184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54380" y="1051560"/>
            <a:ext cx="1417320" cy="54864"/>
          </a:xfrm>
          <a:prstGeom prst="rect">
            <a:avLst/>
          </a:prstGeom>
          <a:solidFill>
            <a:srgbClr val="98D4BB"/>
          </a:solidFill>
          <a:ln/>
        </p:spPr>
      </p:sp>
      <p:sp>
        <p:nvSpPr>
          <p:cNvPr id="9" name="Text 7"/>
          <p:cNvSpPr/>
          <p:nvPr/>
        </p:nvSpPr>
        <p:spPr>
          <a:xfrm>
            <a:off x="1280160" y="1280160"/>
            <a:ext cx="365760" cy="365760"/>
          </a:xfrm>
          <a:prstGeom prst="ellipse">
            <a:avLst/>
          </a:prstGeom>
          <a:solidFill>
            <a:srgbClr val="2563E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200" dirty="0"/>
          </a:p>
        </p:txBody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03020" y="1828800"/>
            <a:ext cx="320040" cy="32004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754380" y="233172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Few-shot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845820" y="2880360"/>
            <a:ext cx="1234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例を見せて精度UP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2308860" y="1051560"/>
            <a:ext cx="1417320" cy="329184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2308860" y="1051560"/>
            <a:ext cx="1417320" cy="54864"/>
          </a:xfrm>
          <a:prstGeom prst="rect">
            <a:avLst/>
          </a:prstGeom>
          <a:solidFill>
            <a:srgbClr val="C7B8EA"/>
          </a:solidFill>
          <a:ln/>
        </p:spPr>
      </p:sp>
      <p:sp>
        <p:nvSpPr>
          <p:cNvPr id="15" name="Text 12"/>
          <p:cNvSpPr/>
          <p:nvPr/>
        </p:nvSpPr>
        <p:spPr>
          <a:xfrm>
            <a:off x="2834640" y="1280160"/>
            <a:ext cx="365760" cy="365760"/>
          </a:xfrm>
          <a:prstGeom prst="ellipse">
            <a:avLst/>
          </a:prstGeom>
          <a:solidFill>
            <a:srgbClr val="2563E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200" dirty="0"/>
          </a:p>
        </p:txBody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57500" y="1828800"/>
            <a:ext cx="320040" cy="32004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2308860" y="233172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CoT</a:t>
            </a:r>
            <a:endParaRPr lang="en-US" sz="1800" dirty="0"/>
          </a:p>
        </p:txBody>
      </p:sp>
      <p:sp>
        <p:nvSpPr>
          <p:cNvPr id="18" name="Text 14"/>
          <p:cNvSpPr/>
          <p:nvPr/>
        </p:nvSpPr>
        <p:spPr>
          <a:xfrm>
            <a:off x="2400300" y="2880360"/>
            <a:ext cx="1234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段階的に考えさせる</a:t>
            </a:r>
            <a:endParaRPr lang="en-US" sz="1300" dirty="0"/>
          </a:p>
        </p:txBody>
      </p:sp>
      <p:sp>
        <p:nvSpPr>
          <p:cNvPr id="19" name="Shape 15"/>
          <p:cNvSpPr/>
          <p:nvPr/>
        </p:nvSpPr>
        <p:spPr>
          <a:xfrm>
            <a:off x="3863340" y="1051560"/>
            <a:ext cx="1417320" cy="329184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3863340" y="1051560"/>
            <a:ext cx="1417320" cy="54864"/>
          </a:xfrm>
          <a:prstGeom prst="rect">
            <a:avLst/>
          </a:prstGeom>
          <a:solidFill>
            <a:srgbClr val="F4B8C5"/>
          </a:solidFill>
          <a:ln/>
        </p:spPr>
      </p:sp>
      <p:sp>
        <p:nvSpPr>
          <p:cNvPr id="21" name="Text 17"/>
          <p:cNvSpPr/>
          <p:nvPr/>
        </p:nvSpPr>
        <p:spPr>
          <a:xfrm>
            <a:off x="4389120" y="1280160"/>
            <a:ext cx="365760" cy="365760"/>
          </a:xfrm>
          <a:prstGeom prst="ellipse">
            <a:avLst/>
          </a:prstGeom>
          <a:solidFill>
            <a:srgbClr val="2563E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200" dirty="0"/>
          </a:p>
        </p:txBody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11980" y="1828800"/>
            <a:ext cx="320040" cy="320040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3863340" y="233172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Step指示</a:t>
            </a:r>
            <a:endParaRPr lang="en-US" sz="1800" dirty="0"/>
          </a:p>
        </p:txBody>
      </p:sp>
      <p:sp>
        <p:nvSpPr>
          <p:cNvPr id="24" name="Text 19"/>
          <p:cNvSpPr/>
          <p:nvPr/>
        </p:nvSpPr>
        <p:spPr>
          <a:xfrm>
            <a:off x="3954780" y="2880360"/>
            <a:ext cx="1234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作業を分解する</a:t>
            </a:r>
            <a:endParaRPr lang="en-US" sz="1300" dirty="0"/>
          </a:p>
        </p:txBody>
      </p:sp>
      <p:sp>
        <p:nvSpPr>
          <p:cNvPr id="25" name="Shape 20"/>
          <p:cNvSpPr/>
          <p:nvPr/>
        </p:nvSpPr>
        <p:spPr>
          <a:xfrm>
            <a:off x="5417820" y="1051560"/>
            <a:ext cx="1417320" cy="329184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26" name="Shape 21"/>
          <p:cNvSpPr/>
          <p:nvPr/>
        </p:nvSpPr>
        <p:spPr>
          <a:xfrm>
            <a:off x="5417820" y="1051560"/>
            <a:ext cx="1417320" cy="54864"/>
          </a:xfrm>
          <a:prstGeom prst="rect">
            <a:avLst/>
          </a:prstGeom>
          <a:solidFill>
            <a:srgbClr val="A8D8EA"/>
          </a:solidFill>
          <a:ln/>
        </p:spPr>
      </p:sp>
      <p:sp>
        <p:nvSpPr>
          <p:cNvPr id="27" name="Text 22"/>
          <p:cNvSpPr/>
          <p:nvPr/>
        </p:nvSpPr>
        <p:spPr>
          <a:xfrm>
            <a:off x="5943600" y="1280160"/>
            <a:ext cx="365760" cy="365760"/>
          </a:xfrm>
          <a:prstGeom prst="ellipse">
            <a:avLst/>
          </a:prstGeom>
          <a:solidFill>
            <a:srgbClr val="2563E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200" dirty="0"/>
          </a:p>
        </p:txBody>
      </p:sp>
      <p:pic>
        <p:nvPicPr>
          <p:cNvPr id="2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6460" y="1828800"/>
            <a:ext cx="320040" cy="320040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5417820" y="233172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形式指定</a:t>
            </a:r>
            <a:endParaRPr lang="en-US" sz="1800" dirty="0"/>
          </a:p>
        </p:txBody>
      </p:sp>
      <p:sp>
        <p:nvSpPr>
          <p:cNvPr id="30" name="Text 24"/>
          <p:cNvSpPr/>
          <p:nvPr/>
        </p:nvSpPr>
        <p:spPr>
          <a:xfrm>
            <a:off x="5509260" y="2880360"/>
            <a:ext cx="1234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使える形で出力</a:t>
            </a:r>
            <a:endParaRPr lang="en-US" sz="1300" dirty="0"/>
          </a:p>
        </p:txBody>
      </p:sp>
      <p:sp>
        <p:nvSpPr>
          <p:cNvPr id="31" name="Shape 25"/>
          <p:cNvSpPr/>
          <p:nvPr/>
        </p:nvSpPr>
        <p:spPr>
          <a:xfrm>
            <a:off x="6972300" y="1051560"/>
            <a:ext cx="1417320" cy="329184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32" name="Shape 26"/>
          <p:cNvSpPr/>
          <p:nvPr/>
        </p:nvSpPr>
        <p:spPr>
          <a:xfrm>
            <a:off x="6972300" y="1051560"/>
            <a:ext cx="1417320" cy="54864"/>
          </a:xfrm>
          <a:prstGeom prst="rect">
            <a:avLst/>
          </a:prstGeom>
          <a:solidFill>
            <a:srgbClr val="FFE6A7"/>
          </a:solidFill>
          <a:ln/>
        </p:spPr>
      </p:sp>
      <p:sp>
        <p:nvSpPr>
          <p:cNvPr id="33" name="Text 27"/>
          <p:cNvSpPr/>
          <p:nvPr/>
        </p:nvSpPr>
        <p:spPr>
          <a:xfrm>
            <a:off x="7498080" y="1280160"/>
            <a:ext cx="365760" cy="365760"/>
          </a:xfrm>
          <a:prstGeom prst="ellipse">
            <a:avLst/>
          </a:prstGeom>
          <a:solidFill>
            <a:srgbClr val="2563E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2200" dirty="0"/>
          </a:p>
        </p:txBody>
      </p:sp>
      <p:pic>
        <p:nvPicPr>
          <p:cNvPr id="3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20940" y="1828800"/>
            <a:ext cx="320040" cy="320040"/>
          </a:xfrm>
          <a:prstGeom prst="rect">
            <a:avLst/>
          </a:prstGeom>
        </p:spPr>
      </p:pic>
      <p:sp>
        <p:nvSpPr>
          <p:cNvPr id="35" name="Text 28"/>
          <p:cNvSpPr/>
          <p:nvPr/>
        </p:nvSpPr>
        <p:spPr>
          <a:xfrm>
            <a:off x="6972300" y="233172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制約設定</a:t>
            </a:r>
            <a:endParaRPr lang="en-US" sz="1800" dirty="0"/>
          </a:p>
        </p:txBody>
      </p:sp>
      <p:sp>
        <p:nvSpPr>
          <p:cNvPr id="36" name="Text 29"/>
          <p:cNvSpPr/>
          <p:nvPr/>
        </p:nvSpPr>
        <p:spPr>
          <a:xfrm>
            <a:off x="7063740" y="2880360"/>
            <a:ext cx="1234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ルールで品質を守る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00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Shape 1"/>
          <p:cNvSpPr/>
          <p:nvPr/>
        </p:nvSpPr>
        <p:spPr>
          <a:xfrm>
            <a:off x="685800" y="411480"/>
            <a:ext cx="1682496" cy="274320"/>
          </a:xfrm>
          <a:prstGeom prst="rect">
            <a:avLst>
              <a:gd name="adj" fmla="val 16667"/>
            </a:avLst>
          </a:prstGeom>
          <a:solidFill>
            <a:srgbClr val="DBEAFE"/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411480"/>
            <a:ext cx="16824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Technique 01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85800" y="77724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テクニック1 — Few-shot（例示）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685800" y="4777740"/>
            <a:ext cx="77724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479602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12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85800" y="47960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A-106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85800" y="1371600"/>
            <a:ext cx="7772400" cy="411480"/>
          </a:xfrm>
          <a:prstGeom prst="rect">
            <a:avLst/>
          </a:prstGeom>
          <a:solidFill>
            <a:srgbClr val="DBEAFE"/>
          </a:solidFill>
          <a:ln/>
        </p:spPr>
      </p:sp>
      <p:sp>
        <p:nvSpPr>
          <p:cNvPr id="10" name="Text 8"/>
          <p:cNvSpPr/>
          <p:nvPr/>
        </p:nvSpPr>
        <p:spPr>
          <a:xfrm>
            <a:off x="868680" y="1371600"/>
            <a:ext cx="7406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期待する入出力の「例」を2〜3個示してからタスクを依頼する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85800" y="1965960"/>
            <a:ext cx="3566160" cy="2286000"/>
          </a:xfrm>
          <a:prstGeom prst="rect">
            <a:avLst/>
          </a:prstGeom>
          <a:solidFill>
            <a:srgbClr val="FFFFFF"/>
          </a:solidFill>
          <a:ln w="19050">
            <a:solidFill>
              <a:srgbClr val="DC262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85800" y="1965960"/>
            <a:ext cx="3566160" cy="411480"/>
          </a:xfrm>
          <a:prstGeom prst="rect">
            <a:avLst/>
          </a:prstGeom>
          <a:solidFill>
            <a:srgbClr val="FEE2E2"/>
          </a:solidFill>
          <a:ln/>
        </p:spPr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5528" y="2039112"/>
            <a:ext cx="228600" cy="22860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1097280" y="196596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Zero-shot（例なし）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868680" y="256032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「レビューをポジティブ・ネガティブ・</a:t>
            </a:r>
            <a:endParaRPr lang="en-US" sz="1300" dirty="0"/>
          </a:p>
          <a:p>
            <a:pPr indent="0" marL="0">
              <a:buNone/>
            </a:pPr>
            <a:r>
              <a:rPr lang="en-US" sz="1300" i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ニュートラルに分類して」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868680" y="36118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判断基準が曖昧...</a:t>
            </a:r>
            <a:endParaRPr lang="en-US" sz="1300" dirty="0"/>
          </a:p>
        </p:txBody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43400" y="2926080"/>
            <a:ext cx="320040" cy="320040"/>
          </a:xfrm>
          <a:prstGeom prst="rect">
            <a:avLst/>
          </a:prstGeom>
        </p:spPr>
      </p:pic>
      <p:sp>
        <p:nvSpPr>
          <p:cNvPr id="18" name="Shape 14"/>
          <p:cNvSpPr/>
          <p:nvPr/>
        </p:nvSpPr>
        <p:spPr>
          <a:xfrm>
            <a:off x="4800600" y="1965960"/>
            <a:ext cx="3566160" cy="2286000"/>
          </a:xfrm>
          <a:prstGeom prst="rect">
            <a:avLst/>
          </a:prstGeom>
          <a:solidFill>
            <a:srgbClr val="FFFFFF"/>
          </a:solidFill>
          <a:ln w="19050">
            <a:solidFill>
              <a:srgbClr val="059669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4800600" y="1965960"/>
            <a:ext cx="3566160" cy="411480"/>
          </a:xfrm>
          <a:prstGeom prst="rect">
            <a:avLst/>
          </a:prstGeom>
          <a:solidFill>
            <a:srgbClr val="D1FAE5"/>
          </a:solidFill>
          <a:ln/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10328" y="2039112"/>
            <a:ext cx="228600" cy="22860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5212080" y="196596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Few-shot（例あり）</a:t>
            </a:r>
            <a:endParaRPr lang="en-US" sz="1600" dirty="0"/>
          </a:p>
        </p:txBody>
      </p:sp>
      <p:sp>
        <p:nvSpPr>
          <p:cNvPr id="22" name="Text 17"/>
          <p:cNvSpPr/>
          <p:nvPr/>
        </p:nvSpPr>
        <p:spPr>
          <a:xfrm>
            <a:off x="4983480" y="25146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例1: 「最高です!」→ ポジティブ</a:t>
            </a:r>
            <a:endParaRPr lang="en-US" sz="1300" dirty="0"/>
          </a:p>
        </p:txBody>
      </p:sp>
      <p:sp>
        <p:nvSpPr>
          <p:cNvPr id="23" name="Text 18"/>
          <p:cNvSpPr/>
          <p:nvPr/>
        </p:nvSpPr>
        <p:spPr>
          <a:xfrm>
            <a:off x="4983480" y="283464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例2: 「届くのが遅い」→ ネガティブ</a:t>
            </a:r>
            <a:endParaRPr lang="en-US" sz="1300" dirty="0"/>
          </a:p>
        </p:txBody>
      </p:sp>
      <p:sp>
        <p:nvSpPr>
          <p:cNvPr id="24" name="Text 19"/>
          <p:cNvSpPr/>
          <p:nvPr/>
        </p:nvSpPr>
        <p:spPr>
          <a:xfrm>
            <a:off x="4983480" y="31546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例3: 「普通に使える」→ ニュートラル</a:t>
            </a:r>
            <a:endParaRPr lang="en-US" sz="1300" dirty="0"/>
          </a:p>
        </p:txBody>
      </p:sp>
      <p:sp>
        <p:nvSpPr>
          <p:cNvPr id="25" name="Text 20"/>
          <p:cNvSpPr/>
          <p:nvPr/>
        </p:nvSpPr>
        <p:spPr>
          <a:xfrm>
            <a:off x="4983480" y="36118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精度が大幅UP!</a:t>
            </a:r>
            <a:endParaRPr lang="en-US" sz="1300" dirty="0"/>
          </a:p>
        </p:txBody>
      </p:sp>
      <p:sp>
        <p:nvSpPr>
          <p:cNvPr id="26" name="Shape 21"/>
          <p:cNvSpPr/>
          <p:nvPr/>
        </p:nvSpPr>
        <p:spPr>
          <a:xfrm>
            <a:off x="685800" y="4434840"/>
            <a:ext cx="7772400" cy="36576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27" name="Text 22"/>
          <p:cNvSpPr/>
          <p:nvPr/>
        </p:nvSpPr>
        <p:spPr>
          <a:xfrm>
            <a:off x="960120" y="4434840"/>
            <a:ext cx="7223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Point: 例は2〜3個で十分。代表的なパターンを厳選する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00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Shape 1"/>
          <p:cNvSpPr/>
          <p:nvPr/>
        </p:nvSpPr>
        <p:spPr>
          <a:xfrm>
            <a:off x="685800" y="411480"/>
            <a:ext cx="2011680" cy="274320"/>
          </a:xfrm>
          <a:prstGeom prst="rect">
            <a:avLst>
              <a:gd name="adj" fmla="val 16667"/>
            </a:avLst>
          </a:prstGeom>
          <a:solidFill>
            <a:srgbClr val="DBEAFE"/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41148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Technique 01 応用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85800" y="77724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Few-shot 応用 — 業務での活用シーン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685800" y="4777740"/>
            <a:ext cx="77724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479602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12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85800" y="47960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A-106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777240" y="1234440"/>
            <a:ext cx="2377440" cy="228600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77240" y="1234440"/>
            <a:ext cx="2377440" cy="54864"/>
          </a:xfrm>
          <a:prstGeom prst="rect">
            <a:avLst/>
          </a:prstGeom>
          <a:solidFill>
            <a:srgbClr val="98D4BB"/>
          </a:solidFill>
          <a:ln/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83080" y="1508760"/>
            <a:ext cx="365760" cy="36576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777240" y="201168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トーン統一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914400" y="251460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チャット → ビジネスメール変換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3383280" y="1234440"/>
            <a:ext cx="2377440" cy="228600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3383280" y="1234440"/>
            <a:ext cx="2377440" cy="54864"/>
          </a:xfrm>
          <a:prstGeom prst="rect">
            <a:avLst/>
          </a:prstGeom>
          <a:solidFill>
            <a:srgbClr val="A8D8EA"/>
          </a:solidFill>
          <a:ln/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9120" y="1508760"/>
            <a:ext cx="365760" cy="36576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3383280" y="201168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データ整形</a:t>
            </a:r>
            <a:endParaRPr lang="en-US" sz="1800" dirty="0"/>
          </a:p>
        </p:txBody>
      </p:sp>
      <p:sp>
        <p:nvSpPr>
          <p:cNvPr id="18" name="Text 14"/>
          <p:cNvSpPr/>
          <p:nvPr/>
        </p:nvSpPr>
        <p:spPr>
          <a:xfrm>
            <a:off x="3520440" y="251460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住所の正規化・フォーマット変換</a:t>
            </a:r>
            <a:endParaRPr lang="en-US" sz="1300" dirty="0"/>
          </a:p>
        </p:txBody>
      </p:sp>
      <p:sp>
        <p:nvSpPr>
          <p:cNvPr id="19" name="Shape 15"/>
          <p:cNvSpPr/>
          <p:nvPr/>
        </p:nvSpPr>
        <p:spPr>
          <a:xfrm>
            <a:off x="5989320" y="1234440"/>
            <a:ext cx="2377440" cy="228600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5989320" y="1234440"/>
            <a:ext cx="2377440" cy="54864"/>
          </a:xfrm>
          <a:prstGeom prst="rect">
            <a:avLst/>
          </a:prstGeom>
          <a:solidFill>
            <a:srgbClr val="C7B8EA"/>
          </a:solidFill>
          <a:ln/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95160" y="1508760"/>
            <a:ext cx="365760" cy="365760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5989320" y="201168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分類・ラベル付け</a:t>
            </a:r>
            <a:endParaRPr lang="en-US" sz="1800" dirty="0"/>
          </a:p>
        </p:txBody>
      </p:sp>
      <p:sp>
        <p:nvSpPr>
          <p:cNvPr id="23" name="Text 18"/>
          <p:cNvSpPr/>
          <p:nvPr/>
        </p:nvSpPr>
        <p:spPr>
          <a:xfrm>
            <a:off x="6126480" y="251460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問い合わせカテゴリ振り分け</a:t>
            </a:r>
            <a:endParaRPr lang="en-US" sz="1300" dirty="0"/>
          </a:p>
        </p:txBody>
      </p:sp>
      <p:sp>
        <p:nvSpPr>
          <p:cNvPr id="24" name="Shape 19"/>
          <p:cNvSpPr/>
          <p:nvPr/>
        </p:nvSpPr>
        <p:spPr>
          <a:xfrm>
            <a:off x="685800" y="3794760"/>
            <a:ext cx="7772400" cy="502920"/>
          </a:xfrm>
          <a:prstGeom prst="rect">
            <a:avLst/>
          </a:prstGeom>
          <a:solidFill>
            <a:srgbClr val="DBEAFE"/>
          </a:solidFill>
          <a:ln/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80" y="3858768"/>
            <a:ext cx="320040" cy="320040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1325880" y="3794760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核心: 言葉で基準を説明するより、具体例を見せるほうが早くて正確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00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Shape 1"/>
          <p:cNvSpPr/>
          <p:nvPr/>
        </p:nvSpPr>
        <p:spPr>
          <a:xfrm>
            <a:off x="685800" y="411480"/>
            <a:ext cx="1682496" cy="274320"/>
          </a:xfrm>
          <a:prstGeom prst="rect">
            <a:avLst>
              <a:gd name="adj" fmla="val 16667"/>
            </a:avLst>
          </a:prstGeom>
          <a:solidFill>
            <a:srgbClr val="DBEAFE"/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411480"/>
            <a:ext cx="16824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Technique 02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85800" y="77724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テクニック2 — Chain-of-Thought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685800" y="4777740"/>
            <a:ext cx="77724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479602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12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85800" y="47960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A-106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85800" y="1371600"/>
            <a:ext cx="3566160" cy="2468880"/>
          </a:xfrm>
          <a:prstGeom prst="rect">
            <a:avLst/>
          </a:prstGeom>
          <a:solidFill>
            <a:srgbClr val="FFFFFF"/>
          </a:solidFill>
          <a:ln w="19050">
            <a:solidFill>
              <a:srgbClr val="DC262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85800" y="1371600"/>
            <a:ext cx="3566160" cy="411480"/>
          </a:xfrm>
          <a:prstGeom prst="rect">
            <a:avLst/>
          </a:prstGeom>
          <a:solidFill>
            <a:srgbClr val="FEE2E2"/>
          </a:solidFill>
          <a:ln/>
        </p:spPr>
      </p:sp>
      <p:sp>
        <p:nvSpPr>
          <p:cNvPr id="11" name="Text 9"/>
          <p:cNvSpPr/>
          <p:nvPr/>
        </p:nvSpPr>
        <p:spPr>
          <a:xfrm>
            <a:off x="868680" y="137160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通常プロンプト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68680" y="196596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「マーケティング予算100万円の</a:t>
            </a:r>
            <a:endParaRPr lang="en-US" sz="1300" dirty="0"/>
          </a:p>
          <a:p>
            <a:pPr indent="0" marL="0">
              <a:buNone/>
            </a:pPr>
            <a:r>
              <a:rPr lang="en-US" sz="1300" i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最適な配分を教えて」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68680" y="320040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根拠が薄い即答...</a:t>
            </a:r>
            <a:endParaRPr lang="en-US" sz="1300" dirty="0"/>
          </a:p>
        </p:txBody>
      </p:sp>
      <p:pic>
        <p:nvPicPr>
          <p:cNvPr id="1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43400" y="2423160"/>
            <a:ext cx="320040" cy="320040"/>
          </a:xfrm>
          <a:prstGeom prst="rect">
            <a:avLst/>
          </a:prstGeom>
        </p:spPr>
      </p:pic>
      <p:sp>
        <p:nvSpPr>
          <p:cNvPr id="15" name="Shape 12"/>
          <p:cNvSpPr/>
          <p:nvPr/>
        </p:nvSpPr>
        <p:spPr>
          <a:xfrm>
            <a:off x="4800600" y="1371600"/>
            <a:ext cx="3566160" cy="2468880"/>
          </a:xfrm>
          <a:prstGeom prst="rect">
            <a:avLst/>
          </a:prstGeom>
          <a:solidFill>
            <a:srgbClr val="FFFFFF"/>
          </a:solidFill>
          <a:ln w="19050">
            <a:solidFill>
              <a:srgbClr val="059669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4800600" y="1371600"/>
            <a:ext cx="3566160" cy="411480"/>
          </a:xfrm>
          <a:prstGeom prst="rect">
            <a:avLst/>
          </a:prstGeom>
          <a:solidFill>
            <a:srgbClr val="D1FAE5"/>
          </a:solidFill>
          <a:ln/>
        </p:spPr>
      </p:sp>
      <p:sp>
        <p:nvSpPr>
          <p:cNvPr id="17" name="Text 14"/>
          <p:cNvSpPr/>
          <p:nvPr/>
        </p:nvSpPr>
        <p:spPr>
          <a:xfrm>
            <a:off x="4983480" y="137160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CoTプロンプト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4983480" y="192024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市場状況を分析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4983480" y="219456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各チャネルのROI推定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4983480" y="246888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優先順位を決定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4983480" y="274320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金額配分を提示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4983480" y="301752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根拠を説明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4983480" y="320040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論理的で説得力のある回答!</a:t>
            </a:r>
            <a:endParaRPr lang="en-US" sz="1300" dirty="0"/>
          </a:p>
        </p:txBody>
      </p:sp>
      <p:sp>
        <p:nvSpPr>
          <p:cNvPr id="24" name="Shape 21"/>
          <p:cNvSpPr/>
          <p:nvPr/>
        </p:nvSpPr>
        <p:spPr>
          <a:xfrm>
            <a:off x="685800" y="4069080"/>
            <a:ext cx="7772400" cy="36576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25" name="Text 22"/>
          <p:cNvSpPr/>
          <p:nvPr/>
        </p:nvSpPr>
        <p:spPr>
          <a:xfrm>
            <a:off x="960120" y="4069080"/>
            <a:ext cx="7223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効果的な場面: 計算 / 比較分析 / 意思決定 / 原因分析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00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Shape 1"/>
          <p:cNvSpPr/>
          <p:nvPr/>
        </p:nvSpPr>
        <p:spPr>
          <a:xfrm>
            <a:off x="685800" y="411480"/>
            <a:ext cx="2011680" cy="274320"/>
          </a:xfrm>
          <a:prstGeom prst="rect">
            <a:avLst>
              <a:gd name="adj" fmla="val 16667"/>
            </a:avLst>
          </a:prstGeom>
          <a:solidFill>
            <a:srgbClr val="DBEAFE"/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41148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Technique 02 応用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85800" y="77724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Chain-of-Thought 応用テクニック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685800" y="4777740"/>
            <a:ext cx="77724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479602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12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85800" y="47960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A-106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85800" y="1234440"/>
            <a:ext cx="3566160" cy="1645920"/>
          </a:xfrm>
          <a:prstGeom prst="rect">
            <a:avLst/>
          </a:prstGeom>
          <a:solidFill>
            <a:srgbClr val="FFFFFF"/>
          </a:solidFill>
          <a:ln w="19050">
            <a:solidFill>
              <a:srgbClr val="C7B8E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85800" y="1234440"/>
            <a:ext cx="3566160" cy="365760"/>
          </a:xfrm>
          <a:prstGeom prst="rect">
            <a:avLst/>
          </a:prstGeom>
          <a:solidFill>
            <a:srgbClr val="E8E0F7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123444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構文A: 「まず〜、次に〜、最後に〜」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68680" y="1737360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まず課題を洗い出して</a:t>
            </a:r>
            <a:endParaRPr lang="en-US" sz="1300" dirty="0"/>
          </a:p>
          <a:p>
            <a:pPr indent="0" marL="0">
              <a:buNone/>
            </a:pPr>
            <a:r>
              <a:rPr lang="en-US" sz="1300" i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次に解決策を3つずつ提案して</a:t>
            </a:r>
            <a:endParaRPr lang="en-US" sz="1300" dirty="0"/>
          </a:p>
          <a:p>
            <a:pPr indent="0" marL="0">
              <a:buNone/>
            </a:pPr>
            <a:r>
              <a:rPr lang="en-US" sz="1300" i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最後に優先順位をつけて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892040" y="1234440"/>
            <a:ext cx="3566160" cy="1645920"/>
          </a:xfrm>
          <a:prstGeom prst="rect">
            <a:avLst/>
          </a:prstGeom>
          <a:solidFill>
            <a:srgbClr val="FFFFFF"/>
          </a:solidFill>
          <a:ln w="19050">
            <a:solidFill>
              <a:srgbClr val="A8D8E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892040" y="1234440"/>
            <a:ext cx="3566160" cy="365760"/>
          </a:xfrm>
          <a:prstGeom prst="rect">
            <a:avLst/>
          </a:prstGeom>
          <a:solidFill>
            <a:srgbClr val="D4EDFA"/>
          </a:solidFill>
          <a:ln/>
        </p:spPr>
      </p:sp>
      <p:sp>
        <p:nvSpPr>
          <p:cNvPr id="15" name="Text 13"/>
          <p:cNvSpPr/>
          <p:nvPr/>
        </p:nvSpPr>
        <p:spPr>
          <a:xfrm>
            <a:off x="5029200" y="123444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構文B: 「理由→結論」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074920" y="1737360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理由を3つ挙げてから</a:t>
            </a:r>
            <a:endParaRPr lang="en-US" sz="1300" dirty="0"/>
          </a:p>
          <a:p>
            <a:pPr indent="0" marL="0">
              <a:buNone/>
            </a:pPr>
            <a:r>
              <a:rPr lang="en-US" sz="1300" i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結論を出してください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85800" y="3200400"/>
            <a:ext cx="3794760" cy="914400"/>
          </a:xfrm>
          <a:prstGeom prst="rect">
            <a:avLst/>
          </a:prstGeom>
          <a:solidFill>
            <a:srgbClr val="FEE2E2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2960" y="32461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822960" y="3520440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「コスト削減案を教えて」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思いつきの一般論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663440" y="3200400"/>
            <a:ext cx="3794760" cy="914400"/>
          </a:xfrm>
          <a:prstGeom prst="rect">
            <a:avLst/>
          </a:prstGeom>
          <a:solidFill>
            <a:srgbClr val="D1FAE5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00600" y="32461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800600" y="3520440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「コスト構造→削減手法→投資対効果」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根拠のある具体策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00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Shape 1"/>
          <p:cNvSpPr/>
          <p:nvPr/>
        </p:nvSpPr>
        <p:spPr>
          <a:xfrm>
            <a:off x="685800" y="411480"/>
            <a:ext cx="1682496" cy="274320"/>
          </a:xfrm>
          <a:prstGeom prst="rect">
            <a:avLst>
              <a:gd name="adj" fmla="val 16667"/>
            </a:avLst>
          </a:prstGeom>
          <a:solidFill>
            <a:srgbClr val="DBEAFE"/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411480"/>
            <a:ext cx="16824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Technique 03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85800" y="77724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テクニック3 — ステップバイステップ指示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685800" y="4777740"/>
            <a:ext cx="77724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479602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12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85800" y="47960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A-106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85800" y="1371600"/>
            <a:ext cx="7772400" cy="411480"/>
          </a:xfrm>
          <a:prstGeom prst="rect">
            <a:avLst/>
          </a:prstGeom>
          <a:solidFill>
            <a:srgbClr val="DBEAFE"/>
          </a:solidFill>
          <a:ln/>
        </p:spPr>
      </p:sp>
      <p:sp>
        <p:nvSpPr>
          <p:cNvPr id="10" name="Text 8"/>
          <p:cNvSpPr/>
          <p:nvPr/>
        </p:nvSpPr>
        <p:spPr>
          <a:xfrm>
            <a:off x="868680" y="1371600"/>
            <a:ext cx="7406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CoT = 考え方を指定  /  ステップバイステップ = 作業手順を分解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85800" y="2011680"/>
            <a:ext cx="777240" cy="411480"/>
          </a:xfrm>
          <a:prstGeom prst="rect">
            <a:avLst>
              <a:gd name="adj" fmla="val 11111"/>
            </a:avLst>
          </a:prstGeom>
          <a:solidFill>
            <a:srgbClr val="2563EB"/>
          </a:solidFill>
          <a:ln/>
        </p:spPr>
      </p:sp>
      <p:sp>
        <p:nvSpPr>
          <p:cNvPr id="12" name="Text 10"/>
          <p:cNvSpPr/>
          <p:nvPr/>
        </p:nvSpPr>
        <p:spPr>
          <a:xfrm>
            <a:off x="685800" y="2011680"/>
            <a:ext cx="777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645920" y="2011680"/>
            <a:ext cx="6583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抽出: データから主要な傾向を3つ抽出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1051560" y="2423160"/>
            <a:ext cx="0" cy="137160"/>
          </a:xfrm>
          <a:prstGeom prst="line">
            <a:avLst/>
          </a:prstGeom>
          <a:noFill/>
          <a:ln w="19050">
            <a:solidFill>
              <a:srgbClr val="2563E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85800" y="2514600"/>
            <a:ext cx="777240" cy="411480"/>
          </a:xfrm>
          <a:prstGeom prst="rect">
            <a:avLst>
              <a:gd name="adj" fmla="val 11111"/>
            </a:avLst>
          </a:prstGeom>
          <a:solidFill>
            <a:srgbClr val="2563EB"/>
          </a:solidFill>
          <a:ln/>
        </p:spPr>
      </p:sp>
      <p:sp>
        <p:nvSpPr>
          <p:cNvPr id="16" name="Text 14"/>
          <p:cNvSpPr/>
          <p:nvPr/>
        </p:nvSpPr>
        <p:spPr>
          <a:xfrm>
            <a:off x="685800" y="2514600"/>
            <a:ext cx="777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645920" y="2514600"/>
            <a:ext cx="6583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分析: 各傾向の原因を分析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1051560" y="2926080"/>
            <a:ext cx="0" cy="137160"/>
          </a:xfrm>
          <a:prstGeom prst="line">
            <a:avLst/>
          </a:prstGeom>
          <a:noFill/>
          <a:ln w="19050">
            <a:solidFill>
              <a:srgbClr val="2563E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85800" y="3017520"/>
            <a:ext cx="777240" cy="411480"/>
          </a:xfrm>
          <a:prstGeom prst="rect">
            <a:avLst>
              <a:gd name="adj" fmla="val 11111"/>
            </a:avLst>
          </a:prstGeom>
          <a:solidFill>
            <a:srgbClr val="2563EB"/>
          </a:solidFill>
          <a:ln/>
        </p:spPr>
      </p:sp>
      <p:sp>
        <p:nvSpPr>
          <p:cNvPr id="20" name="Text 18"/>
          <p:cNvSpPr/>
          <p:nvPr/>
        </p:nvSpPr>
        <p:spPr>
          <a:xfrm>
            <a:off x="685800" y="3017520"/>
            <a:ext cx="777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645920" y="3017520"/>
            <a:ext cx="6583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提案: 各課題に対する改善策を提案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1051560" y="3429000"/>
            <a:ext cx="0" cy="137160"/>
          </a:xfrm>
          <a:prstGeom prst="line">
            <a:avLst/>
          </a:prstGeom>
          <a:noFill/>
          <a:ln w="19050">
            <a:solidFill>
              <a:srgbClr val="2563E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85800" y="3520440"/>
            <a:ext cx="777240" cy="411480"/>
          </a:xfrm>
          <a:prstGeom prst="rect">
            <a:avLst>
              <a:gd name="adj" fmla="val 11111"/>
            </a:avLst>
          </a:prstGeom>
          <a:solidFill>
            <a:srgbClr val="2563EB"/>
          </a:solidFill>
          <a:ln/>
        </p:spPr>
      </p:sp>
      <p:sp>
        <p:nvSpPr>
          <p:cNvPr id="24" name="Text 22"/>
          <p:cNvSpPr/>
          <p:nvPr/>
        </p:nvSpPr>
        <p:spPr>
          <a:xfrm>
            <a:off x="685800" y="3520440"/>
            <a:ext cx="777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1645920" y="3520440"/>
            <a:ext cx="6583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要約: エグゼクティブサマリーを200文字で作成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685800" y="4069080"/>
            <a:ext cx="7772400" cy="41148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27" name="Text 25"/>
          <p:cNvSpPr/>
          <p:nvPr/>
        </p:nvSpPr>
        <p:spPr>
          <a:xfrm>
            <a:off x="960120" y="4069080"/>
            <a:ext cx="7223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Point: 各ステップの出力を具体的に / ステップは5つ以内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00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Shape 1"/>
          <p:cNvSpPr/>
          <p:nvPr/>
        </p:nvSpPr>
        <p:spPr>
          <a:xfrm>
            <a:off x="685800" y="411480"/>
            <a:ext cx="1682496" cy="274320"/>
          </a:xfrm>
          <a:prstGeom prst="rect">
            <a:avLst>
              <a:gd name="adj" fmla="val 16667"/>
            </a:avLst>
          </a:prstGeom>
          <a:solidFill>
            <a:srgbClr val="DBEAFE"/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411480"/>
            <a:ext cx="16824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Technique 04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85800" y="77724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テクニック4 — 出力形式指定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685800" y="4777740"/>
            <a:ext cx="77724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479602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12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85800" y="47960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A-106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85800" y="1371600"/>
            <a:ext cx="1097280" cy="320040"/>
          </a:xfrm>
          <a:prstGeom prst="rect">
            <a:avLst>
              <a:gd name="adj" fmla="val 42857"/>
            </a:avLst>
          </a:prstGeom>
          <a:solidFill>
            <a:srgbClr val="DBEAFE"/>
          </a:solidFill>
          <a:ln/>
        </p:spPr>
      </p:sp>
      <p:sp>
        <p:nvSpPr>
          <p:cNvPr id="10" name="Text 8"/>
          <p:cNvSpPr/>
          <p:nvPr/>
        </p:nvSpPr>
        <p:spPr>
          <a:xfrm>
            <a:off x="685800" y="137160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箇条書き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1920240" y="1371600"/>
            <a:ext cx="1097280" cy="320040"/>
          </a:xfrm>
          <a:prstGeom prst="rect">
            <a:avLst>
              <a:gd name="adj" fmla="val 42857"/>
            </a:avLst>
          </a:prstGeom>
          <a:solidFill>
            <a:srgbClr val="DBEAFE"/>
          </a:solidFill>
          <a:ln/>
        </p:spPr>
      </p:sp>
      <p:sp>
        <p:nvSpPr>
          <p:cNvPr id="12" name="Text 10"/>
          <p:cNvSpPr/>
          <p:nvPr/>
        </p:nvSpPr>
        <p:spPr>
          <a:xfrm>
            <a:off x="1920240" y="137160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番号リスト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154680" y="1371600"/>
            <a:ext cx="1097280" cy="320040"/>
          </a:xfrm>
          <a:prstGeom prst="rect">
            <a:avLst>
              <a:gd name="adj" fmla="val 42857"/>
            </a:avLst>
          </a:prstGeom>
          <a:solidFill>
            <a:srgbClr val="DBEAFE"/>
          </a:solidFill>
          <a:ln/>
        </p:spPr>
      </p:sp>
      <p:sp>
        <p:nvSpPr>
          <p:cNvPr id="14" name="Text 12"/>
          <p:cNvSpPr/>
          <p:nvPr/>
        </p:nvSpPr>
        <p:spPr>
          <a:xfrm>
            <a:off x="3154680" y="137160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表（テーブル）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389120" y="1371600"/>
            <a:ext cx="1097280" cy="320040"/>
          </a:xfrm>
          <a:prstGeom prst="rect">
            <a:avLst>
              <a:gd name="adj" fmla="val 42857"/>
            </a:avLst>
          </a:prstGeom>
          <a:solidFill>
            <a:srgbClr val="DBEAFE"/>
          </a:solidFill>
          <a:ln/>
        </p:spPr>
      </p:sp>
      <p:sp>
        <p:nvSpPr>
          <p:cNvPr id="16" name="Text 14"/>
          <p:cNvSpPr/>
          <p:nvPr/>
        </p:nvSpPr>
        <p:spPr>
          <a:xfrm>
            <a:off x="4389120" y="137160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623560" y="1371600"/>
            <a:ext cx="1097280" cy="320040"/>
          </a:xfrm>
          <a:prstGeom prst="rect">
            <a:avLst>
              <a:gd name="adj" fmla="val 42857"/>
            </a:avLst>
          </a:prstGeom>
          <a:solidFill>
            <a:srgbClr val="DBEAFE"/>
          </a:solidFill>
          <a:ln/>
        </p:spPr>
      </p:sp>
      <p:sp>
        <p:nvSpPr>
          <p:cNvPr id="18" name="Text 16"/>
          <p:cNvSpPr/>
          <p:nvPr/>
        </p:nvSpPr>
        <p:spPr>
          <a:xfrm>
            <a:off x="5623560" y="137160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マークダウン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858000" y="1371600"/>
            <a:ext cx="1097280" cy="320040"/>
          </a:xfrm>
          <a:prstGeom prst="rect">
            <a:avLst>
              <a:gd name="adj" fmla="val 42857"/>
            </a:avLst>
          </a:prstGeom>
          <a:solidFill>
            <a:srgbClr val="DBEAFE"/>
          </a:solidFill>
          <a:ln/>
        </p:spPr>
      </p:sp>
      <p:sp>
        <p:nvSpPr>
          <p:cNvPr id="20" name="Text 18"/>
          <p:cNvSpPr/>
          <p:nvPr/>
        </p:nvSpPr>
        <p:spPr>
          <a:xfrm>
            <a:off x="6858000" y="137160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85800" y="1874520"/>
            <a:ext cx="3566160" cy="2103120"/>
          </a:xfrm>
          <a:prstGeom prst="rect">
            <a:avLst/>
          </a:prstGeom>
          <a:solidFill>
            <a:srgbClr val="FFFFFF"/>
          </a:solidFill>
          <a:ln w="19050">
            <a:solidFill>
              <a:srgbClr val="A8D8E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85800" y="1874520"/>
            <a:ext cx="3566160" cy="365760"/>
          </a:xfrm>
          <a:prstGeom prst="rect">
            <a:avLst/>
          </a:prstGeom>
          <a:solidFill>
            <a:srgbClr val="D4EDFA"/>
          </a:solidFill>
          <a:ln/>
        </p:spPr>
      </p:sp>
      <p:sp>
        <p:nvSpPr>
          <p:cNvPr id="23" name="Text 21"/>
          <p:cNvSpPr/>
          <p:nvPr/>
        </p:nvSpPr>
        <p:spPr>
          <a:xfrm>
            <a:off x="822960" y="187452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同じ質問でも形式で変わる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868680" y="2331720"/>
            <a:ext cx="32004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「競合A社・B社・C社の特徴を教えて」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「箇条書きで」→ リスト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「表形式で」→ 比較表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「JSON形式で」→ データ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4892040" y="1874520"/>
            <a:ext cx="3566160" cy="2103120"/>
          </a:xfrm>
          <a:prstGeom prst="rect">
            <a:avLst/>
          </a:prstGeom>
          <a:solidFill>
            <a:srgbClr val="FFFFFF"/>
          </a:solidFill>
          <a:ln w="19050">
            <a:solidFill>
              <a:srgbClr val="FFE6A7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892040" y="1874520"/>
            <a:ext cx="3566160" cy="365760"/>
          </a:xfrm>
          <a:prstGeom prst="rect">
            <a:avLst/>
          </a:prstGeom>
          <a:solidFill>
            <a:srgbClr val="FFF3D4"/>
          </a:solidFill>
          <a:ln/>
        </p:spPr>
      </p:sp>
      <p:sp>
        <p:nvSpPr>
          <p:cNvPr id="27" name="Text 25"/>
          <p:cNvSpPr/>
          <p:nvPr/>
        </p:nvSpPr>
        <p:spPr>
          <a:xfrm>
            <a:off x="5029200" y="187452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上級: テンプレートを渡す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074920" y="2331720"/>
            <a:ext cx="32004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以下のテンプレートに従って: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i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件名:（ここに件名）</a:t>
            </a:r>
            <a:endParaRPr lang="en-US" sz="1300" dirty="0"/>
          </a:p>
          <a:p>
            <a:pPr indent="0" marL="0">
              <a:buNone/>
            </a:pPr>
            <a:r>
              <a:rPr lang="en-US" sz="1300" i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本文:（ここに本文）</a:t>
            </a:r>
            <a:endParaRPr lang="en-US" sz="1300" dirty="0"/>
          </a:p>
          <a:p>
            <a:pPr indent="0" marL="0">
              <a:buNone/>
            </a:pPr>
            <a:r>
              <a:rPr lang="en-US" sz="1300" i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署名:（ここに署名）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00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Shape 1"/>
          <p:cNvSpPr/>
          <p:nvPr/>
        </p:nvSpPr>
        <p:spPr>
          <a:xfrm>
            <a:off x="685800" y="411480"/>
            <a:ext cx="1682496" cy="274320"/>
          </a:xfrm>
          <a:prstGeom prst="rect">
            <a:avLst>
              <a:gd name="adj" fmla="val 16667"/>
            </a:avLst>
          </a:prstGeom>
          <a:solidFill>
            <a:srgbClr val="DBEAFE"/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411480"/>
            <a:ext cx="16824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Technique 05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85800" y="77724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テクニック5 — 制約条件設定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685800" y="4777740"/>
            <a:ext cx="77724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479602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12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85800" y="47960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A-106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822960" y="1371600"/>
            <a:ext cx="2377440" cy="146304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22960" y="1371600"/>
            <a:ext cx="2377440" cy="54864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150876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禁止事項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960120" y="187452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専門用語を使わない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個人名を含めない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推測で回答しない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383280" y="1371600"/>
            <a:ext cx="2377440" cy="146304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383280" y="1371600"/>
            <a:ext cx="2377440" cy="5486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5" name="Text 13"/>
          <p:cNvSpPr/>
          <p:nvPr/>
        </p:nvSpPr>
        <p:spPr>
          <a:xfrm>
            <a:off x="3383280" y="150876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必須条件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3520440" y="187452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必ずデータを引用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必ず3つ以上の選択肢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943600" y="1371600"/>
            <a:ext cx="2377440" cy="146304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943600" y="1371600"/>
            <a:ext cx="2377440" cy="54864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9" name="Text 17"/>
          <p:cNvSpPr/>
          <p:nvPr/>
        </p:nvSpPr>
        <p:spPr>
          <a:xfrm>
            <a:off x="5943600" y="150876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品質基準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6080760" y="187452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新入社員にもわかるレベル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経営会議で使える品質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85800" y="3017520"/>
            <a:ext cx="356616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85800" y="3017520"/>
            <a:ext cx="3566160" cy="320040"/>
          </a:xfrm>
          <a:prstGeom prst="rect">
            <a:avLst/>
          </a:prstGeom>
          <a:solidFill>
            <a:srgbClr val="FEE2E2"/>
          </a:solidFill>
          <a:ln/>
        </p:spPr>
      </p:sp>
      <p:sp>
        <p:nvSpPr>
          <p:cNvPr id="23" name="Text 21"/>
          <p:cNvSpPr/>
          <p:nvPr/>
        </p:nvSpPr>
        <p:spPr>
          <a:xfrm>
            <a:off x="822960" y="30175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制約なし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822960" y="3429000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「リモートワークのFAQを作って」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一般的で冗長...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4892040" y="3017520"/>
            <a:ext cx="356616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892040" y="3017520"/>
            <a:ext cx="3566160" cy="320040"/>
          </a:xfrm>
          <a:prstGeom prst="rect">
            <a:avLst/>
          </a:prstGeom>
          <a:solidFill>
            <a:srgbClr val="D1FAE5"/>
          </a:solidFill>
          <a:ln/>
        </p:spPr>
      </p:sp>
      <p:sp>
        <p:nvSpPr>
          <p:cNvPr id="27" name="Text 25"/>
          <p:cNvSpPr/>
          <p:nvPr/>
        </p:nvSpPr>
        <p:spPr>
          <a:xfrm>
            <a:off x="5029200" y="30175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制約あり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029200" y="3429000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各回答100文字以内 / 専門用語禁止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具体的手順を含める / 社内規定番号記載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簡潔で実用的!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00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32004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テクニック使い分けガイド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685800" y="4777740"/>
            <a:ext cx="77724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0" y="479602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12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85800" y="47960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A-106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85800" y="1051560"/>
            <a:ext cx="2011680" cy="36576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8" name="Text 6"/>
          <p:cNvSpPr/>
          <p:nvPr/>
        </p:nvSpPr>
        <p:spPr>
          <a:xfrm>
            <a:off x="685800" y="105156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テクニック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697480" y="1051560"/>
            <a:ext cx="2926080" cy="36576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0" name="Text 8"/>
          <p:cNvSpPr/>
          <p:nvPr/>
        </p:nvSpPr>
        <p:spPr>
          <a:xfrm>
            <a:off x="2697480" y="105156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最適な場面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623560" y="1051560"/>
            <a:ext cx="1828800" cy="36576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2" name="Text 10"/>
          <p:cNvSpPr/>
          <p:nvPr/>
        </p:nvSpPr>
        <p:spPr>
          <a:xfrm>
            <a:off x="5623560" y="105156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効果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85800" y="1417320"/>
            <a:ext cx="2011680" cy="411480"/>
          </a:xfrm>
          <a:prstGeom prst="rect">
            <a:avLst/>
          </a:prstGeom>
          <a:solidFill>
            <a:srgbClr val="F3F4F6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5800" y="141732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Few-shot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2697480" y="1417320"/>
            <a:ext cx="2926080" cy="411480"/>
          </a:xfrm>
          <a:prstGeom prst="rect">
            <a:avLst/>
          </a:prstGeom>
          <a:solidFill>
            <a:srgbClr val="F3F4F6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697480" y="1417320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分類・変換・フォーマット統一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623560" y="1417320"/>
            <a:ext cx="1828800" cy="411480"/>
          </a:xfrm>
          <a:prstGeom prst="rect">
            <a:avLst/>
          </a:prstGeom>
          <a:solidFill>
            <a:srgbClr val="F3F4F6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623560" y="141732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精度向上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85800" y="1828800"/>
            <a:ext cx="201168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85800" y="182880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Chain-of-Thought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2697480" y="1828800"/>
            <a:ext cx="292608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697480" y="1828800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分析・判断・推論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5623560" y="1828800"/>
            <a:ext cx="182880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623560" y="182880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論理性向上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685800" y="2240280"/>
            <a:ext cx="2011680" cy="411480"/>
          </a:xfrm>
          <a:prstGeom prst="rect">
            <a:avLst/>
          </a:prstGeom>
          <a:solidFill>
            <a:srgbClr val="F3F4F6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85800" y="224028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ステップバイステップ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2697480" y="2240280"/>
            <a:ext cx="2926080" cy="411480"/>
          </a:xfrm>
          <a:prstGeom prst="rect">
            <a:avLst/>
          </a:prstGeom>
          <a:solidFill>
            <a:srgbClr val="F3F4F6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697480" y="2240280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複雑な作業の分解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5623560" y="2240280"/>
            <a:ext cx="1828800" cy="411480"/>
          </a:xfrm>
          <a:prstGeom prst="rect">
            <a:avLst/>
          </a:prstGeom>
          <a:solidFill>
            <a:srgbClr val="F3F4F6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623560" y="224028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網羅性向上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685800" y="2651760"/>
            <a:ext cx="201168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85800" y="265176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出力形式指定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2697480" y="2651760"/>
            <a:ext cx="292608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697480" y="2651760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レポート・データ整理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5623560" y="2651760"/>
            <a:ext cx="182880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623560" y="265176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実用性向上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685800" y="3063240"/>
            <a:ext cx="2011680" cy="411480"/>
          </a:xfrm>
          <a:prstGeom prst="rect">
            <a:avLst/>
          </a:prstGeom>
          <a:solidFill>
            <a:srgbClr val="F3F4F6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85800" y="306324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制約条件設定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2697480" y="3063240"/>
            <a:ext cx="2926080" cy="411480"/>
          </a:xfrm>
          <a:prstGeom prst="rect">
            <a:avLst/>
          </a:prstGeom>
          <a:solidFill>
            <a:srgbClr val="F3F4F6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697480" y="3063240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品質管理・トーン統一</a:t>
            </a:r>
            <a:endParaRPr lang="en-US" sz="1300" dirty="0"/>
          </a:p>
        </p:txBody>
      </p:sp>
      <p:sp>
        <p:nvSpPr>
          <p:cNvPr id="41" name="Shape 39"/>
          <p:cNvSpPr/>
          <p:nvPr/>
        </p:nvSpPr>
        <p:spPr>
          <a:xfrm>
            <a:off x="5623560" y="3063240"/>
            <a:ext cx="1828800" cy="411480"/>
          </a:xfrm>
          <a:prstGeom prst="rect">
            <a:avLst/>
          </a:prstGeom>
          <a:solidFill>
            <a:srgbClr val="F3F4F6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623560" y="306324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安定性向上</a:t>
            </a:r>
            <a:endParaRPr lang="en-US" sz="1300" dirty="0"/>
          </a:p>
        </p:txBody>
      </p:sp>
      <p:sp>
        <p:nvSpPr>
          <p:cNvPr id="43" name="Shape 41"/>
          <p:cNvSpPr/>
          <p:nvPr/>
        </p:nvSpPr>
        <p:spPr>
          <a:xfrm>
            <a:off x="685800" y="3794760"/>
            <a:ext cx="7772400" cy="502920"/>
          </a:xfrm>
          <a:prstGeom prst="rect">
            <a:avLst/>
          </a:prstGeom>
          <a:solidFill>
            <a:srgbClr val="DBEAFE"/>
          </a:solidFill>
          <a:ln/>
        </p:spPr>
      </p:sp>
      <p:pic>
        <p:nvPicPr>
          <p:cNvPr id="4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3867912"/>
            <a:ext cx="274320" cy="274320"/>
          </a:xfrm>
          <a:prstGeom prst="rect">
            <a:avLst/>
          </a:prstGeom>
        </p:spPr>
      </p:pic>
      <p:sp>
        <p:nvSpPr>
          <p:cNvPr id="45" name="Text 42"/>
          <p:cNvSpPr/>
          <p:nvPr/>
        </p:nvSpPr>
        <p:spPr>
          <a:xfrm>
            <a:off x="1234440" y="3794760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組み合わせのヒント: Few-shot + 出力形式指定 + 制約条件 → 単独より高い精度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まとめ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754380" y="1097280"/>
            <a:ext cx="1417320" cy="2011680"/>
          </a:xfrm>
          <a:prstGeom prst="rect">
            <a:avLst/>
          </a:prstGeom>
          <a:solidFill>
            <a:srgbClr val="2A3A5A"/>
          </a:solidFill>
          <a:ln w="19050">
            <a:solidFill>
              <a:srgbClr val="98D4B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54380" y="1280160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98D4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754380" y="178308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Few-shot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45820" y="2286000"/>
            <a:ext cx="1234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例を見せて精度UP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308860" y="1097280"/>
            <a:ext cx="1417320" cy="2011680"/>
          </a:xfrm>
          <a:prstGeom prst="rect">
            <a:avLst/>
          </a:prstGeom>
          <a:solidFill>
            <a:srgbClr val="2A3A5A"/>
          </a:solidFill>
          <a:ln w="19050">
            <a:solidFill>
              <a:srgbClr val="C7B8E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308860" y="1280160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C7B8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2308860" y="178308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CoT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2400300" y="2286000"/>
            <a:ext cx="1234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段階的に考えさせる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863340" y="1097280"/>
            <a:ext cx="1417320" cy="2011680"/>
          </a:xfrm>
          <a:prstGeom prst="rect">
            <a:avLst/>
          </a:prstGeom>
          <a:solidFill>
            <a:srgbClr val="2A3A5A"/>
          </a:solidFill>
          <a:ln w="19050">
            <a:solidFill>
              <a:srgbClr val="F4B8C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863340" y="1280160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4B8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3863340" y="178308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Step指示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3954780" y="2286000"/>
            <a:ext cx="1234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作業を分解する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417820" y="1097280"/>
            <a:ext cx="1417320" cy="2011680"/>
          </a:xfrm>
          <a:prstGeom prst="rect">
            <a:avLst/>
          </a:prstGeom>
          <a:solidFill>
            <a:srgbClr val="2A3A5A"/>
          </a:solidFill>
          <a:ln w="19050">
            <a:solidFill>
              <a:srgbClr val="A8D8E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17820" y="1280160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A8D8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3200" dirty="0"/>
          </a:p>
        </p:txBody>
      </p:sp>
      <p:sp>
        <p:nvSpPr>
          <p:cNvPr id="17" name="Text 15"/>
          <p:cNvSpPr/>
          <p:nvPr/>
        </p:nvSpPr>
        <p:spPr>
          <a:xfrm>
            <a:off x="5417820" y="178308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形式指定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5509260" y="2286000"/>
            <a:ext cx="1234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使える形で出力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972300" y="1097280"/>
            <a:ext cx="1417320" cy="2011680"/>
          </a:xfrm>
          <a:prstGeom prst="rect">
            <a:avLst/>
          </a:prstGeom>
          <a:solidFill>
            <a:srgbClr val="2A3A5A"/>
          </a:solidFill>
          <a:ln w="19050">
            <a:solidFill>
              <a:srgbClr val="FFE6A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972300" y="1280160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E6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3200" dirty="0"/>
          </a:p>
        </p:txBody>
      </p:sp>
      <p:sp>
        <p:nvSpPr>
          <p:cNvPr id="21" name="Text 19"/>
          <p:cNvSpPr/>
          <p:nvPr/>
        </p:nvSpPr>
        <p:spPr>
          <a:xfrm>
            <a:off x="6972300" y="178308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制約設定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7063740" y="2286000"/>
            <a:ext cx="1234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ルールで品質を守る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1828800" y="3383280"/>
            <a:ext cx="5486400" cy="914400"/>
          </a:xfrm>
          <a:prstGeom prst="rect">
            <a:avLst>
              <a:gd name="adj" fmla="val 10000"/>
            </a:avLst>
          </a:prstGeom>
          <a:solidFill>
            <a:srgbClr val="2563EB"/>
          </a:solidFill>
          <a:ln/>
        </p:spPr>
      </p:sp>
      <p:sp>
        <p:nvSpPr>
          <p:cNvPr id="24" name="Text 22"/>
          <p:cNvSpPr/>
          <p:nvPr/>
        </p:nvSpPr>
        <p:spPr>
          <a:xfrm>
            <a:off x="1828800" y="342900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お疲れさまでした！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1828800" y="38404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確認テスト（5問）に挑戦 — 80%以上で修了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57200" y="45720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A-106   |   プロンプト実践テクニック   |   20分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A-106: プロンプト実践テクニック — AIの回答精度を引き上げる応用スキル</dc:title>
  <dc:subject>PptxGenJS Presentation</dc:subject>
  <dc:creator>Gorilla Knowledge</dc:creator>
  <cp:lastModifiedBy>Gorilla Knowledge</cp:lastModifiedBy>
  <cp:revision>1</cp:revision>
  <dcterms:created xsi:type="dcterms:W3CDTF">2026-03-30T12:13:19Z</dcterms:created>
  <dcterms:modified xsi:type="dcterms:W3CDTF">2026-03-30T12:13:19Z</dcterms:modified>
</cp:coreProperties>
</file>