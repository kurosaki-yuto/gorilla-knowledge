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274820" y="777240"/>
            <a:ext cx="594360" cy="594360"/>
          </a:xfrm>
          <a:prstGeom prst="rect">
            <a:avLst/>
          </a:prstGeom>
        </p:spPr>
      </p:pic>
      <p:sp>
        <p:nvSpPr>
          <p:cNvPr id="3" name="Text 0"/>
          <p:cNvSpPr/>
          <p:nvPr/>
        </p:nvSpPr>
        <p:spPr>
          <a:xfrm>
            <a:off x="457200" y="1508760"/>
            <a:ext cx="8229600" cy="777240"/>
          </a:xfrm>
          <a:prstGeom prst="rect">
            <a:avLst/>
          </a:prstGeom>
          <a:noFill/>
          <a:ln/>
        </p:spPr>
        <p:txBody>
          <a:bodyPr wrap="square" rtlCol="0" anchor="ctr">
            <a:normAutofit/>
          </a:bodyPr>
          <a:lstStyle/>
          <a:p>
            <a:pPr algn="ctr" indent="0" marL="0">
              <a:buNone/>
            </a:pPr>
            <a:r>
              <a:rPr lang="en-US" sz="4000" b="1" dirty="0">
                <a:solidFill>
                  <a:srgbClr val="FFFFFF"/>
                </a:solidFill>
                <a:latin typeface="Calibri" pitchFamily="34" charset="0"/>
                <a:ea typeface="Calibri" pitchFamily="34" charset="-122"/>
                <a:cs typeface="Calibri" pitchFamily="34" charset="-120"/>
              </a:rPr>
              <a:t>高度な検索テクニック</a:t>
            </a:r>
            <a:endParaRPr lang="en-US" sz="4000" dirty="0"/>
          </a:p>
        </p:txBody>
      </p:sp>
      <p:sp>
        <p:nvSpPr>
          <p:cNvPr id="4" name="Shape 1"/>
          <p:cNvSpPr/>
          <p:nvPr/>
        </p:nvSpPr>
        <p:spPr>
          <a:xfrm>
            <a:off x="2926080" y="2423160"/>
            <a:ext cx="3291840" cy="0"/>
          </a:xfrm>
          <a:prstGeom prst="line">
            <a:avLst/>
          </a:prstGeom>
          <a:noFill/>
          <a:ln w="19050">
            <a:solidFill>
              <a:srgbClr val="93C5FD"/>
            </a:solidFill>
            <a:prstDash val="solid"/>
          </a:ln>
        </p:spPr>
      </p:sp>
      <p:sp>
        <p:nvSpPr>
          <p:cNvPr id="5" name="Text 2"/>
          <p:cNvSpPr/>
          <p:nvPr/>
        </p:nvSpPr>
        <p:spPr>
          <a:xfrm>
            <a:off x="457200" y="2560320"/>
            <a:ext cx="8229600" cy="411480"/>
          </a:xfrm>
          <a:prstGeom prst="rect">
            <a:avLst/>
          </a:prstGeom>
          <a:noFill/>
          <a:ln/>
        </p:spPr>
        <p:txBody>
          <a:bodyPr wrap="square" rtlCol="0" anchor="ctr">
            <a:normAutofit/>
          </a:bodyPr>
          <a:lstStyle/>
          <a:p>
            <a:pPr algn="ctr" indent="0" marL="0">
              <a:buNone/>
            </a:pPr>
            <a:r>
              <a:rPr lang="en-US" sz="2000" dirty="0">
                <a:solidFill>
                  <a:srgbClr val="93C5FD"/>
                </a:solidFill>
                <a:latin typeface="Calibri" pitchFamily="34" charset="0"/>
                <a:ea typeface="Calibri" pitchFamily="34" charset="-122"/>
                <a:cs typeface="Calibri" pitchFamily="34" charset="-120"/>
              </a:rPr>
              <a:t>Perplexityを使いこなす</a:t>
            </a:r>
            <a:endParaRPr lang="en-US" sz="2000" dirty="0"/>
          </a:p>
        </p:txBody>
      </p:sp>
      <p:sp>
        <p:nvSpPr>
          <p:cNvPr id="6" name="Text 3"/>
          <p:cNvSpPr/>
          <p:nvPr/>
        </p:nvSpPr>
        <p:spPr>
          <a:xfrm>
            <a:off x="457200" y="3566160"/>
            <a:ext cx="8229600" cy="320040"/>
          </a:xfrm>
          <a:prstGeom prst="rect">
            <a:avLst/>
          </a:prstGeom>
          <a:noFill/>
          <a:ln/>
        </p:spPr>
        <p:txBody>
          <a:bodyPr wrap="square" rtlCol="0" anchor="ctr">
            <a:normAutofit/>
          </a:bodyPr>
          <a:lstStyle/>
          <a:p>
            <a:pPr algn="ctr" indent="0" marL="0">
              <a:buNone/>
            </a:pPr>
            <a:r>
              <a:rPr lang="en-US" sz="1200" dirty="0">
                <a:solidFill>
                  <a:srgbClr val="9CA3AF"/>
                </a:solidFill>
                <a:latin typeface="Calibri" pitchFamily="34" charset="0"/>
                <a:ea typeface="Calibri" pitchFamily="34" charset="-122"/>
                <a:cs typeface="Calibri" pitchFamily="34" charset="-120"/>
              </a:rPr>
              <a:t>P-03  |  全社員  |  12分</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Text 1"/>
          <p:cNvSpPr/>
          <p:nvPr/>
        </p:nvSpPr>
        <p:spPr>
          <a:xfrm>
            <a:off x="685800" y="109728"/>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今日のゴール</a:t>
            </a:r>
            <a:endParaRPr lang="en-US" sz="3200" dirty="0"/>
          </a:p>
        </p:txBody>
      </p:sp>
      <p:sp>
        <p:nvSpPr>
          <p:cNvPr id="4" name="Shape 2"/>
          <p:cNvSpPr/>
          <p:nvPr/>
        </p:nvSpPr>
        <p:spPr>
          <a:xfrm>
            <a:off x="685800" y="4759452"/>
            <a:ext cx="7772400" cy="0"/>
          </a:xfrm>
          <a:prstGeom prst="line">
            <a:avLst/>
          </a:prstGeom>
          <a:noFill/>
          <a:ln w="6350">
            <a:solidFill>
              <a:srgbClr val="E5E7EB"/>
            </a:solidFill>
            <a:prstDash val="solid"/>
          </a:ln>
        </p:spPr>
      </p:sp>
      <p:sp>
        <p:nvSpPr>
          <p:cNvPr id="5" name="Text 3"/>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6" name="Text 4"/>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2 / 12</a:t>
            </a:r>
            <a:endParaRPr lang="en-US" sz="1000" dirty="0"/>
          </a:p>
        </p:txBody>
      </p:sp>
      <p:sp>
        <p:nvSpPr>
          <p:cNvPr id="7" name="Shape 5"/>
          <p:cNvSpPr/>
          <p:nvPr/>
        </p:nvSpPr>
        <p:spPr>
          <a:xfrm>
            <a:off x="685800" y="960120"/>
            <a:ext cx="7772400" cy="868680"/>
          </a:xfrm>
          <a:prstGeom prst="rect">
            <a:avLst>
              <a:gd name="adj" fmla="val 6316"/>
            </a:avLst>
          </a:prstGeom>
          <a:solidFill>
            <a:srgbClr val="DBEAFE"/>
          </a:solidFill>
          <a:ln w="6350">
            <a:solidFill>
              <a:srgbClr val="E5E7EB"/>
            </a:solidFill>
            <a:prstDash val="solid"/>
          </a:ln>
        </p:spPr>
      </p:sp>
      <p:pic>
        <p:nvPicPr>
          <p:cNvPr id="8" name="Image 0" descr="preencoded.png">    </p:cNvPr>
          <p:cNvPicPr>
            <a:picLocks noChangeAspect="1"/>
          </p:cNvPicPr>
          <p:nvPr/>
        </p:nvPicPr>
        <p:blipFill>
          <a:blip r:embed="rId1"/>
          <a:stretch>
            <a:fillRect/>
          </a:stretch>
        </p:blipFill>
        <p:spPr>
          <a:xfrm>
            <a:off x="868680" y="1234440"/>
            <a:ext cx="320040" cy="320040"/>
          </a:xfrm>
          <a:prstGeom prst="rect">
            <a:avLst/>
          </a:prstGeom>
        </p:spPr>
      </p:pic>
      <p:sp>
        <p:nvSpPr>
          <p:cNvPr id="9" name="Text 6"/>
          <p:cNvSpPr/>
          <p:nvPr/>
        </p:nvSpPr>
        <p:spPr>
          <a:xfrm>
            <a:off x="1280160" y="1069848"/>
            <a:ext cx="411480" cy="411480"/>
          </a:xfrm>
          <a:prstGeom prst="ellipse">
            <a:avLst/>
          </a:prstGeom>
          <a:solidFill>
            <a:srgbClr val="2563EB"/>
          </a:solid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p:nvPr/>
        </p:nvSpPr>
        <p:spPr>
          <a:xfrm>
            <a:off x="1828800" y="1124712"/>
            <a:ext cx="6400800" cy="54864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Focus機能（7種）を目的に応じて使い分けられる</a:t>
            </a:r>
            <a:endParaRPr lang="en-US" sz="1600" dirty="0"/>
          </a:p>
        </p:txBody>
      </p:sp>
      <p:sp>
        <p:nvSpPr>
          <p:cNvPr id="11" name="Shape 8"/>
          <p:cNvSpPr/>
          <p:nvPr/>
        </p:nvSpPr>
        <p:spPr>
          <a:xfrm>
            <a:off x="685800" y="2057400"/>
            <a:ext cx="7772400" cy="868680"/>
          </a:xfrm>
          <a:prstGeom prst="rect">
            <a:avLst>
              <a:gd name="adj" fmla="val 6316"/>
            </a:avLst>
          </a:prstGeom>
          <a:solidFill>
            <a:srgbClr val="FAFBFC"/>
          </a:solidFill>
          <a:ln w="6350">
            <a:solidFill>
              <a:srgbClr val="E5E7EB"/>
            </a:solidFill>
            <a:prstDash val="solid"/>
          </a:ln>
        </p:spPr>
      </p:sp>
      <p:pic>
        <p:nvPicPr>
          <p:cNvPr id="12" name="Image 1" descr="preencoded.png">    </p:cNvPr>
          <p:cNvPicPr>
            <a:picLocks noChangeAspect="1"/>
          </p:cNvPicPr>
          <p:nvPr/>
        </p:nvPicPr>
        <p:blipFill>
          <a:blip r:embed="rId2"/>
          <a:stretch>
            <a:fillRect/>
          </a:stretch>
        </p:blipFill>
        <p:spPr>
          <a:xfrm>
            <a:off x="868680" y="2331720"/>
            <a:ext cx="320040" cy="320040"/>
          </a:xfrm>
          <a:prstGeom prst="rect">
            <a:avLst/>
          </a:prstGeom>
        </p:spPr>
      </p:pic>
      <p:sp>
        <p:nvSpPr>
          <p:cNvPr id="13" name="Text 9"/>
          <p:cNvSpPr/>
          <p:nvPr/>
        </p:nvSpPr>
        <p:spPr>
          <a:xfrm>
            <a:off x="1280160" y="2167128"/>
            <a:ext cx="411480" cy="411480"/>
          </a:xfrm>
          <a:prstGeom prst="ellipse">
            <a:avLst/>
          </a:prstGeom>
          <a:solidFill>
            <a:srgbClr val="2563EB"/>
          </a:solid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0"/>
          <p:cNvSpPr/>
          <p:nvPr/>
        </p:nvSpPr>
        <p:spPr>
          <a:xfrm>
            <a:off x="1828800" y="2221992"/>
            <a:ext cx="6400800" cy="54864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Pro Search・Deep Researchで複雑な調査を効率化できる</a:t>
            </a:r>
            <a:endParaRPr lang="en-US" sz="1600" dirty="0"/>
          </a:p>
        </p:txBody>
      </p:sp>
      <p:sp>
        <p:nvSpPr>
          <p:cNvPr id="15" name="Shape 11"/>
          <p:cNvSpPr/>
          <p:nvPr/>
        </p:nvSpPr>
        <p:spPr>
          <a:xfrm>
            <a:off x="685800" y="3154680"/>
            <a:ext cx="7772400" cy="868680"/>
          </a:xfrm>
          <a:prstGeom prst="rect">
            <a:avLst>
              <a:gd name="adj" fmla="val 6316"/>
            </a:avLst>
          </a:prstGeom>
          <a:solidFill>
            <a:srgbClr val="DBEAFE"/>
          </a:solidFill>
          <a:ln w="6350">
            <a:solidFill>
              <a:srgbClr val="E5E7EB"/>
            </a:solidFill>
            <a:prstDash val="solid"/>
          </a:ln>
        </p:spPr>
      </p:sp>
      <p:pic>
        <p:nvPicPr>
          <p:cNvPr id="16" name="Image 2" descr="preencoded.png">    </p:cNvPr>
          <p:cNvPicPr>
            <a:picLocks noChangeAspect="1"/>
          </p:cNvPicPr>
          <p:nvPr/>
        </p:nvPicPr>
        <p:blipFill>
          <a:blip r:embed="rId3"/>
          <a:stretch>
            <a:fillRect/>
          </a:stretch>
        </p:blipFill>
        <p:spPr>
          <a:xfrm>
            <a:off x="868680" y="3429000"/>
            <a:ext cx="320040" cy="320040"/>
          </a:xfrm>
          <a:prstGeom prst="rect">
            <a:avLst/>
          </a:prstGeom>
        </p:spPr>
      </p:pic>
      <p:sp>
        <p:nvSpPr>
          <p:cNvPr id="17" name="Text 12"/>
          <p:cNvSpPr/>
          <p:nvPr/>
        </p:nvSpPr>
        <p:spPr>
          <a:xfrm>
            <a:off x="1280160" y="3264408"/>
            <a:ext cx="411480" cy="411480"/>
          </a:xfrm>
          <a:prstGeom prst="ellipse">
            <a:avLst/>
          </a:prstGeom>
          <a:solidFill>
            <a:srgbClr val="2563EB"/>
          </a:solid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3"/>
          <p:cNvSpPr/>
          <p:nvPr/>
        </p:nvSpPr>
        <p:spPr>
          <a:xfrm>
            <a:off x="1828800" y="3319272"/>
            <a:ext cx="6400800" cy="54864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Spaces・Pagesでチーム活用できる</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Shape 1"/>
          <p:cNvSpPr/>
          <p:nvPr/>
        </p:nvSpPr>
        <p:spPr>
          <a:xfrm>
            <a:off x="685800" y="109728"/>
            <a:ext cx="960120" cy="256032"/>
          </a:xfrm>
          <a:prstGeom prst="rect">
            <a:avLst>
              <a:gd name="adj" fmla="val 14286"/>
            </a:avLst>
          </a:prstGeom>
          <a:solidFill>
            <a:srgbClr val="DBEAFE"/>
          </a:solidFill>
          <a:ln/>
        </p:spPr>
      </p:sp>
      <p:sp>
        <p:nvSpPr>
          <p:cNvPr id="4" name="Text 2"/>
          <p:cNvSpPr/>
          <p:nvPr/>
        </p:nvSpPr>
        <p:spPr>
          <a:xfrm>
            <a:off x="685800" y="109728"/>
            <a:ext cx="960120" cy="25603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FOCUS</a:t>
            </a:r>
            <a:endParaRPr lang="en-US" sz="1000" dirty="0"/>
          </a:p>
        </p:txBody>
      </p:sp>
      <p:sp>
        <p:nvSpPr>
          <p:cNvPr id="5" name="Text 3"/>
          <p:cNvSpPr/>
          <p:nvPr/>
        </p:nvSpPr>
        <p:spPr>
          <a:xfrm>
            <a:off x="685800" y="420624"/>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Focus機能とは？</a:t>
            </a:r>
            <a:endParaRPr lang="en-US" sz="3200" dirty="0"/>
          </a:p>
        </p:txBody>
      </p:sp>
      <p:sp>
        <p:nvSpPr>
          <p:cNvPr id="6" name="Shape 4"/>
          <p:cNvSpPr/>
          <p:nvPr/>
        </p:nvSpPr>
        <p:spPr>
          <a:xfrm>
            <a:off x="685800" y="4759452"/>
            <a:ext cx="7772400" cy="0"/>
          </a:xfrm>
          <a:prstGeom prst="line">
            <a:avLst/>
          </a:prstGeom>
          <a:noFill/>
          <a:ln w="6350">
            <a:solidFill>
              <a:srgbClr val="E5E7EB"/>
            </a:solidFill>
            <a:prstDash val="solid"/>
          </a:ln>
        </p:spPr>
      </p:sp>
      <p:sp>
        <p:nvSpPr>
          <p:cNvPr id="7" name="Text 5"/>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8" name="Text 6"/>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3 / 12</a:t>
            </a:r>
            <a:endParaRPr lang="en-US" sz="1000" dirty="0"/>
          </a:p>
        </p:txBody>
      </p:sp>
      <p:sp>
        <p:nvSpPr>
          <p:cNvPr id="9" name="Shape 7"/>
          <p:cNvSpPr/>
          <p:nvPr/>
        </p:nvSpPr>
        <p:spPr>
          <a:xfrm>
            <a:off x="685800" y="914400"/>
            <a:ext cx="7772400" cy="594360"/>
          </a:xfrm>
          <a:prstGeom prst="rect">
            <a:avLst>
              <a:gd name="adj" fmla="val 7692"/>
            </a:avLst>
          </a:prstGeom>
          <a:solidFill>
            <a:srgbClr val="DBEAFE"/>
          </a:solidFill>
          <a:ln/>
        </p:spPr>
      </p:sp>
      <p:sp>
        <p:nvSpPr>
          <p:cNvPr id="10" name="Text 8"/>
          <p:cNvSpPr/>
          <p:nvPr/>
        </p:nvSpPr>
        <p:spPr>
          <a:xfrm>
            <a:off x="960120" y="914400"/>
            <a:ext cx="7223760" cy="594360"/>
          </a:xfrm>
          <a:prstGeom prst="rect">
            <a:avLst/>
          </a:prstGeom>
          <a:noFill/>
          <a:ln/>
        </p:spPr>
        <p:txBody>
          <a:bodyPr wrap="square" rtlCol="0" anchor="ctr">
            <a:normAutofit/>
          </a:bodyPr>
          <a:lstStyle/>
          <a:p>
            <a:pPr indent="0" marL="0">
              <a:buNone/>
            </a:pPr>
            <a:r>
              <a:rPr lang="en-US" sz="1600" b="1" dirty="0">
                <a:solidFill>
                  <a:srgbClr val="2563EB"/>
                </a:solidFill>
                <a:latin typeface="Calibri" pitchFamily="34" charset="0"/>
                <a:ea typeface="Calibri" pitchFamily="34" charset="-122"/>
                <a:cs typeface="Calibri" pitchFamily="34" charset="-120"/>
              </a:rPr>
              <a:t>検索対象を7種類から選んで絞り込み、回答の精度を上げる機能</a:t>
            </a:r>
            <a:endParaRPr lang="en-US" sz="1600" dirty="0"/>
          </a:p>
        </p:txBody>
      </p:sp>
      <p:sp>
        <p:nvSpPr>
          <p:cNvPr id="11" name="Shape 9"/>
          <p:cNvSpPr/>
          <p:nvPr/>
        </p:nvSpPr>
        <p:spPr>
          <a:xfrm>
            <a:off x="905256" y="1783080"/>
            <a:ext cx="2286000" cy="1234440"/>
          </a:xfrm>
          <a:prstGeom prst="rect">
            <a:avLst>
              <a:gd name="adj" fmla="val 3704"/>
            </a:avLst>
          </a:prstGeom>
          <a:solidFill>
            <a:srgbClr val="FAFBFC"/>
          </a:solidFill>
          <a:ln w="6350">
            <a:solidFill>
              <a:srgbClr val="E5E7EB"/>
            </a:solidFill>
            <a:prstDash val="solid"/>
          </a:ln>
        </p:spPr>
      </p:sp>
      <p:pic>
        <p:nvPicPr>
          <p:cNvPr id="12" name="Image 0" descr="preencoded.png">    </p:cNvPr>
          <p:cNvPicPr>
            <a:picLocks noChangeAspect="1"/>
          </p:cNvPicPr>
          <p:nvPr/>
        </p:nvPicPr>
        <p:blipFill>
          <a:blip r:embed="rId1"/>
          <a:stretch>
            <a:fillRect/>
          </a:stretch>
        </p:blipFill>
        <p:spPr>
          <a:xfrm>
            <a:off x="1901952" y="1947672"/>
            <a:ext cx="292608" cy="292608"/>
          </a:xfrm>
          <a:prstGeom prst="rect">
            <a:avLst/>
          </a:prstGeom>
        </p:spPr>
      </p:pic>
      <p:sp>
        <p:nvSpPr>
          <p:cNvPr id="13" name="Text 10"/>
          <p:cNvSpPr/>
          <p:nvPr/>
        </p:nvSpPr>
        <p:spPr>
          <a:xfrm>
            <a:off x="905256" y="2286000"/>
            <a:ext cx="2286000" cy="32004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ノイズ削減</a:t>
            </a:r>
            <a:endParaRPr lang="en-US" sz="1600" dirty="0"/>
          </a:p>
        </p:txBody>
      </p:sp>
      <p:sp>
        <p:nvSpPr>
          <p:cNvPr id="14" name="Text 11"/>
          <p:cNvSpPr/>
          <p:nvPr/>
        </p:nvSpPr>
        <p:spPr>
          <a:xfrm>
            <a:off x="905256" y="2606040"/>
            <a:ext cx="2286000" cy="274320"/>
          </a:xfrm>
          <a:prstGeom prst="rect">
            <a:avLst/>
          </a:prstGeom>
          <a:noFill/>
          <a:ln/>
        </p:spPr>
        <p:txBody>
          <a:bodyPr wrap="square" rtlCol="0" anchor="ctr">
            <a:normAutofit/>
          </a:bodyPr>
          <a:lstStyle/>
          <a:p>
            <a:pPr algn="ctr" indent="0" marL="0">
              <a:buNone/>
            </a:pPr>
            <a:r>
              <a:rPr lang="en-US" sz="1400" dirty="0">
                <a:solidFill>
                  <a:srgbClr val="6B7280"/>
                </a:solidFill>
                <a:latin typeface="Calibri" pitchFamily="34" charset="0"/>
                <a:ea typeface="Calibri" pitchFamily="34" charset="-122"/>
                <a:cs typeface="Calibri" pitchFamily="34" charset="-120"/>
              </a:rPr>
              <a:t>不要なソースを排除</a:t>
            </a:r>
            <a:endParaRPr lang="en-US" sz="1400" dirty="0"/>
          </a:p>
        </p:txBody>
      </p:sp>
      <p:sp>
        <p:nvSpPr>
          <p:cNvPr id="15" name="Shape 12"/>
          <p:cNvSpPr/>
          <p:nvPr/>
        </p:nvSpPr>
        <p:spPr>
          <a:xfrm>
            <a:off x="3429000" y="1783080"/>
            <a:ext cx="2286000" cy="1234440"/>
          </a:xfrm>
          <a:prstGeom prst="rect">
            <a:avLst>
              <a:gd name="adj" fmla="val 3704"/>
            </a:avLst>
          </a:prstGeom>
          <a:solidFill>
            <a:srgbClr val="FAFBFC"/>
          </a:solidFill>
          <a:ln w="6350">
            <a:solidFill>
              <a:srgbClr val="E5E7EB"/>
            </a:solidFill>
            <a:prstDash val="solid"/>
          </a:ln>
        </p:spPr>
      </p:sp>
      <p:pic>
        <p:nvPicPr>
          <p:cNvPr id="16" name="Image 1" descr="preencoded.png">    </p:cNvPr>
          <p:cNvPicPr>
            <a:picLocks noChangeAspect="1"/>
          </p:cNvPicPr>
          <p:nvPr/>
        </p:nvPicPr>
        <p:blipFill>
          <a:blip r:embed="rId2"/>
          <a:stretch>
            <a:fillRect/>
          </a:stretch>
        </p:blipFill>
        <p:spPr>
          <a:xfrm>
            <a:off x="4425696" y="1947672"/>
            <a:ext cx="292608" cy="292608"/>
          </a:xfrm>
          <a:prstGeom prst="rect">
            <a:avLst/>
          </a:prstGeom>
        </p:spPr>
      </p:pic>
      <p:sp>
        <p:nvSpPr>
          <p:cNvPr id="17" name="Text 13"/>
          <p:cNvSpPr/>
          <p:nvPr/>
        </p:nvSpPr>
        <p:spPr>
          <a:xfrm>
            <a:off x="3429000" y="2286000"/>
            <a:ext cx="2286000" cy="32004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精度向上</a:t>
            </a:r>
            <a:endParaRPr lang="en-US" sz="1600" dirty="0"/>
          </a:p>
        </p:txBody>
      </p:sp>
      <p:sp>
        <p:nvSpPr>
          <p:cNvPr id="18" name="Text 14"/>
          <p:cNvSpPr/>
          <p:nvPr/>
        </p:nvSpPr>
        <p:spPr>
          <a:xfrm>
            <a:off x="3429000" y="2606040"/>
            <a:ext cx="2286000" cy="274320"/>
          </a:xfrm>
          <a:prstGeom prst="rect">
            <a:avLst/>
          </a:prstGeom>
          <a:noFill/>
          <a:ln/>
        </p:spPr>
        <p:txBody>
          <a:bodyPr wrap="square" rtlCol="0" anchor="ctr">
            <a:normAutofit/>
          </a:bodyPr>
          <a:lstStyle/>
          <a:p>
            <a:pPr algn="ctr" indent="0" marL="0">
              <a:buNone/>
            </a:pPr>
            <a:r>
              <a:rPr lang="en-US" sz="1400" dirty="0">
                <a:solidFill>
                  <a:srgbClr val="6B7280"/>
                </a:solidFill>
                <a:latin typeface="Calibri" pitchFamily="34" charset="0"/>
                <a:ea typeface="Calibri" pitchFamily="34" charset="-122"/>
                <a:cs typeface="Calibri" pitchFamily="34" charset="-120"/>
              </a:rPr>
              <a:t>目的に合った情報だけ</a:t>
            </a:r>
            <a:endParaRPr lang="en-US" sz="1400" dirty="0"/>
          </a:p>
        </p:txBody>
      </p:sp>
      <p:sp>
        <p:nvSpPr>
          <p:cNvPr id="19" name="Shape 15"/>
          <p:cNvSpPr/>
          <p:nvPr/>
        </p:nvSpPr>
        <p:spPr>
          <a:xfrm>
            <a:off x="5952744" y="1783080"/>
            <a:ext cx="2286000" cy="1234440"/>
          </a:xfrm>
          <a:prstGeom prst="rect">
            <a:avLst>
              <a:gd name="adj" fmla="val 3704"/>
            </a:avLst>
          </a:prstGeom>
          <a:solidFill>
            <a:srgbClr val="FAFBFC"/>
          </a:solidFill>
          <a:ln w="6350">
            <a:solidFill>
              <a:srgbClr val="E5E7EB"/>
            </a:solidFill>
            <a:prstDash val="solid"/>
          </a:ln>
        </p:spPr>
      </p:sp>
      <p:pic>
        <p:nvPicPr>
          <p:cNvPr id="20" name="Image 2" descr="preencoded.png">    </p:cNvPr>
          <p:cNvPicPr>
            <a:picLocks noChangeAspect="1"/>
          </p:cNvPicPr>
          <p:nvPr/>
        </p:nvPicPr>
        <p:blipFill>
          <a:blip r:embed="rId3"/>
          <a:stretch>
            <a:fillRect/>
          </a:stretch>
        </p:blipFill>
        <p:spPr>
          <a:xfrm>
            <a:off x="6949440" y="1947672"/>
            <a:ext cx="292608" cy="292608"/>
          </a:xfrm>
          <a:prstGeom prst="rect">
            <a:avLst/>
          </a:prstGeom>
        </p:spPr>
      </p:pic>
      <p:sp>
        <p:nvSpPr>
          <p:cNvPr id="21" name="Text 16"/>
          <p:cNvSpPr/>
          <p:nvPr/>
        </p:nvSpPr>
        <p:spPr>
          <a:xfrm>
            <a:off x="5952744" y="2286000"/>
            <a:ext cx="2286000" cy="32004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時間短縮</a:t>
            </a:r>
            <a:endParaRPr lang="en-US" sz="1600" dirty="0"/>
          </a:p>
        </p:txBody>
      </p:sp>
      <p:sp>
        <p:nvSpPr>
          <p:cNvPr id="22" name="Text 17"/>
          <p:cNvSpPr/>
          <p:nvPr/>
        </p:nvSpPr>
        <p:spPr>
          <a:xfrm>
            <a:off x="5952744" y="2606040"/>
            <a:ext cx="2286000" cy="274320"/>
          </a:xfrm>
          <a:prstGeom prst="rect">
            <a:avLst/>
          </a:prstGeom>
          <a:noFill/>
          <a:ln/>
        </p:spPr>
        <p:txBody>
          <a:bodyPr wrap="square" rtlCol="0" anchor="ctr">
            <a:normAutofit/>
          </a:bodyPr>
          <a:lstStyle/>
          <a:p>
            <a:pPr algn="ctr" indent="0" marL="0">
              <a:buNone/>
            </a:pPr>
            <a:r>
              <a:rPr lang="en-US" sz="1400" dirty="0">
                <a:solidFill>
                  <a:srgbClr val="6B7280"/>
                </a:solidFill>
                <a:latin typeface="Calibri" pitchFamily="34" charset="0"/>
                <a:ea typeface="Calibri" pitchFamily="34" charset="-122"/>
                <a:cs typeface="Calibri" pitchFamily="34" charset="-120"/>
              </a:rPr>
              <a:t>最短で欲しい情報へ</a:t>
            </a:r>
            <a:endParaRPr lang="en-US" sz="1400" dirty="0"/>
          </a:p>
        </p:txBody>
      </p:sp>
      <p:pic>
        <p:nvPicPr>
          <p:cNvPr id="23" name="Image 3" descr="preencoded.png">    </p:cNvPr>
          <p:cNvPicPr>
            <a:picLocks noChangeAspect="1"/>
          </p:cNvPicPr>
          <p:nvPr/>
        </p:nvPicPr>
        <p:blipFill>
          <a:blip r:embed="rId4"/>
          <a:stretch>
            <a:fillRect/>
          </a:stretch>
        </p:blipFill>
        <p:spPr>
          <a:xfrm>
            <a:off x="685800" y="3291840"/>
            <a:ext cx="201168" cy="201168"/>
          </a:xfrm>
          <a:prstGeom prst="rect">
            <a:avLst/>
          </a:prstGeom>
        </p:spPr>
      </p:pic>
      <p:sp>
        <p:nvSpPr>
          <p:cNvPr id="24" name="Text 18"/>
          <p:cNvSpPr/>
          <p:nvPr/>
        </p:nvSpPr>
        <p:spPr>
          <a:xfrm>
            <a:off x="978408" y="3246120"/>
            <a:ext cx="7406640" cy="320040"/>
          </a:xfrm>
          <a:prstGeom prst="rect">
            <a:avLst/>
          </a:prstGeom>
          <a:noFill/>
          <a:ln/>
        </p:spPr>
        <p:txBody>
          <a:bodyPr wrap="square" rtlCol="0" anchor="ctr">
            <a:normAutofit/>
          </a:bodyPr>
          <a:lstStyle/>
          <a:p>
            <a:pPr indent="0" marL="0">
              <a:buNone/>
            </a:pPr>
            <a:r>
              <a:rPr lang="en-US" sz="1200" i="1" dirty="0">
                <a:solidFill>
                  <a:srgbClr val="6B7280"/>
                </a:solidFill>
                <a:latin typeface="Calibri" pitchFamily="34" charset="0"/>
                <a:ea typeface="Calibri" pitchFamily="34" charset="-122"/>
                <a:cs typeface="Calibri" pitchFamily="34" charset="-120"/>
              </a:rPr>
              <a:t>検索バー横のアイコンからFocusの種類を選ぶだけ</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Text 1"/>
          <p:cNvSpPr/>
          <p:nvPr/>
        </p:nvSpPr>
        <p:spPr>
          <a:xfrm>
            <a:off x="685800" y="109728"/>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Focus使い分けガイド</a:t>
            </a:r>
            <a:endParaRPr lang="en-US" sz="3200" dirty="0"/>
          </a:p>
        </p:txBody>
      </p:sp>
      <p:sp>
        <p:nvSpPr>
          <p:cNvPr id="4" name="Shape 2"/>
          <p:cNvSpPr/>
          <p:nvPr/>
        </p:nvSpPr>
        <p:spPr>
          <a:xfrm>
            <a:off x="685800" y="4759452"/>
            <a:ext cx="7772400" cy="0"/>
          </a:xfrm>
          <a:prstGeom prst="line">
            <a:avLst/>
          </a:prstGeom>
          <a:noFill/>
          <a:ln w="6350">
            <a:solidFill>
              <a:srgbClr val="E5E7EB"/>
            </a:solidFill>
            <a:prstDash val="solid"/>
          </a:ln>
        </p:spPr>
      </p:sp>
      <p:sp>
        <p:nvSpPr>
          <p:cNvPr id="5" name="Text 3"/>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6" name="Text 4"/>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4 / 12</a:t>
            </a:r>
            <a:endParaRPr lang="en-US" sz="1000" dirty="0"/>
          </a:p>
        </p:txBody>
      </p:sp>
      <p:sp>
        <p:nvSpPr>
          <p:cNvPr id="7" name="Shape 5"/>
          <p:cNvSpPr/>
          <p:nvPr/>
        </p:nvSpPr>
        <p:spPr>
          <a:xfrm>
            <a:off x="576072" y="914400"/>
            <a:ext cx="1874520" cy="1005840"/>
          </a:xfrm>
          <a:prstGeom prst="rect">
            <a:avLst>
              <a:gd name="adj" fmla="val 3636"/>
            </a:avLst>
          </a:prstGeom>
          <a:solidFill>
            <a:srgbClr val="FAFBFC"/>
          </a:solidFill>
          <a:ln w="6350">
            <a:solidFill>
              <a:srgbClr val="E5E7EB"/>
            </a:solidFill>
            <a:prstDash val="solid"/>
          </a:ln>
        </p:spPr>
      </p:sp>
      <p:pic>
        <p:nvPicPr>
          <p:cNvPr id="8" name="Image 0" descr="preencoded.png">    </p:cNvPr>
          <p:cNvPicPr>
            <a:picLocks noChangeAspect="1"/>
          </p:cNvPicPr>
          <p:nvPr/>
        </p:nvPicPr>
        <p:blipFill>
          <a:blip r:embed="rId1"/>
          <a:stretch>
            <a:fillRect/>
          </a:stretch>
        </p:blipFill>
        <p:spPr>
          <a:xfrm>
            <a:off x="685800" y="1289304"/>
            <a:ext cx="256032" cy="256032"/>
          </a:xfrm>
          <a:prstGeom prst="rect">
            <a:avLst/>
          </a:prstGeom>
        </p:spPr>
      </p:pic>
      <p:sp>
        <p:nvSpPr>
          <p:cNvPr id="9" name="Text 6"/>
          <p:cNvSpPr/>
          <p:nvPr/>
        </p:nvSpPr>
        <p:spPr>
          <a:xfrm>
            <a:off x="1014984" y="987552"/>
            <a:ext cx="1325880" cy="292608"/>
          </a:xfrm>
          <a:prstGeom prst="rect">
            <a:avLst/>
          </a:prstGeom>
          <a:noFill/>
          <a:ln/>
        </p:spPr>
        <p:txBody>
          <a:bodyPr wrap="square" rtlCol="0" anchor="ctr">
            <a:normAutofit/>
          </a:bodyPr>
          <a:lstStyle/>
          <a:p>
            <a:pPr indent="0" marL="0">
              <a:buNone/>
            </a:pPr>
            <a:r>
              <a:rPr lang="en-US" sz="1400" b="1" dirty="0">
                <a:solidFill>
                  <a:srgbClr val="111827"/>
                </a:solidFill>
                <a:latin typeface="Calibri" pitchFamily="34" charset="0"/>
                <a:ea typeface="Calibri" pitchFamily="34" charset="-122"/>
                <a:cs typeface="Calibri" pitchFamily="34" charset="-120"/>
              </a:rPr>
              <a:t>All</a:t>
            </a:r>
            <a:endParaRPr lang="en-US" sz="1400" dirty="0"/>
          </a:p>
        </p:txBody>
      </p:sp>
      <p:sp>
        <p:nvSpPr>
          <p:cNvPr id="10" name="Text 7"/>
          <p:cNvSpPr/>
          <p:nvPr/>
        </p:nvSpPr>
        <p:spPr>
          <a:xfrm>
            <a:off x="1014984" y="1280160"/>
            <a:ext cx="1325880" cy="54864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一般的な質問</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Web全体を横断</a:t>
            </a:r>
            <a:endParaRPr lang="en-US" sz="1000" dirty="0"/>
          </a:p>
        </p:txBody>
      </p:sp>
      <p:sp>
        <p:nvSpPr>
          <p:cNvPr id="11" name="Shape 8"/>
          <p:cNvSpPr/>
          <p:nvPr/>
        </p:nvSpPr>
        <p:spPr>
          <a:xfrm>
            <a:off x="2615184" y="914400"/>
            <a:ext cx="1874520" cy="1005840"/>
          </a:xfrm>
          <a:prstGeom prst="rect">
            <a:avLst>
              <a:gd name="adj" fmla="val 3636"/>
            </a:avLst>
          </a:prstGeom>
          <a:solidFill>
            <a:srgbClr val="FAFBFC"/>
          </a:solidFill>
          <a:ln w="6350">
            <a:solidFill>
              <a:srgbClr val="E5E7EB"/>
            </a:solidFill>
            <a:prstDash val="solid"/>
          </a:ln>
        </p:spPr>
      </p:sp>
      <p:pic>
        <p:nvPicPr>
          <p:cNvPr id="12" name="Image 1" descr="preencoded.png">    </p:cNvPr>
          <p:cNvPicPr>
            <a:picLocks noChangeAspect="1"/>
          </p:cNvPicPr>
          <p:nvPr/>
        </p:nvPicPr>
        <p:blipFill>
          <a:blip r:embed="rId2"/>
          <a:stretch>
            <a:fillRect/>
          </a:stretch>
        </p:blipFill>
        <p:spPr>
          <a:xfrm>
            <a:off x="2724912" y="1289304"/>
            <a:ext cx="256032" cy="256032"/>
          </a:xfrm>
          <a:prstGeom prst="rect">
            <a:avLst/>
          </a:prstGeom>
        </p:spPr>
      </p:pic>
      <p:sp>
        <p:nvSpPr>
          <p:cNvPr id="13" name="Text 9"/>
          <p:cNvSpPr/>
          <p:nvPr/>
        </p:nvSpPr>
        <p:spPr>
          <a:xfrm>
            <a:off x="3054096" y="987552"/>
            <a:ext cx="1325880" cy="292608"/>
          </a:xfrm>
          <a:prstGeom prst="rect">
            <a:avLst/>
          </a:prstGeom>
          <a:noFill/>
          <a:ln/>
        </p:spPr>
        <p:txBody>
          <a:bodyPr wrap="square" rtlCol="0" anchor="ctr">
            <a:normAutofit/>
          </a:bodyPr>
          <a:lstStyle/>
          <a:p>
            <a:pPr indent="0" marL="0">
              <a:buNone/>
            </a:pPr>
            <a:r>
              <a:rPr lang="en-US" sz="1400" b="1" dirty="0">
                <a:solidFill>
                  <a:srgbClr val="111827"/>
                </a:solidFill>
                <a:latin typeface="Calibri" pitchFamily="34" charset="0"/>
                <a:ea typeface="Calibri" pitchFamily="34" charset="-122"/>
                <a:cs typeface="Calibri" pitchFamily="34" charset="-120"/>
              </a:rPr>
              <a:t>Academic</a:t>
            </a:r>
            <a:endParaRPr lang="en-US" sz="1400" dirty="0"/>
          </a:p>
        </p:txBody>
      </p:sp>
      <p:sp>
        <p:nvSpPr>
          <p:cNvPr id="14" name="Text 10"/>
          <p:cNvSpPr/>
          <p:nvPr/>
        </p:nvSpPr>
        <p:spPr>
          <a:xfrm>
            <a:off x="3054096" y="1280160"/>
            <a:ext cx="1325880" cy="54864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論文・研究データ</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エビデンス重視</a:t>
            </a:r>
            <a:endParaRPr lang="en-US" sz="1000" dirty="0"/>
          </a:p>
        </p:txBody>
      </p:sp>
      <p:sp>
        <p:nvSpPr>
          <p:cNvPr id="15" name="Shape 11"/>
          <p:cNvSpPr/>
          <p:nvPr/>
        </p:nvSpPr>
        <p:spPr>
          <a:xfrm>
            <a:off x="4654296" y="914400"/>
            <a:ext cx="1874520" cy="1005840"/>
          </a:xfrm>
          <a:prstGeom prst="rect">
            <a:avLst>
              <a:gd name="adj" fmla="val 3636"/>
            </a:avLst>
          </a:prstGeom>
          <a:solidFill>
            <a:srgbClr val="FAFBFC"/>
          </a:solidFill>
          <a:ln w="6350">
            <a:solidFill>
              <a:srgbClr val="E5E7EB"/>
            </a:solidFill>
            <a:prstDash val="solid"/>
          </a:ln>
        </p:spPr>
      </p:sp>
      <p:pic>
        <p:nvPicPr>
          <p:cNvPr id="16" name="Image 2" descr="preencoded.png">    </p:cNvPr>
          <p:cNvPicPr>
            <a:picLocks noChangeAspect="1"/>
          </p:cNvPicPr>
          <p:nvPr/>
        </p:nvPicPr>
        <p:blipFill>
          <a:blip r:embed="rId3"/>
          <a:stretch>
            <a:fillRect/>
          </a:stretch>
        </p:blipFill>
        <p:spPr>
          <a:xfrm>
            <a:off x="4764024" y="1289304"/>
            <a:ext cx="256032" cy="256032"/>
          </a:xfrm>
          <a:prstGeom prst="rect">
            <a:avLst/>
          </a:prstGeom>
        </p:spPr>
      </p:pic>
      <p:sp>
        <p:nvSpPr>
          <p:cNvPr id="17" name="Text 12"/>
          <p:cNvSpPr/>
          <p:nvPr/>
        </p:nvSpPr>
        <p:spPr>
          <a:xfrm>
            <a:off x="5093208" y="987552"/>
            <a:ext cx="1325880" cy="292608"/>
          </a:xfrm>
          <a:prstGeom prst="rect">
            <a:avLst/>
          </a:prstGeom>
          <a:noFill/>
          <a:ln/>
        </p:spPr>
        <p:txBody>
          <a:bodyPr wrap="square" rtlCol="0" anchor="ctr">
            <a:normAutofit/>
          </a:bodyPr>
          <a:lstStyle/>
          <a:p>
            <a:pPr indent="0" marL="0">
              <a:buNone/>
            </a:pPr>
            <a:r>
              <a:rPr lang="en-US" sz="1400" b="1" dirty="0">
                <a:solidFill>
                  <a:srgbClr val="111827"/>
                </a:solidFill>
                <a:latin typeface="Calibri" pitchFamily="34" charset="0"/>
                <a:ea typeface="Calibri" pitchFamily="34" charset="-122"/>
                <a:cs typeface="Calibri" pitchFamily="34" charset="-120"/>
              </a:rPr>
              <a:t>Writing</a:t>
            </a:r>
            <a:endParaRPr lang="en-US" sz="1400" dirty="0"/>
          </a:p>
        </p:txBody>
      </p:sp>
      <p:sp>
        <p:nvSpPr>
          <p:cNvPr id="18" name="Text 13"/>
          <p:cNvSpPr/>
          <p:nvPr/>
        </p:nvSpPr>
        <p:spPr>
          <a:xfrm>
            <a:off x="5093208" y="1280160"/>
            <a:ext cx="1325880" cy="54864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文章作成</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Web検索なし</a:t>
            </a:r>
            <a:endParaRPr lang="en-US" sz="1000" dirty="0"/>
          </a:p>
        </p:txBody>
      </p:sp>
      <p:sp>
        <p:nvSpPr>
          <p:cNvPr id="19" name="Shape 14"/>
          <p:cNvSpPr/>
          <p:nvPr/>
        </p:nvSpPr>
        <p:spPr>
          <a:xfrm>
            <a:off x="6693408" y="914400"/>
            <a:ext cx="1874520" cy="1005840"/>
          </a:xfrm>
          <a:prstGeom prst="rect">
            <a:avLst>
              <a:gd name="adj" fmla="val 3636"/>
            </a:avLst>
          </a:prstGeom>
          <a:solidFill>
            <a:srgbClr val="FAFBFC"/>
          </a:solidFill>
          <a:ln w="6350">
            <a:solidFill>
              <a:srgbClr val="E5E7EB"/>
            </a:solidFill>
            <a:prstDash val="solid"/>
          </a:ln>
        </p:spPr>
      </p:sp>
      <p:pic>
        <p:nvPicPr>
          <p:cNvPr id="20" name="Image 3" descr="preencoded.png">    </p:cNvPr>
          <p:cNvPicPr>
            <a:picLocks noChangeAspect="1"/>
          </p:cNvPicPr>
          <p:nvPr/>
        </p:nvPicPr>
        <p:blipFill>
          <a:blip r:embed="rId4"/>
          <a:stretch>
            <a:fillRect/>
          </a:stretch>
        </p:blipFill>
        <p:spPr>
          <a:xfrm>
            <a:off x="6803136" y="1289304"/>
            <a:ext cx="256032" cy="256032"/>
          </a:xfrm>
          <a:prstGeom prst="rect">
            <a:avLst/>
          </a:prstGeom>
        </p:spPr>
      </p:pic>
      <p:sp>
        <p:nvSpPr>
          <p:cNvPr id="21" name="Text 15"/>
          <p:cNvSpPr/>
          <p:nvPr/>
        </p:nvSpPr>
        <p:spPr>
          <a:xfrm>
            <a:off x="7132320" y="987552"/>
            <a:ext cx="1325880" cy="292608"/>
          </a:xfrm>
          <a:prstGeom prst="rect">
            <a:avLst/>
          </a:prstGeom>
          <a:noFill/>
          <a:ln/>
        </p:spPr>
        <p:txBody>
          <a:bodyPr wrap="square" rtlCol="0" anchor="ctr">
            <a:normAutofit/>
          </a:bodyPr>
          <a:lstStyle/>
          <a:p>
            <a:pPr indent="0" marL="0">
              <a:buNone/>
            </a:pPr>
            <a:r>
              <a:rPr lang="en-US" sz="1400" b="1" dirty="0">
                <a:solidFill>
                  <a:srgbClr val="111827"/>
                </a:solidFill>
                <a:latin typeface="Calibri" pitchFamily="34" charset="0"/>
                <a:ea typeface="Calibri" pitchFamily="34" charset="-122"/>
                <a:cs typeface="Calibri" pitchFamily="34" charset="-120"/>
              </a:rPr>
              <a:t>YouTube</a:t>
            </a:r>
            <a:endParaRPr lang="en-US" sz="1400" dirty="0"/>
          </a:p>
        </p:txBody>
      </p:sp>
      <p:sp>
        <p:nvSpPr>
          <p:cNvPr id="22" name="Text 16"/>
          <p:cNvSpPr/>
          <p:nvPr/>
        </p:nvSpPr>
        <p:spPr>
          <a:xfrm>
            <a:off x="7132320" y="1280160"/>
            <a:ext cx="1325880" cy="54864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動画・操作手順</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解説を探す</a:t>
            </a:r>
            <a:endParaRPr lang="en-US" sz="1000" dirty="0"/>
          </a:p>
        </p:txBody>
      </p:sp>
      <p:sp>
        <p:nvSpPr>
          <p:cNvPr id="23" name="Shape 17"/>
          <p:cNvSpPr/>
          <p:nvPr/>
        </p:nvSpPr>
        <p:spPr>
          <a:xfrm>
            <a:off x="1595628" y="2121408"/>
            <a:ext cx="1874520" cy="1005840"/>
          </a:xfrm>
          <a:prstGeom prst="rect">
            <a:avLst>
              <a:gd name="adj" fmla="val 3636"/>
            </a:avLst>
          </a:prstGeom>
          <a:solidFill>
            <a:srgbClr val="FAFBFC"/>
          </a:solidFill>
          <a:ln w="6350">
            <a:solidFill>
              <a:srgbClr val="E5E7EB"/>
            </a:solidFill>
            <a:prstDash val="solid"/>
          </a:ln>
        </p:spPr>
      </p:sp>
      <p:pic>
        <p:nvPicPr>
          <p:cNvPr id="24" name="Image 4" descr="preencoded.png">    </p:cNvPr>
          <p:cNvPicPr>
            <a:picLocks noChangeAspect="1"/>
          </p:cNvPicPr>
          <p:nvPr/>
        </p:nvPicPr>
        <p:blipFill>
          <a:blip r:embed="rId5"/>
          <a:stretch>
            <a:fillRect/>
          </a:stretch>
        </p:blipFill>
        <p:spPr>
          <a:xfrm>
            <a:off x="1705356" y="2496312"/>
            <a:ext cx="256032" cy="256032"/>
          </a:xfrm>
          <a:prstGeom prst="rect">
            <a:avLst/>
          </a:prstGeom>
        </p:spPr>
      </p:pic>
      <p:sp>
        <p:nvSpPr>
          <p:cNvPr id="25" name="Text 18"/>
          <p:cNvSpPr/>
          <p:nvPr/>
        </p:nvSpPr>
        <p:spPr>
          <a:xfrm>
            <a:off x="2034540" y="2194560"/>
            <a:ext cx="1325880" cy="292608"/>
          </a:xfrm>
          <a:prstGeom prst="rect">
            <a:avLst/>
          </a:prstGeom>
          <a:noFill/>
          <a:ln/>
        </p:spPr>
        <p:txBody>
          <a:bodyPr wrap="square" rtlCol="0" anchor="ctr">
            <a:normAutofit/>
          </a:bodyPr>
          <a:lstStyle/>
          <a:p>
            <a:pPr indent="0" marL="0">
              <a:buNone/>
            </a:pPr>
            <a:r>
              <a:rPr lang="en-US" sz="1400" b="1" dirty="0">
                <a:solidFill>
                  <a:srgbClr val="111827"/>
                </a:solidFill>
                <a:latin typeface="Calibri" pitchFamily="34" charset="0"/>
                <a:ea typeface="Calibri" pitchFamily="34" charset="-122"/>
                <a:cs typeface="Calibri" pitchFamily="34" charset="-120"/>
              </a:rPr>
              <a:t>Reddit</a:t>
            </a:r>
            <a:endParaRPr lang="en-US" sz="1400" dirty="0"/>
          </a:p>
        </p:txBody>
      </p:sp>
      <p:sp>
        <p:nvSpPr>
          <p:cNvPr id="26" name="Text 19"/>
          <p:cNvSpPr/>
          <p:nvPr/>
        </p:nvSpPr>
        <p:spPr>
          <a:xfrm>
            <a:off x="2034540" y="2487168"/>
            <a:ext cx="1325880" cy="54864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ネット世論</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製品評判調査</a:t>
            </a:r>
            <a:endParaRPr lang="en-US" sz="1000" dirty="0"/>
          </a:p>
        </p:txBody>
      </p:sp>
      <p:sp>
        <p:nvSpPr>
          <p:cNvPr id="27" name="Shape 20"/>
          <p:cNvSpPr/>
          <p:nvPr/>
        </p:nvSpPr>
        <p:spPr>
          <a:xfrm>
            <a:off x="3634740" y="2121408"/>
            <a:ext cx="1874520" cy="1005840"/>
          </a:xfrm>
          <a:prstGeom prst="rect">
            <a:avLst>
              <a:gd name="adj" fmla="val 3636"/>
            </a:avLst>
          </a:prstGeom>
          <a:solidFill>
            <a:srgbClr val="FAFBFC"/>
          </a:solidFill>
          <a:ln w="6350">
            <a:solidFill>
              <a:srgbClr val="E5E7EB"/>
            </a:solidFill>
            <a:prstDash val="solid"/>
          </a:ln>
        </p:spPr>
      </p:sp>
      <p:pic>
        <p:nvPicPr>
          <p:cNvPr id="28" name="Image 5" descr="preencoded.png">    </p:cNvPr>
          <p:cNvPicPr>
            <a:picLocks noChangeAspect="1"/>
          </p:cNvPicPr>
          <p:nvPr/>
        </p:nvPicPr>
        <p:blipFill>
          <a:blip r:embed="rId6"/>
          <a:stretch>
            <a:fillRect/>
          </a:stretch>
        </p:blipFill>
        <p:spPr>
          <a:xfrm>
            <a:off x="3744468" y="2496312"/>
            <a:ext cx="256032" cy="256032"/>
          </a:xfrm>
          <a:prstGeom prst="rect">
            <a:avLst/>
          </a:prstGeom>
        </p:spPr>
      </p:pic>
      <p:sp>
        <p:nvSpPr>
          <p:cNvPr id="29" name="Text 21"/>
          <p:cNvSpPr/>
          <p:nvPr/>
        </p:nvSpPr>
        <p:spPr>
          <a:xfrm>
            <a:off x="4073652" y="2194560"/>
            <a:ext cx="1325880" cy="292608"/>
          </a:xfrm>
          <a:prstGeom prst="rect">
            <a:avLst/>
          </a:prstGeom>
          <a:noFill/>
          <a:ln/>
        </p:spPr>
        <p:txBody>
          <a:bodyPr wrap="square" rtlCol="0" anchor="ctr">
            <a:normAutofit/>
          </a:bodyPr>
          <a:lstStyle/>
          <a:p>
            <a:pPr indent="0" marL="0">
              <a:buNone/>
            </a:pPr>
            <a:r>
              <a:rPr lang="en-US" sz="1400" b="1" dirty="0">
                <a:solidFill>
                  <a:srgbClr val="111827"/>
                </a:solidFill>
                <a:latin typeface="Calibri" pitchFamily="34" charset="0"/>
                <a:ea typeface="Calibri" pitchFamily="34" charset="-122"/>
                <a:cs typeface="Calibri" pitchFamily="34" charset="-120"/>
              </a:rPr>
              <a:t>Wikipedia</a:t>
            </a:r>
            <a:endParaRPr lang="en-US" sz="1400" dirty="0"/>
          </a:p>
        </p:txBody>
      </p:sp>
      <p:sp>
        <p:nvSpPr>
          <p:cNvPr id="30" name="Text 22"/>
          <p:cNvSpPr/>
          <p:nvPr/>
        </p:nvSpPr>
        <p:spPr>
          <a:xfrm>
            <a:off x="4073652" y="2487168"/>
            <a:ext cx="1325880" cy="54864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基礎知識</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用語確認</a:t>
            </a:r>
            <a:endParaRPr lang="en-US" sz="1000" dirty="0"/>
          </a:p>
        </p:txBody>
      </p:sp>
      <p:sp>
        <p:nvSpPr>
          <p:cNvPr id="31" name="Shape 23"/>
          <p:cNvSpPr/>
          <p:nvPr/>
        </p:nvSpPr>
        <p:spPr>
          <a:xfrm>
            <a:off x="5673852" y="2121408"/>
            <a:ext cx="1874520" cy="1005840"/>
          </a:xfrm>
          <a:prstGeom prst="rect">
            <a:avLst>
              <a:gd name="adj" fmla="val 3636"/>
            </a:avLst>
          </a:prstGeom>
          <a:solidFill>
            <a:srgbClr val="FAFBFC"/>
          </a:solidFill>
          <a:ln w="6350">
            <a:solidFill>
              <a:srgbClr val="E5E7EB"/>
            </a:solidFill>
            <a:prstDash val="solid"/>
          </a:ln>
        </p:spPr>
      </p:sp>
      <p:pic>
        <p:nvPicPr>
          <p:cNvPr id="32" name="Image 6" descr="preencoded.png">    </p:cNvPr>
          <p:cNvPicPr>
            <a:picLocks noChangeAspect="1"/>
          </p:cNvPicPr>
          <p:nvPr/>
        </p:nvPicPr>
        <p:blipFill>
          <a:blip r:embed="rId7"/>
          <a:stretch>
            <a:fillRect/>
          </a:stretch>
        </p:blipFill>
        <p:spPr>
          <a:xfrm>
            <a:off x="5783580" y="2496312"/>
            <a:ext cx="256032" cy="256032"/>
          </a:xfrm>
          <a:prstGeom prst="rect">
            <a:avLst/>
          </a:prstGeom>
        </p:spPr>
      </p:pic>
      <p:sp>
        <p:nvSpPr>
          <p:cNvPr id="33" name="Text 24"/>
          <p:cNvSpPr/>
          <p:nvPr/>
        </p:nvSpPr>
        <p:spPr>
          <a:xfrm>
            <a:off x="6112764" y="2194560"/>
            <a:ext cx="1325880" cy="292608"/>
          </a:xfrm>
          <a:prstGeom prst="rect">
            <a:avLst/>
          </a:prstGeom>
          <a:noFill/>
          <a:ln/>
        </p:spPr>
        <p:txBody>
          <a:bodyPr wrap="square" rtlCol="0" anchor="ctr">
            <a:normAutofit/>
          </a:bodyPr>
          <a:lstStyle/>
          <a:p>
            <a:pPr indent="0" marL="0">
              <a:buNone/>
            </a:pPr>
            <a:r>
              <a:rPr lang="en-US" sz="1400" b="1" dirty="0">
                <a:solidFill>
                  <a:srgbClr val="111827"/>
                </a:solidFill>
                <a:latin typeface="Calibri" pitchFamily="34" charset="0"/>
                <a:ea typeface="Calibri" pitchFamily="34" charset="-122"/>
                <a:cs typeface="Calibri" pitchFamily="34" charset="-120"/>
              </a:rPr>
              <a:t>Social</a:t>
            </a:r>
            <a:endParaRPr lang="en-US" sz="1400" dirty="0"/>
          </a:p>
        </p:txBody>
      </p:sp>
      <p:sp>
        <p:nvSpPr>
          <p:cNvPr id="34" name="Text 25"/>
          <p:cNvSpPr/>
          <p:nvPr/>
        </p:nvSpPr>
        <p:spPr>
          <a:xfrm>
            <a:off x="6112764" y="2487168"/>
            <a:ext cx="1325880" cy="54864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SNSトレンド</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最新の話題</a:t>
            </a:r>
            <a:endParaRPr lang="en-US" sz="1000" dirty="0"/>
          </a:p>
        </p:txBody>
      </p:sp>
      <p:pic>
        <p:nvPicPr>
          <p:cNvPr id="35" name="Image 7" descr="preencoded.png">    </p:cNvPr>
          <p:cNvPicPr>
            <a:picLocks noChangeAspect="1"/>
          </p:cNvPicPr>
          <p:nvPr/>
        </p:nvPicPr>
        <p:blipFill>
          <a:blip r:embed="rId8"/>
          <a:stretch>
            <a:fillRect/>
          </a:stretch>
        </p:blipFill>
        <p:spPr>
          <a:xfrm>
            <a:off x="685800" y="3337560"/>
            <a:ext cx="201168" cy="201168"/>
          </a:xfrm>
          <a:prstGeom prst="rect">
            <a:avLst/>
          </a:prstGeom>
        </p:spPr>
      </p:pic>
      <p:sp>
        <p:nvSpPr>
          <p:cNvPr id="36" name="Text 26"/>
          <p:cNvSpPr/>
          <p:nvPr/>
        </p:nvSpPr>
        <p:spPr>
          <a:xfrm>
            <a:off x="978408" y="3291840"/>
            <a:ext cx="7406640" cy="320040"/>
          </a:xfrm>
          <a:prstGeom prst="rect">
            <a:avLst/>
          </a:prstGeom>
          <a:noFill/>
          <a:ln/>
        </p:spPr>
        <p:txBody>
          <a:bodyPr wrap="square" rtlCol="0" anchor="ctr">
            <a:normAutofit/>
          </a:bodyPr>
          <a:lstStyle/>
          <a:p>
            <a:pPr indent="0" marL="0">
              <a:buNone/>
            </a:pPr>
            <a:r>
              <a:rPr lang="en-US" sz="1200" i="1" dirty="0">
                <a:solidFill>
                  <a:srgbClr val="6B7280"/>
                </a:solidFill>
                <a:latin typeface="Calibri" pitchFamily="34" charset="0"/>
                <a:ea typeface="Calibri" pitchFamily="34" charset="-122"/>
                <a:cs typeface="Calibri" pitchFamily="34" charset="-120"/>
              </a:rPr>
              <a:t>迷ったらAllで始めて、必要に応じて切り替えましょう</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Shape 1"/>
          <p:cNvSpPr/>
          <p:nvPr/>
        </p:nvSpPr>
        <p:spPr>
          <a:xfrm>
            <a:off x="685800" y="109728"/>
            <a:ext cx="841248" cy="256032"/>
          </a:xfrm>
          <a:prstGeom prst="rect">
            <a:avLst>
              <a:gd name="adj" fmla="val 14286"/>
            </a:avLst>
          </a:prstGeom>
          <a:solidFill>
            <a:srgbClr val="DBEAFE"/>
          </a:solidFill>
          <a:ln/>
        </p:spPr>
      </p:sp>
      <p:sp>
        <p:nvSpPr>
          <p:cNvPr id="4" name="Text 2"/>
          <p:cNvSpPr/>
          <p:nvPr/>
        </p:nvSpPr>
        <p:spPr>
          <a:xfrm>
            <a:off x="685800" y="109728"/>
            <a:ext cx="841248" cy="25603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DEMO</a:t>
            </a:r>
            <a:endParaRPr lang="en-US" sz="1000" dirty="0"/>
          </a:p>
        </p:txBody>
      </p:sp>
      <p:sp>
        <p:nvSpPr>
          <p:cNvPr id="5" name="Text 3"/>
          <p:cNvSpPr/>
          <p:nvPr/>
        </p:nvSpPr>
        <p:spPr>
          <a:xfrm>
            <a:off x="685800" y="420624"/>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実演: Academic検索で論文を探す</a:t>
            </a:r>
            <a:endParaRPr lang="en-US" sz="3200" dirty="0"/>
          </a:p>
        </p:txBody>
      </p:sp>
      <p:sp>
        <p:nvSpPr>
          <p:cNvPr id="6" name="Shape 4"/>
          <p:cNvSpPr/>
          <p:nvPr/>
        </p:nvSpPr>
        <p:spPr>
          <a:xfrm>
            <a:off x="685800" y="4759452"/>
            <a:ext cx="7772400" cy="0"/>
          </a:xfrm>
          <a:prstGeom prst="line">
            <a:avLst/>
          </a:prstGeom>
          <a:noFill/>
          <a:ln w="6350">
            <a:solidFill>
              <a:srgbClr val="E5E7EB"/>
            </a:solidFill>
            <a:prstDash val="solid"/>
          </a:ln>
        </p:spPr>
      </p:sp>
      <p:sp>
        <p:nvSpPr>
          <p:cNvPr id="7" name="Text 5"/>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8" name="Text 6"/>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5 / 12</a:t>
            </a:r>
            <a:endParaRPr lang="en-US" sz="1000" dirty="0"/>
          </a:p>
        </p:txBody>
      </p:sp>
      <p:sp>
        <p:nvSpPr>
          <p:cNvPr id="9" name="Shape 7"/>
          <p:cNvSpPr/>
          <p:nvPr/>
        </p:nvSpPr>
        <p:spPr>
          <a:xfrm>
            <a:off x="685800" y="914400"/>
            <a:ext cx="7772400" cy="502920"/>
          </a:xfrm>
          <a:prstGeom prst="rect">
            <a:avLst>
              <a:gd name="adj" fmla="val 9091"/>
            </a:avLst>
          </a:prstGeom>
          <a:solidFill>
            <a:srgbClr val="D1FAE5"/>
          </a:solidFill>
          <a:ln/>
        </p:spPr>
      </p:sp>
      <p:pic>
        <p:nvPicPr>
          <p:cNvPr id="10" name="Image 0" descr="preencoded.png">    </p:cNvPr>
          <p:cNvPicPr>
            <a:picLocks noChangeAspect="1"/>
          </p:cNvPicPr>
          <p:nvPr/>
        </p:nvPicPr>
        <p:blipFill>
          <a:blip r:embed="rId1"/>
          <a:stretch>
            <a:fillRect/>
          </a:stretch>
        </p:blipFill>
        <p:spPr>
          <a:xfrm>
            <a:off x="822960" y="1005840"/>
            <a:ext cx="274320" cy="274320"/>
          </a:xfrm>
          <a:prstGeom prst="rect">
            <a:avLst/>
          </a:prstGeom>
        </p:spPr>
      </p:pic>
      <p:sp>
        <p:nvSpPr>
          <p:cNvPr id="11" name="Text 8"/>
          <p:cNvSpPr/>
          <p:nvPr/>
        </p:nvSpPr>
        <p:spPr>
          <a:xfrm>
            <a:off x="1188720" y="914400"/>
            <a:ext cx="7132320" cy="502920"/>
          </a:xfrm>
          <a:prstGeom prst="rect">
            <a:avLst/>
          </a:prstGeom>
          <a:noFill/>
          <a:ln/>
        </p:spPr>
        <p:txBody>
          <a:bodyPr wrap="square" rtlCol="0" anchor="ctr">
            <a:normAutofit/>
          </a:bodyPr>
          <a:lstStyle/>
          <a:p>
            <a:pPr indent="0" marL="0">
              <a:buNone/>
            </a:pPr>
            <a:r>
              <a:rPr lang="en-US" sz="1200" b="1" dirty="0">
                <a:solidFill>
                  <a:srgbClr val="059669"/>
                </a:solidFill>
                <a:latin typeface="Calibri" pitchFamily="34" charset="0"/>
                <a:ea typeface="Calibri" pitchFamily="34" charset="-122"/>
                <a:cs typeface="Calibri" pitchFamily="34" charset="-120"/>
              </a:rPr>
              <a:t>Focus: Academic  |  質問: 「大規模言語モデルの最新研究動向と企業での活用事例について学術論文ベースで教えてください」</a:t>
            </a:r>
            <a:endParaRPr lang="en-US" sz="1200" dirty="0"/>
          </a:p>
        </p:txBody>
      </p:sp>
      <p:sp>
        <p:nvSpPr>
          <p:cNvPr id="12" name="Shape 9"/>
          <p:cNvSpPr/>
          <p:nvPr/>
        </p:nvSpPr>
        <p:spPr>
          <a:xfrm>
            <a:off x="685800" y="1572768"/>
            <a:ext cx="1005840" cy="347472"/>
          </a:xfrm>
          <a:prstGeom prst="rect">
            <a:avLst>
              <a:gd name="adj" fmla="val 10526"/>
            </a:avLst>
          </a:prstGeom>
          <a:solidFill>
            <a:srgbClr val="DBEAFE"/>
          </a:solidFill>
          <a:ln/>
        </p:spPr>
      </p:sp>
      <p:sp>
        <p:nvSpPr>
          <p:cNvPr id="13" name="Text 10"/>
          <p:cNvSpPr/>
          <p:nvPr/>
        </p:nvSpPr>
        <p:spPr>
          <a:xfrm>
            <a:off x="685800" y="1572768"/>
            <a:ext cx="1005840" cy="34747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0〜4秒</a:t>
            </a:r>
            <a:endParaRPr lang="en-US" sz="1000" dirty="0"/>
          </a:p>
        </p:txBody>
      </p:sp>
      <p:sp>
        <p:nvSpPr>
          <p:cNvPr id="14" name="Text 11"/>
          <p:cNvSpPr/>
          <p:nvPr/>
        </p:nvSpPr>
        <p:spPr>
          <a:xfrm>
            <a:off x="1783080" y="1600200"/>
            <a:ext cx="6675120" cy="320040"/>
          </a:xfrm>
          <a:prstGeom prst="rect">
            <a:avLst/>
          </a:prstGeom>
          <a:noFill/>
          <a:ln/>
        </p:spPr>
        <p:txBody>
          <a:bodyPr wrap="square" rtlCol="0" anchor="ctr">
            <a:normAutofit/>
          </a:bodyPr>
          <a:lstStyle/>
          <a:p>
            <a:pPr indent="0" marL="0">
              <a:buNone/>
            </a:pPr>
            <a:r>
              <a:rPr lang="en-US" sz="1400" dirty="0">
                <a:solidFill>
                  <a:srgbClr val="111827"/>
                </a:solidFill>
                <a:latin typeface="Calibri" pitchFamily="34" charset="0"/>
                <a:ea typeface="Calibri" pitchFamily="34" charset="-122"/>
                <a:cs typeface="Calibri" pitchFamily="34" charset="-120"/>
              </a:rPr>
              <a:t>Perplexityトップページを開く</a:t>
            </a:r>
            <a:endParaRPr lang="en-US" sz="1400" dirty="0"/>
          </a:p>
        </p:txBody>
      </p:sp>
      <p:sp>
        <p:nvSpPr>
          <p:cNvPr id="15" name="Shape 12"/>
          <p:cNvSpPr/>
          <p:nvPr/>
        </p:nvSpPr>
        <p:spPr>
          <a:xfrm>
            <a:off x="685800" y="2176272"/>
            <a:ext cx="1005840" cy="347472"/>
          </a:xfrm>
          <a:prstGeom prst="rect">
            <a:avLst>
              <a:gd name="adj" fmla="val 10526"/>
            </a:avLst>
          </a:prstGeom>
          <a:solidFill>
            <a:srgbClr val="DBEAFE"/>
          </a:solidFill>
          <a:ln/>
        </p:spPr>
      </p:sp>
      <p:sp>
        <p:nvSpPr>
          <p:cNvPr id="16" name="Text 13"/>
          <p:cNvSpPr/>
          <p:nvPr/>
        </p:nvSpPr>
        <p:spPr>
          <a:xfrm>
            <a:off x="685800" y="2176272"/>
            <a:ext cx="1005840" cy="34747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4〜15秒</a:t>
            </a:r>
            <a:endParaRPr lang="en-US" sz="1000" dirty="0"/>
          </a:p>
        </p:txBody>
      </p:sp>
      <p:sp>
        <p:nvSpPr>
          <p:cNvPr id="17" name="Text 14"/>
          <p:cNvSpPr/>
          <p:nvPr/>
        </p:nvSpPr>
        <p:spPr>
          <a:xfrm>
            <a:off x="1783080" y="2203704"/>
            <a:ext cx="6675120" cy="320040"/>
          </a:xfrm>
          <a:prstGeom prst="rect">
            <a:avLst/>
          </a:prstGeom>
          <a:noFill/>
          <a:ln/>
        </p:spPr>
        <p:txBody>
          <a:bodyPr wrap="square" rtlCol="0" anchor="ctr">
            <a:normAutofit/>
          </a:bodyPr>
          <a:lstStyle/>
          <a:p>
            <a:pPr indent="0" marL="0">
              <a:buNone/>
            </a:pPr>
            <a:r>
              <a:rPr lang="en-US" sz="1400" dirty="0">
                <a:solidFill>
                  <a:srgbClr val="111827"/>
                </a:solidFill>
                <a:latin typeface="Calibri" pitchFamily="34" charset="0"/>
                <a:ea typeface="Calibri" pitchFamily="34" charset="-122"/>
                <a:cs typeface="Calibri" pitchFamily="34" charset="-120"/>
              </a:rPr>
              <a:t>検索バーに質問をタイピング</a:t>
            </a:r>
            <a:endParaRPr lang="en-US" sz="1400" dirty="0"/>
          </a:p>
        </p:txBody>
      </p:sp>
      <p:sp>
        <p:nvSpPr>
          <p:cNvPr id="18" name="Shape 15"/>
          <p:cNvSpPr/>
          <p:nvPr/>
        </p:nvSpPr>
        <p:spPr>
          <a:xfrm>
            <a:off x="685800" y="2779776"/>
            <a:ext cx="1005840" cy="347472"/>
          </a:xfrm>
          <a:prstGeom prst="rect">
            <a:avLst>
              <a:gd name="adj" fmla="val 10526"/>
            </a:avLst>
          </a:prstGeom>
          <a:solidFill>
            <a:srgbClr val="DBEAFE"/>
          </a:solidFill>
          <a:ln/>
        </p:spPr>
      </p:sp>
      <p:sp>
        <p:nvSpPr>
          <p:cNvPr id="19" name="Text 16"/>
          <p:cNvSpPr/>
          <p:nvPr/>
        </p:nvSpPr>
        <p:spPr>
          <a:xfrm>
            <a:off x="685800" y="2779776"/>
            <a:ext cx="1005840" cy="34747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15〜27秒</a:t>
            </a:r>
            <a:endParaRPr lang="en-US" sz="1000" dirty="0"/>
          </a:p>
        </p:txBody>
      </p:sp>
      <p:sp>
        <p:nvSpPr>
          <p:cNvPr id="20" name="Text 17"/>
          <p:cNvSpPr/>
          <p:nvPr/>
        </p:nvSpPr>
        <p:spPr>
          <a:xfrm>
            <a:off x="1783080" y="2807208"/>
            <a:ext cx="6675120" cy="320040"/>
          </a:xfrm>
          <a:prstGeom prst="rect">
            <a:avLst/>
          </a:prstGeom>
          <a:noFill/>
          <a:ln/>
        </p:spPr>
        <p:txBody>
          <a:bodyPr wrap="square" rtlCol="0" anchor="ctr">
            <a:normAutofit/>
          </a:bodyPr>
          <a:lstStyle/>
          <a:p>
            <a:pPr indent="0" marL="0">
              <a:buNone/>
            </a:pPr>
            <a:r>
              <a:rPr lang="en-US" sz="1400" dirty="0">
                <a:solidFill>
                  <a:srgbClr val="111827"/>
                </a:solidFill>
                <a:latin typeface="Calibri" pitchFamily="34" charset="0"/>
                <a:ea typeface="Calibri" pitchFamily="34" charset="-122"/>
                <a:cs typeface="Calibri" pitchFamily="34" charset="-120"/>
              </a:rPr>
              <a:t>送信 → 複数論文を参照しながら回答生成</a:t>
            </a:r>
            <a:endParaRPr lang="en-US" sz="1400" dirty="0"/>
          </a:p>
        </p:txBody>
      </p:sp>
      <p:sp>
        <p:nvSpPr>
          <p:cNvPr id="21" name="Shape 18"/>
          <p:cNvSpPr/>
          <p:nvPr/>
        </p:nvSpPr>
        <p:spPr>
          <a:xfrm>
            <a:off x="685800" y="3383280"/>
            <a:ext cx="1005840" cy="347472"/>
          </a:xfrm>
          <a:prstGeom prst="rect">
            <a:avLst>
              <a:gd name="adj" fmla="val 10526"/>
            </a:avLst>
          </a:prstGeom>
          <a:solidFill>
            <a:srgbClr val="DBEAFE"/>
          </a:solidFill>
          <a:ln/>
        </p:spPr>
      </p:sp>
      <p:sp>
        <p:nvSpPr>
          <p:cNvPr id="22" name="Text 19"/>
          <p:cNvSpPr/>
          <p:nvPr/>
        </p:nvSpPr>
        <p:spPr>
          <a:xfrm>
            <a:off x="685800" y="3383280"/>
            <a:ext cx="1005840" cy="34747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27〜34秒</a:t>
            </a:r>
            <a:endParaRPr lang="en-US" sz="1000" dirty="0"/>
          </a:p>
        </p:txBody>
      </p:sp>
      <p:sp>
        <p:nvSpPr>
          <p:cNvPr id="23" name="Text 20"/>
          <p:cNvSpPr/>
          <p:nvPr/>
        </p:nvSpPr>
        <p:spPr>
          <a:xfrm>
            <a:off x="1783080" y="3410712"/>
            <a:ext cx="6675120" cy="320040"/>
          </a:xfrm>
          <a:prstGeom prst="rect">
            <a:avLst/>
          </a:prstGeom>
          <a:noFill/>
          <a:ln/>
        </p:spPr>
        <p:txBody>
          <a:bodyPr wrap="square" rtlCol="0" anchor="ctr">
            <a:normAutofit/>
          </a:bodyPr>
          <a:lstStyle/>
          <a:p>
            <a:pPr indent="0" marL="0">
              <a:buNone/>
            </a:pPr>
            <a:r>
              <a:rPr lang="en-US" sz="1400" dirty="0">
                <a:solidFill>
                  <a:srgbClr val="111827"/>
                </a:solidFill>
                <a:latin typeface="Calibri" pitchFamily="34" charset="0"/>
                <a:ea typeface="Calibri" pitchFamily="34" charset="-122"/>
                <a:cs typeface="Calibri" pitchFamily="34" charset="-120"/>
              </a:rPr>
              <a:t>回答完成。出典付きで研究動向・活用事例が整理される</a:t>
            </a:r>
            <a:endParaRPr lang="en-US" sz="1400" dirty="0"/>
          </a:p>
        </p:txBody>
      </p:sp>
      <p:sp>
        <p:nvSpPr>
          <p:cNvPr id="24" name="Text 21"/>
          <p:cNvSpPr/>
          <p:nvPr/>
        </p:nvSpPr>
        <p:spPr>
          <a:xfrm>
            <a:off x="7132320" y="4457700"/>
            <a:ext cx="1828800" cy="256032"/>
          </a:xfrm>
          <a:prstGeom prst="rect">
            <a:avLst/>
          </a:prstGeom>
          <a:noFill/>
          <a:ln/>
        </p:spPr>
        <p:txBody>
          <a:bodyPr wrap="square" rtlCol="0" anchor="ctr">
            <a:normAutofit/>
          </a:bodyPr>
          <a:lstStyle/>
          <a:p>
            <a:pPr algn="r" indent="0" marL="0">
              <a:buNone/>
            </a:pPr>
            <a:r>
              <a:rPr lang="en-US" sz="1000" b="1" dirty="0">
                <a:solidFill>
                  <a:srgbClr val="2563EB"/>
                </a:solidFill>
                <a:latin typeface="Calibri" pitchFamily="34" charset="0"/>
                <a:ea typeface="Calibri" pitchFamily="34" charset="-122"/>
                <a:cs typeface="Calibri" pitchFamily="34" charset="-120"/>
              </a:rPr>
              <a:t>★ 実演動画: 34秒</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Shape 1"/>
          <p:cNvSpPr/>
          <p:nvPr/>
        </p:nvSpPr>
        <p:spPr>
          <a:xfrm>
            <a:off x="685800" y="109728"/>
            <a:ext cx="1554480" cy="256032"/>
          </a:xfrm>
          <a:prstGeom prst="rect">
            <a:avLst>
              <a:gd name="adj" fmla="val 14286"/>
            </a:avLst>
          </a:prstGeom>
          <a:solidFill>
            <a:srgbClr val="DBEAFE"/>
          </a:solidFill>
          <a:ln/>
        </p:spPr>
      </p:sp>
      <p:sp>
        <p:nvSpPr>
          <p:cNvPr id="4" name="Text 2"/>
          <p:cNvSpPr/>
          <p:nvPr/>
        </p:nvSpPr>
        <p:spPr>
          <a:xfrm>
            <a:off x="685800" y="109728"/>
            <a:ext cx="1554480" cy="25603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PRO SEARCH</a:t>
            </a:r>
            <a:endParaRPr lang="en-US" sz="1000" dirty="0"/>
          </a:p>
        </p:txBody>
      </p:sp>
      <p:sp>
        <p:nvSpPr>
          <p:cNvPr id="5" name="Text 3"/>
          <p:cNvSpPr/>
          <p:nvPr/>
        </p:nvSpPr>
        <p:spPr>
          <a:xfrm>
            <a:off x="685800" y="420624"/>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Pro Search vs Deep Research</a:t>
            </a:r>
            <a:endParaRPr lang="en-US" sz="3200" dirty="0"/>
          </a:p>
        </p:txBody>
      </p:sp>
      <p:sp>
        <p:nvSpPr>
          <p:cNvPr id="6" name="Shape 4"/>
          <p:cNvSpPr/>
          <p:nvPr/>
        </p:nvSpPr>
        <p:spPr>
          <a:xfrm>
            <a:off x="685800" y="4759452"/>
            <a:ext cx="7772400" cy="0"/>
          </a:xfrm>
          <a:prstGeom prst="line">
            <a:avLst/>
          </a:prstGeom>
          <a:noFill/>
          <a:ln w="6350">
            <a:solidFill>
              <a:srgbClr val="E5E7EB"/>
            </a:solidFill>
            <a:prstDash val="solid"/>
          </a:ln>
        </p:spPr>
      </p:sp>
      <p:sp>
        <p:nvSpPr>
          <p:cNvPr id="7" name="Text 5"/>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8" name="Text 6"/>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6 / 12</a:t>
            </a:r>
            <a:endParaRPr lang="en-US" sz="1000" dirty="0"/>
          </a:p>
        </p:txBody>
      </p:sp>
      <p:sp>
        <p:nvSpPr>
          <p:cNvPr id="9" name="Shape 7"/>
          <p:cNvSpPr/>
          <p:nvPr/>
        </p:nvSpPr>
        <p:spPr>
          <a:xfrm>
            <a:off x="685800" y="914400"/>
            <a:ext cx="3657600" cy="502920"/>
          </a:xfrm>
          <a:prstGeom prst="rect">
            <a:avLst>
              <a:gd name="adj" fmla="val 7273"/>
            </a:avLst>
          </a:prstGeom>
          <a:solidFill>
            <a:srgbClr val="DBEAFE"/>
          </a:solidFill>
          <a:ln/>
        </p:spPr>
      </p:sp>
      <p:pic>
        <p:nvPicPr>
          <p:cNvPr id="10" name="Image 0" descr="preencoded.png">    </p:cNvPr>
          <p:cNvPicPr>
            <a:picLocks noChangeAspect="1"/>
          </p:cNvPicPr>
          <p:nvPr/>
        </p:nvPicPr>
        <p:blipFill>
          <a:blip r:embed="rId1"/>
          <a:stretch>
            <a:fillRect/>
          </a:stretch>
        </p:blipFill>
        <p:spPr>
          <a:xfrm>
            <a:off x="822960" y="1024128"/>
            <a:ext cx="274320" cy="274320"/>
          </a:xfrm>
          <a:prstGeom prst="rect">
            <a:avLst/>
          </a:prstGeom>
        </p:spPr>
      </p:pic>
      <p:sp>
        <p:nvSpPr>
          <p:cNvPr id="11" name="Text 8"/>
          <p:cNvSpPr/>
          <p:nvPr/>
        </p:nvSpPr>
        <p:spPr>
          <a:xfrm>
            <a:off x="1188720" y="914400"/>
            <a:ext cx="3017520" cy="502920"/>
          </a:xfrm>
          <a:prstGeom prst="rect">
            <a:avLst/>
          </a:prstGeom>
          <a:noFill/>
          <a:ln/>
        </p:spPr>
        <p:txBody>
          <a:bodyPr wrap="square" rtlCol="0" anchor="ctr">
            <a:normAutofit/>
          </a:bodyPr>
          <a:lstStyle/>
          <a:p>
            <a:pPr indent="0" marL="0">
              <a:buNone/>
            </a:pPr>
            <a:r>
              <a:rPr lang="en-US" sz="1600" b="1" dirty="0">
                <a:solidFill>
                  <a:srgbClr val="2563EB"/>
                </a:solidFill>
                <a:latin typeface="Calibri" pitchFamily="34" charset="0"/>
                <a:ea typeface="Calibri" pitchFamily="34" charset="-122"/>
                <a:cs typeface="Calibri" pitchFamily="34" charset="-120"/>
              </a:rPr>
              <a:t>Pro Search</a:t>
            </a:r>
            <a:endParaRPr lang="en-US" sz="1600" dirty="0"/>
          </a:p>
        </p:txBody>
      </p:sp>
      <p:sp>
        <p:nvSpPr>
          <p:cNvPr id="12" name="Shape 9"/>
          <p:cNvSpPr/>
          <p:nvPr/>
        </p:nvSpPr>
        <p:spPr>
          <a:xfrm>
            <a:off x="685800" y="1508760"/>
            <a:ext cx="3657600" cy="402336"/>
          </a:xfrm>
          <a:prstGeom prst="rect">
            <a:avLst/>
          </a:prstGeom>
          <a:solidFill>
            <a:srgbClr val="FAFBFC"/>
          </a:solidFill>
          <a:ln w="3810">
            <a:solidFill>
              <a:srgbClr val="E5E7EB"/>
            </a:solidFill>
            <a:prstDash val="solid"/>
          </a:ln>
        </p:spPr>
      </p:sp>
      <p:sp>
        <p:nvSpPr>
          <p:cNvPr id="13" name="Text 10"/>
          <p:cNvSpPr/>
          <p:nvPr/>
        </p:nvSpPr>
        <p:spPr>
          <a:xfrm>
            <a:off x="822960" y="1508760"/>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複数ステップで深掘り検索</a:t>
            </a:r>
            <a:endParaRPr lang="en-US" sz="1200" dirty="0"/>
          </a:p>
        </p:txBody>
      </p:sp>
      <p:sp>
        <p:nvSpPr>
          <p:cNvPr id="14" name="Shape 11"/>
          <p:cNvSpPr/>
          <p:nvPr/>
        </p:nvSpPr>
        <p:spPr>
          <a:xfrm>
            <a:off x="685800" y="1984248"/>
            <a:ext cx="3657600" cy="402336"/>
          </a:xfrm>
          <a:prstGeom prst="rect">
            <a:avLst/>
          </a:prstGeom>
          <a:solidFill>
            <a:srgbClr val="FFFFFF"/>
          </a:solidFill>
          <a:ln w="3810">
            <a:solidFill>
              <a:srgbClr val="E5E7EB"/>
            </a:solidFill>
            <a:prstDash val="solid"/>
          </a:ln>
        </p:spPr>
      </p:sp>
      <p:sp>
        <p:nvSpPr>
          <p:cNvPr id="15" name="Text 12"/>
          <p:cNvSpPr/>
          <p:nvPr/>
        </p:nvSpPr>
        <p:spPr>
          <a:xfrm>
            <a:off x="822960" y="1984248"/>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質問を分解→段階的に実行→統合</a:t>
            </a:r>
            <a:endParaRPr lang="en-US" sz="1200" dirty="0"/>
          </a:p>
        </p:txBody>
      </p:sp>
      <p:sp>
        <p:nvSpPr>
          <p:cNvPr id="16" name="Shape 13"/>
          <p:cNvSpPr/>
          <p:nvPr/>
        </p:nvSpPr>
        <p:spPr>
          <a:xfrm>
            <a:off x="685800" y="2459736"/>
            <a:ext cx="3657600" cy="402336"/>
          </a:xfrm>
          <a:prstGeom prst="rect">
            <a:avLst/>
          </a:prstGeom>
          <a:solidFill>
            <a:srgbClr val="FAFBFC"/>
          </a:solidFill>
          <a:ln w="3810">
            <a:solidFill>
              <a:srgbClr val="E5E7EB"/>
            </a:solidFill>
            <a:prstDash val="solid"/>
          </a:ln>
        </p:spPr>
      </p:sp>
      <p:sp>
        <p:nvSpPr>
          <p:cNvPr id="17" name="Text 14"/>
          <p:cNvSpPr/>
          <p:nvPr/>
        </p:nvSpPr>
        <p:spPr>
          <a:xfrm>
            <a:off x="822960" y="2459736"/>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数分で詳細レポートレベルの回答</a:t>
            </a:r>
            <a:endParaRPr lang="en-US" sz="1200" dirty="0"/>
          </a:p>
        </p:txBody>
      </p:sp>
      <p:sp>
        <p:nvSpPr>
          <p:cNvPr id="18" name="Shape 15"/>
          <p:cNvSpPr/>
          <p:nvPr/>
        </p:nvSpPr>
        <p:spPr>
          <a:xfrm>
            <a:off x="685800" y="2935224"/>
            <a:ext cx="3657600" cy="402336"/>
          </a:xfrm>
          <a:prstGeom prst="rect">
            <a:avLst/>
          </a:prstGeom>
          <a:solidFill>
            <a:srgbClr val="FFFFFF"/>
          </a:solidFill>
          <a:ln w="3810">
            <a:solidFill>
              <a:srgbClr val="E5E7EB"/>
            </a:solidFill>
            <a:prstDash val="solid"/>
          </a:ln>
        </p:spPr>
      </p:sp>
      <p:sp>
        <p:nvSpPr>
          <p:cNvPr id="19" name="Text 16"/>
          <p:cNvSpPr/>
          <p:nvPr/>
        </p:nvSpPr>
        <p:spPr>
          <a:xfrm>
            <a:off x="822960" y="2935224"/>
            <a:ext cx="3383280" cy="402336"/>
          </a:xfrm>
          <a:prstGeom prst="rect">
            <a:avLst/>
          </a:prstGeom>
          <a:noFill/>
          <a:ln/>
        </p:spPr>
        <p:txBody>
          <a:bodyPr wrap="square" rtlCol="0" anchor="ctr">
            <a:normAutofit/>
          </a:bodyPr>
          <a:lstStyle/>
          <a:p>
            <a:pPr indent="0" marL="0">
              <a:buNone/>
            </a:pPr>
            <a:r>
              <a:rPr lang="en-US" sz="1200" b="1" dirty="0">
                <a:solidFill>
                  <a:srgbClr val="2563EB"/>
                </a:solidFill>
                <a:latin typeface="Calibri" pitchFamily="34" charset="0"/>
                <a:ea typeface="Calibri" pitchFamily="34" charset="-122"/>
                <a:cs typeface="Calibri" pitchFamily="34" charset="-120"/>
              </a:rPr>
              <a:t>•  無料: 1日5回 / Pro: 無制限</a:t>
            </a:r>
            <a:endParaRPr lang="en-US" sz="1200" dirty="0"/>
          </a:p>
        </p:txBody>
      </p:sp>
      <p:sp>
        <p:nvSpPr>
          <p:cNvPr id="20" name="Shape 17"/>
          <p:cNvSpPr/>
          <p:nvPr/>
        </p:nvSpPr>
        <p:spPr>
          <a:xfrm>
            <a:off x="685800" y="3410712"/>
            <a:ext cx="3657600" cy="402336"/>
          </a:xfrm>
          <a:prstGeom prst="rect">
            <a:avLst/>
          </a:prstGeom>
          <a:solidFill>
            <a:srgbClr val="FAFBFC"/>
          </a:solidFill>
          <a:ln w="3810">
            <a:solidFill>
              <a:srgbClr val="E5E7EB"/>
            </a:solidFill>
            <a:prstDash val="solid"/>
          </a:ln>
        </p:spPr>
      </p:sp>
      <p:sp>
        <p:nvSpPr>
          <p:cNvPr id="21" name="Text 18"/>
          <p:cNvSpPr/>
          <p:nvPr/>
        </p:nvSpPr>
        <p:spPr>
          <a:xfrm>
            <a:off x="822960" y="3410712"/>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用途: 複雑な調査・比較分析</a:t>
            </a:r>
            <a:endParaRPr lang="en-US" sz="1200" dirty="0"/>
          </a:p>
        </p:txBody>
      </p:sp>
      <p:sp>
        <p:nvSpPr>
          <p:cNvPr id="22" name="Shape 19"/>
          <p:cNvSpPr/>
          <p:nvPr/>
        </p:nvSpPr>
        <p:spPr>
          <a:xfrm>
            <a:off x="4800600" y="914400"/>
            <a:ext cx="3657600" cy="502920"/>
          </a:xfrm>
          <a:prstGeom prst="rect">
            <a:avLst>
              <a:gd name="adj" fmla="val 7273"/>
            </a:avLst>
          </a:prstGeom>
          <a:solidFill>
            <a:srgbClr val="D1FAE5"/>
          </a:solidFill>
          <a:ln/>
        </p:spPr>
      </p:sp>
      <p:pic>
        <p:nvPicPr>
          <p:cNvPr id="23" name="Image 1" descr="preencoded.png">    </p:cNvPr>
          <p:cNvPicPr>
            <a:picLocks noChangeAspect="1"/>
          </p:cNvPicPr>
          <p:nvPr/>
        </p:nvPicPr>
        <p:blipFill>
          <a:blip r:embed="rId2"/>
          <a:stretch>
            <a:fillRect/>
          </a:stretch>
        </p:blipFill>
        <p:spPr>
          <a:xfrm>
            <a:off x="4937760" y="1024128"/>
            <a:ext cx="274320" cy="274320"/>
          </a:xfrm>
          <a:prstGeom prst="rect">
            <a:avLst/>
          </a:prstGeom>
        </p:spPr>
      </p:pic>
      <p:sp>
        <p:nvSpPr>
          <p:cNvPr id="24" name="Text 20"/>
          <p:cNvSpPr/>
          <p:nvPr/>
        </p:nvSpPr>
        <p:spPr>
          <a:xfrm>
            <a:off x="5303520" y="914400"/>
            <a:ext cx="3017520" cy="502920"/>
          </a:xfrm>
          <a:prstGeom prst="rect">
            <a:avLst/>
          </a:prstGeom>
          <a:noFill/>
          <a:ln/>
        </p:spPr>
        <p:txBody>
          <a:bodyPr wrap="square" rtlCol="0" anchor="ctr">
            <a:normAutofit/>
          </a:bodyPr>
          <a:lstStyle/>
          <a:p>
            <a:pPr indent="0" marL="0">
              <a:buNone/>
            </a:pPr>
            <a:r>
              <a:rPr lang="en-US" sz="1600" b="1" dirty="0">
                <a:solidFill>
                  <a:srgbClr val="059669"/>
                </a:solidFill>
                <a:latin typeface="Calibri" pitchFamily="34" charset="0"/>
                <a:ea typeface="Calibri" pitchFamily="34" charset="-122"/>
                <a:cs typeface="Calibri" pitchFamily="34" charset="-120"/>
              </a:rPr>
              <a:t>Deep Research</a:t>
            </a:r>
            <a:endParaRPr lang="en-US" sz="1600" dirty="0"/>
          </a:p>
        </p:txBody>
      </p:sp>
      <p:sp>
        <p:nvSpPr>
          <p:cNvPr id="25" name="Shape 21"/>
          <p:cNvSpPr/>
          <p:nvPr/>
        </p:nvSpPr>
        <p:spPr>
          <a:xfrm>
            <a:off x="4800600" y="1508760"/>
            <a:ext cx="3657600" cy="402336"/>
          </a:xfrm>
          <a:prstGeom prst="rect">
            <a:avLst/>
          </a:prstGeom>
          <a:solidFill>
            <a:srgbClr val="FAFBFC"/>
          </a:solidFill>
          <a:ln w="3810">
            <a:solidFill>
              <a:srgbClr val="E5E7EB"/>
            </a:solidFill>
            <a:prstDash val="solid"/>
          </a:ln>
        </p:spPr>
      </p:sp>
      <p:sp>
        <p:nvSpPr>
          <p:cNvPr id="26" name="Text 22"/>
          <p:cNvSpPr/>
          <p:nvPr/>
        </p:nvSpPr>
        <p:spPr>
          <a:xfrm>
            <a:off x="4937760" y="1508760"/>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長時間の本格調査レポートを自動生成</a:t>
            </a:r>
            <a:endParaRPr lang="en-US" sz="1200" dirty="0"/>
          </a:p>
        </p:txBody>
      </p:sp>
      <p:sp>
        <p:nvSpPr>
          <p:cNvPr id="27" name="Shape 23"/>
          <p:cNvSpPr/>
          <p:nvPr/>
        </p:nvSpPr>
        <p:spPr>
          <a:xfrm>
            <a:off x="4800600" y="1984248"/>
            <a:ext cx="3657600" cy="402336"/>
          </a:xfrm>
          <a:prstGeom prst="rect">
            <a:avLst/>
          </a:prstGeom>
          <a:solidFill>
            <a:srgbClr val="FFFFFF"/>
          </a:solidFill>
          <a:ln w="3810">
            <a:solidFill>
              <a:srgbClr val="E5E7EB"/>
            </a:solidFill>
            <a:prstDash val="solid"/>
          </a:ln>
        </p:spPr>
      </p:sp>
      <p:sp>
        <p:nvSpPr>
          <p:cNvPr id="28" name="Text 24"/>
          <p:cNvSpPr/>
          <p:nvPr/>
        </p:nvSpPr>
        <p:spPr>
          <a:xfrm>
            <a:off x="4937760" y="1984248"/>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学術論文・市場レポートレベルの深さ</a:t>
            </a:r>
            <a:endParaRPr lang="en-US" sz="1200" dirty="0"/>
          </a:p>
        </p:txBody>
      </p:sp>
      <p:sp>
        <p:nvSpPr>
          <p:cNvPr id="29" name="Shape 25"/>
          <p:cNvSpPr/>
          <p:nvPr/>
        </p:nvSpPr>
        <p:spPr>
          <a:xfrm>
            <a:off x="4800600" y="2459736"/>
            <a:ext cx="3657600" cy="402336"/>
          </a:xfrm>
          <a:prstGeom prst="rect">
            <a:avLst/>
          </a:prstGeom>
          <a:solidFill>
            <a:srgbClr val="FAFBFC"/>
          </a:solidFill>
          <a:ln w="3810">
            <a:solidFill>
              <a:srgbClr val="E5E7EB"/>
            </a:solidFill>
            <a:prstDash val="solid"/>
          </a:ln>
        </p:spPr>
      </p:sp>
      <p:sp>
        <p:nvSpPr>
          <p:cNvPr id="30" name="Text 26"/>
          <p:cNvSpPr/>
          <p:nvPr/>
        </p:nvSpPr>
        <p:spPr>
          <a:xfrm>
            <a:off x="4937760" y="2459736"/>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複数情報源を横断的に分析</a:t>
            </a:r>
            <a:endParaRPr lang="en-US" sz="1200" dirty="0"/>
          </a:p>
        </p:txBody>
      </p:sp>
      <p:sp>
        <p:nvSpPr>
          <p:cNvPr id="31" name="Shape 27"/>
          <p:cNvSpPr/>
          <p:nvPr/>
        </p:nvSpPr>
        <p:spPr>
          <a:xfrm>
            <a:off x="4800600" y="2935224"/>
            <a:ext cx="3657600" cy="402336"/>
          </a:xfrm>
          <a:prstGeom prst="rect">
            <a:avLst/>
          </a:prstGeom>
          <a:solidFill>
            <a:srgbClr val="FFFFFF"/>
          </a:solidFill>
          <a:ln w="3810">
            <a:solidFill>
              <a:srgbClr val="E5E7EB"/>
            </a:solidFill>
            <a:prstDash val="solid"/>
          </a:ln>
        </p:spPr>
      </p:sp>
      <p:sp>
        <p:nvSpPr>
          <p:cNvPr id="32" name="Text 28"/>
          <p:cNvSpPr/>
          <p:nvPr/>
        </p:nvSpPr>
        <p:spPr>
          <a:xfrm>
            <a:off x="4937760" y="2935224"/>
            <a:ext cx="3383280" cy="402336"/>
          </a:xfrm>
          <a:prstGeom prst="rect">
            <a:avLst/>
          </a:prstGeom>
          <a:noFill/>
          <a:ln/>
        </p:spPr>
        <p:txBody>
          <a:bodyPr wrap="square" rtlCol="0" anchor="ctr">
            <a:normAutofit/>
          </a:bodyPr>
          <a:lstStyle/>
          <a:p>
            <a:pPr indent="0" marL="0">
              <a:buNone/>
            </a:pPr>
            <a:r>
              <a:rPr lang="en-US" sz="1200" b="1" dirty="0">
                <a:solidFill>
                  <a:srgbClr val="059669"/>
                </a:solidFill>
                <a:latin typeface="Calibri" pitchFamily="34" charset="0"/>
                <a:ea typeface="Calibri" pitchFamily="34" charset="-122"/>
                <a:cs typeface="Calibri" pitchFamily="34" charset="-120"/>
              </a:rPr>
              <a:t>•  無料: 1日5回 / Pro: 無制限</a:t>
            </a:r>
            <a:endParaRPr lang="en-US" sz="1200" dirty="0"/>
          </a:p>
        </p:txBody>
      </p:sp>
      <p:sp>
        <p:nvSpPr>
          <p:cNvPr id="33" name="Shape 29"/>
          <p:cNvSpPr/>
          <p:nvPr/>
        </p:nvSpPr>
        <p:spPr>
          <a:xfrm>
            <a:off x="4800600" y="3410712"/>
            <a:ext cx="3657600" cy="402336"/>
          </a:xfrm>
          <a:prstGeom prst="rect">
            <a:avLst/>
          </a:prstGeom>
          <a:solidFill>
            <a:srgbClr val="FAFBFC"/>
          </a:solidFill>
          <a:ln w="3810">
            <a:solidFill>
              <a:srgbClr val="E5E7EB"/>
            </a:solidFill>
            <a:prstDash val="solid"/>
          </a:ln>
        </p:spPr>
      </p:sp>
      <p:sp>
        <p:nvSpPr>
          <p:cNvPr id="34" name="Text 30"/>
          <p:cNvSpPr/>
          <p:nvPr/>
        </p:nvSpPr>
        <p:spPr>
          <a:xfrm>
            <a:off x="4937760" y="3410712"/>
            <a:ext cx="3383280" cy="402336"/>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用途: 徹底調査・レポート作成</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Shape 1"/>
          <p:cNvSpPr/>
          <p:nvPr/>
        </p:nvSpPr>
        <p:spPr>
          <a:xfrm>
            <a:off x="685800" y="109728"/>
            <a:ext cx="841248" cy="256032"/>
          </a:xfrm>
          <a:prstGeom prst="rect">
            <a:avLst>
              <a:gd name="adj" fmla="val 14286"/>
            </a:avLst>
          </a:prstGeom>
          <a:solidFill>
            <a:srgbClr val="DBEAFE"/>
          </a:solidFill>
          <a:ln/>
        </p:spPr>
      </p:sp>
      <p:sp>
        <p:nvSpPr>
          <p:cNvPr id="4" name="Text 2"/>
          <p:cNvSpPr/>
          <p:nvPr/>
        </p:nvSpPr>
        <p:spPr>
          <a:xfrm>
            <a:off x="685800" y="109728"/>
            <a:ext cx="841248" cy="25603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DEMO</a:t>
            </a:r>
            <a:endParaRPr lang="en-US" sz="1000" dirty="0"/>
          </a:p>
        </p:txBody>
      </p:sp>
      <p:sp>
        <p:nvSpPr>
          <p:cNvPr id="5" name="Text 3"/>
          <p:cNvSpPr/>
          <p:nvPr/>
        </p:nvSpPr>
        <p:spPr>
          <a:xfrm>
            <a:off x="685800" y="420624"/>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実演: Pro Searchで市場調査</a:t>
            </a:r>
            <a:endParaRPr lang="en-US" sz="3200" dirty="0"/>
          </a:p>
        </p:txBody>
      </p:sp>
      <p:sp>
        <p:nvSpPr>
          <p:cNvPr id="6" name="Shape 4"/>
          <p:cNvSpPr/>
          <p:nvPr/>
        </p:nvSpPr>
        <p:spPr>
          <a:xfrm>
            <a:off x="685800" y="4759452"/>
            <a:ext cx="7772400" cy="0"/>
          </a:xfrm>
          <a:prstGeom prst="line">
            <a:avLst/>
          </a:prstGeom>
          <a:noFill/>
          <a:ln w="6350">
            <a:solidFill>
              <a:srgbClr val="E5E7EB"/>
            </a:solidFill>
            <a:prstDash val="solid"/>
          </a:ln>
        </p:spPr>
      </p:sp>
      <p:sp>
        <p:nvSpPr>
          <p:cNvPr id="7" name="Text 5"/>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8" name="Text 6"/>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7 / 12</a:t>
            </a:r>
            <a:endParaRPr lang="en-US" sz="1000" dirty="0"/>
          </a:p>
        </p:txBody>
      </p:sp>
      <p:sp>
        <p:nvSpPr>
          <p:cNvPr id="9" name="Shape 7"/>
          <p:cNvSpPr/>
          <p:nvPr/>
        </p:nvSpPr>
        <p:spPr>
          <a:xfrm>
            <a:off x="685800" y="914400"/>
            <a:ext cx="7772400" cy="502920"/>
          </a:xfrm>
          <a:prstGeom prst="rect">
            <a:avLst>
              <a:gd name="adj" fmla="val 9091"/>
            </a:avLst>
          </a:prstGeom>
          <a:solidFill>
            <a:srgbClr val="DBEAFE"/>
          </a:solidFill>
          <a:ln/>
        </p:spPr>
      </p:sp>
      <p:pic>
        <p:nvPicPr>
          <p:cNvPr id="10" name="Image 0" descr="preencoded.png">    </p:cNvPr>
          <p:cNvPicPr>
            <a:picLocks noChangeAspect="1"/>
          </p:cNvPicPr>
          <p:nvPr/>
        </p:nvPicPr>
        <p:blipFill>
          <a:blip r:embed="rId1"/>
          <a:stretch>
            <a:fillRect/>
          </a:stretch>
        </p:blipFill>
        <p:spPr>
          <a:xfrm>
            <a:off x="822960" y="1005840"/>
            <a:ext cx="274320" cy="274320"/>
          </a:xfrm>
          <a:prstGeom prst="rect">
            <a:avLst/>
          </a:prstGeom>
        </p:spPr>
      </p:pic>
      <p:sp>
        <p:nvSpPr>
          <p:cNvPr id="11" name="Text 8"/>
          <p:cNvSpPr/>
          <p:nvPr/>
        </p:nvSpPr>
        <p:spPr>
          <a:xfrm>
            <a:off x="1188720" y="914400"/>
            <a:ext cx="7132320" cy="502920"/>
          </a:xfrm>
          <a:prstGeom prst="rect">
            <a:avLst/>
          </a:prstGeom>
          <a:noFill/>
          <a:ln/>
        </p:spPr>
        <p:txBody>
          <a:bodyPr wrap="square" rtlCol="0" anchor="ctr">
            <a:normAutofit/>
          </a:bodyPr>
          <a:lstStyle/>
          <a:p>
            <a:pPr indent="0" marL="0">
              <a:buNone/>
            </a:pPr>
            <a:r>
              <a:rPr lang="en-US" sz="1200" b="1" dirty="0">
                <a:solidFill>
                  <a:srgbClr val="2563EB"/>
                </a:solidFill>
                <a:latin typeface="Calibri" pitchFamily="34" charset="0"/>
                <a:ea typeface="Calibri" pitchFamily="34" charset="-122"/>
                <a:cs typeface="Calibri" pitchFamily="34" charset="-120"/>
              </a:rPr>
              <a:t>Pro Search ON  |  質問: 「日本の生成AI市場の規模と成長予測を、主要プレイヤーの比較と合わせて詳しく調査してください」</a:t>
            </a:r>
            <a:endParaRPr lang="en-US" sz="1200" dirty="0"/>
          </a:p>
        </p:txBody>
      </p:sp>
      <p:sp>
        <p:nvSpPr>
          <p:cNvPr id="12" name="Shape 9"/>
          <p:cNvSpPr/>
          <p:nvPr/>
        </p:nvSpPr>
        <p:spPr>
          <a:xfrm>
            <a:off x="685800" y="1572768"/>
            <a:ext cx="1005840" cy="411480"/>
          </a:xfrm>
          <a:prstGeom prst="rect">
            <a:avLst>
              <a:gd name="adj" fmla="val 8889"/>
            </a:avLst>
          </a:prstGeom>
          <a:solidFill>
            <a:srgbClr val="DBEAFE"/>
          </a:solidFill>
          <a:ln/>
        </p:spPr>
      </p:sp>
      <p:sp>
        <p:nvSpPr>
          <p:cNvPr id="13" name="Text 10"/>
          <p:cNvSpPr/>
          <p:nvPr/>
        </p:nvSpPr>
        <p:spPr>
          <a:xfrm>
            <a:off x="685800" y="1572768"/>
            <a:ext cx="1005840" cy="411480"/>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0〜14秒</a:t>
            </a:r>
            <a:endParaRPr lang="en-US" sz="1000" dirty="0"/>
          </a:p>
        </p:txBody>
      </p:sp>
      <p:sp>
        <p:nvSpPr>
          <p:cNvPr id="14" name="Text 11"/>
          <p:cNvSpPr/>
          <p:nvPr/>
        </p:nvSpPr>
        <p:spPr>
          <a:xfrm>
            <a:off x="1783080" y="1600200"/>
            <a:ext cx="6675120" cy="411480"/>
          </a:xfrm>
          <a:prstGeom prst="rect">
            <a:avLst/>
          </a:prstGeom>
          <a:noFill/>
          <a:ln/>
        </p:spPr>
        <p:txBody>
          <a:bodyPr wrap="square" rtlCol="0" anchor="ctr">
            <a:normAutofit/>
          </a:bodyPr>
          <a:lstStyle/>
          <a:p>
            <a:pPr indent="0" marL="0">
              <a:buNone/>
            </a:pPr>
            <a:r>
              <a:rPr lang="en-US" sz="1400" dirty="0">
                <a:solidFill>
                  <a:srgbClr val="111827"/>
                </a:solidFill>
                <a:latin typeface="Calibri" pitchFamily="34" charset="0"/>
                <a:ea typeface="Calibri" pitchFamily="34" charset="-122"/>
                <a:cs typeface="Calibri" pitchFamily="34" charset="-120"/>
              </a:rPr>
              <a:t>Perplexityトップ画面から質問をタイピング・送信</a:t>
            </a:r>
            <a:endParaRPr lang="en-US" sz="1400" dirty="0"/>
          </a:p>
        </p:txBody>
      </p:sp>
      <p:sp>
        <p:nvSpPr>
          <p:cNvPr id="15" name="Shape 12"/>
          <p:cNvSpPr/>
          <p:nvPr/>
        </p:nvSpPr>
        <p:spPr>
          <a:xfrm>
            <a:off x="685800" y="2231136"/>
            <a:ext cx="1005840" cy="411480"/>
          </a:xfrm>
          <a:prstGeom prst="rect">
            <a:avLst>
              <a:gd name="adj" fmla="val 8889"/>
            </a:avLst>
          </a:prstGeom>
          <a:solidFill>
            <a:srgbClr val="DBEAFE"/>
          </a:solidFill>
          <a:ln/>
        </p:spPr>
      </p:sp>
      <p:sp>
        <p:nvSpPr>
          <p:cNvPr id="16" name="Text 13"/>
          <p:cNvSpPr/>
          <p:nvPr/>
        </p:nvSpPr>
        <p:spPr>
          <a:xfrm>
            <a:off x="685800" y="2231136"/>
            <a:ext cx="1005840" cy="411480"/>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14〜30秒</a:t>
            </a:r>
            <a:endParaRPr lang="en-US" sz="1000" dirty="0"/>
          </a:p>
        </p:txBody>
      </p:sp>
      <p:sp>
        <p:nvSpPr>
          <p:cNvPr id="17" name="Text 14"/>
          <p:cNvSpPr/>
          <p:nvPr/>
        </p:nvSpPr>
        <p:spPr>
          <a:xfrm>
            <a:off x="1783080" y="2258568"/>
            <a:ext cx="6675120" cy="411480"/>
          </a:xfrm>
          <a:prstGeom prst="rect">
            <a:avLst/>
          </a:prstGeom>
          <a:noFill/>
          <a:ln/>
        </p:spPr>
        <p:txBody>
          <a:bodyPr wrap="square" rtlCol="0" anchor="ctr">
            <a:normAutofit/>
          </a:bodyPr>
          <a:lstStyle/>
          <a:p>
            <a:pPr indent="0" marL="0">
              <a:buNone/>
            </a:pPr>
            <a:r>
              <a:rPr lang="en-US" sz="1400" dirty="0">
                <a:solidFill>
                  <a:srgbClr val="111827"/>
                </a:solidFill>
                <a:latin typeface="Calibri" pitchFamily="34" charset="0"/>
                <a:ea typeface="Calibri" pitchFamily="34" charset="-122"/>
                <a:cs typeface="Calibri" pitchFamily="34" charset="-120"/>
              </a:rPr>
              <a:t>Pro Searchが複数ステップで収集・分析。市場規模・成長率が表示される</a:t>
            </a:r>
            <a:endParaRPr lang="en-US" sz="1400" dirty="0"/>
          </a:p>
        </p:txBody>
      </p:sp>
      <p:sp>
        <p:nvSpPr>
          <p:cNvPr id="18" name="Shape 15"/>
          <p:cNvSpPr/>
          <p:nvPr/>
        </p:nvSpPr>
        <p:spPr>
          <a:xfrm>
            <a:off x="685800" y="2889504"/>
            <a:ext cx="1005840" cy="411480"/>
          </a:xfrm>
          <a:prstGeom prst="rect">
            <a:avLst>
              <a:gd name="adj" fmla="val 8889"/>
            </a:avLst>
          </a:prstGeom>
          <a:solidFill>
            <a:srgbClr val="DBEAFE"/>
          </a:solidFill>
          <a:ln/>
        </p:spPr>
      </p:sp>
      <p:sp>
        <p:nvSpPr>
          <p:cNvPr id="19" name="Text 16"/>
          <p:cNvSpPr/>
          <p:nvPr/>
        </p:nvSpPr>
        <p:spPr>
          <a:xfrm>
            <a:off x="685800" y="2889504"/>
            <a:ext cx="1005840" cy="411480"/>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30〜43秒</a:t>
            </a:r>
            <a:endParaRPr lang="en-US" sz="1000" dirty="0"/>
          </a:p>
        </p:txBody>
      </p:sp>
      <p:sp>
        <p:nvSpPr>
          <p:cNvPr id="20" name="Text 17"/>
          <p:cNvSpPr/>
          <p:nvPr/>
        </p:nvSpPr>
        <p:spPr>
          <a:xfrm>
            <a:off x="1783080" y="2916936"/>
            <a:ext cx="6675120" cy="411480"/>
          </a:xfrm>
          <a:prstGeom prst="rect">
            <a:avLst/>
          </a:prstGeom>
          <a:noFill/>
          <a:ln/>
        </p:spPr>
        <p:txBody>
          <a:bodyPr wrap="square" rtlCol="0" anchor="ctr">
            <a:normAutofit/>
          </a:bodyPr>
          <a:lstStyle/>
          <a:p>
            <a:pPr indent="0" marL="0">
              <a:buNone/>
            </a:pPr>
            <a:r>
              <a:rPr lang="en-US" sz="1400" dirty="0">
                <a:solidFill>
                  <a:srgbClr val="111827"/>
                </a:solidFill>
                <a:latin typeface="Calibri" pitchFamily="34" charset="0"/>
                <a:ea typeface="Calibri" pitchFamily="34" charset="-122"/>
                <a:cs typeface="Calibri" pitchFamily="34" charset="-120"/>
              </a:rPr>
              <a:t>スクロールで主要プレイヤー比較（OpenAI/Google/Anthropic/Microsoft等）を確認</a:t>
            </a:r>
            <a:endParaRPr lang="en-US" sz="1400" dirty="0"/>
          </a:p>
        </p:txBody>
      </p:sp>
      <p:sp>
        <p:nvSpPr>
          <p:cNvPr id="21" name="Shape 18"/>
          <p:cNvSpPr/>
          <p:nvPr/>
        </p:nvSpPr>
        <p:spPr>
          <a:xfrm>
            <a:off x="685800" y="3703320"/>
            <a:ext cx="7772400" cy="502920"/>
          </a:xfrm>
          <a:prstGeom prst="rect">
            <a:avLst>
              <a:gd name="adj" fmla="val 7273"/>
            </a:avLst>
          </a:prstGeom>
          <a:solidFill>
            <a:srgbClr val="DBEAFE"/>
          </a:solidFill>
          <a:ln/>
        </p:spPr>
      </p:sp>
      <p:sp>
        <p:nvSpPr>
          <p:cNvPr id="22" name="Text 19"/>
          <p:cNvSpPr/>
          <p:nvPr/>
        </p:nvSpPr>
        <p:spPr>
          <a:xfrm>
            <a:off x="868680" y="3703320"/>
            <a:ext cx="7406640" cy="502920"/>
          </a:xfrm>
          <a:prstGeom prst="rect">
            <a:avLst/>
          </a:prstGeom>
          <a:noFill/>
          <a:ln/>
        </p:spPr>
        <p:txBody>
          <a:bodyPr wrap="square" rtlCol="0" anchor="ctr">
            <a:normAutofit/>
          </a:bodyPr>
          <a:lstStyle/>
          <a:p>
            <a:pPr indent="0" marL="0">
              <a:buNone/>
            </a:pPr>
            <a:r>
              <a:rPr lang="en-US" sz="1200" b="1" dirty="0">
                <a:solidFill>
                  <a:srgbClr val="2563EB"/>
                </a:solidFill>
                <a:latin typeface="Calibri" pitchFamily="34" charset="0"/>
                <a:ea typeface="Calibri" pitchFamily="34" charset="-122"/>
                <a:cs typeface="Calibri" pitchFamily="34" charset="-120"/>
              </a:rPr>
              <a:t>✔ 市場規模・成長率  ✔ 主要プレイヤー比較  ✔ 調査レポートレベルの内容が数分で完成</a:t>
            </a:r>
            <a:endParaRPr lang="en-US" sz="1200" dirty="0"/>
          </a:p>
        </p:txBody>
      </p:sp>
      <p:sp>
        <p:nvSpPr>
          <p:cNvPr id="23" name="Text 20"/>
          <p:cNvSpPr/>
          <p:nvPr/>
        </p:nvSpPr>
        <p:spPr>
          <a:xfrm>
            <a:off x="7132320" y="4457700"/>
            <a:ext cx="1828800" cy="256032"/>
          </a:xfrm>
          <a:prstGeom prst="rect">
            <a:avLst/>
          </a:prstGeom>
          <a:noFill/>
          <a:ln/>
        </p:spPr>
        <p:txBody>
          <a:bodyPr wrap="square" rtlCol="0" anchor="ctr">
            <a:normAutofit/>
          </a:bodyPr>
          <a:lstStyle/>
          <a:p>
            <a:pPr algn="r" indent="0" marL="0">
              <a:buNone/>
            </a:pPr>
            <a:r>
              <a:rPr lang="en-US" sz="1000" b="1" dirty="0">
                <a:solidFill>
                  <a:srgbClr val="2563EB"/>
                </a:solidFill>
                <a:latin typeface="Calibri" pitchFamily="34" charset="0"/>
                <a:ea typeface="Calibri" pitchFamily="34" charset="-122"/>
                <a:cs typeface="Calibri" pitchFamily="34" charset="-120"/>
              </a:rPr>
              <a:t>★ 実演動画: 43秒</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Shape 1"/>
          <p:cNvSpPr/>
          <p:nvPr/>
        </p:nvSpPr>
        <p:spPr>
          <a:xfrm>
            <a:off x="685800" y="109728"/>
            <a:ext cx="1078992" cy="256032"/>
          </a:xfrm>
          <a:prstGeom prst="rect">
            <a:avLst>
              <a:gd name="adj" fmla="val 14286"/>
            </a:avLst>
          </a:prstGeom>
          <a:solidFill>
            <a:srgbClr val="DBEAFE"/>
          </a:solidFill>
          <a:ln/>
        </p:spPr>
      </p:sp>
      <p:sp>
        <p:nvSpPr>
          <p:cNvPr id="4" name="Text 2"/>
          <p:cNvSpPr/>
          <p:nvPr/>
        </p:nvSpPr>
        <p:spPr>
          <a:xfrm>
            <a:off x="685800" y="109728"/>
            <a:ext cx="1078992" cy="25603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SPACES</a:t>
            </a:r>
            <a:endParaRPr lang="en-US" sz="1000" dirty="0"/>
          </a:p>
        </p:txBody>
      </p:sp>
      <p:sp>
        <p:nvSpPr>
          <p:cNvPr id="5" name="Text 3"/>
          <p:cNvSpPr/>
          <p:nvPr/>
        </p:nvSpPr>
        <p:spPr>
          <a:xfrm>
            <a:off x="685800" y="420624"/>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Spaces: 自分専用ナレッジベース</a:t>
            </a:r>
            <a:endParaRPr lang="en-US" sz="3200" dirty="0"/>
          </a:p>
        </p:txBody>
      </p:sp>
      <p:sp>
        <p:nvSpPr>
          <p:cNvPr id="6" name="Shape 4"/>
          <p:cNvSpPr/>
          <p:nvPr/>
        </p:nvSpPr>
        <p:spPr>
          <a:xfrm>
            <a:off x="685800" y="4759452"/>
            <a:ext cx="7772400" cy="0"/>
          </a:xfrm>
          <a:prstGeom prst="line">
            <a:avLst/>
          </a:prstGeom>
          <a:noFill/>
          <a:ln w="6350">
            <a:solidFill>
              <a:srgbClr val="E5E7EB"/>
            </a:solidFill>
            <a:prstDash val="solid"/>
          </a:ln>
        </p:spPr>
      </p:sp>
      <p:sp>
        <p:nvSpPr>
          <p:cNvPr id="7" name="Text 5"/>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8" name="Text 6"/>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8 / 12</a:t>
            </a:r>
            <a:endParaRPr lang="en-US" sz="1000" dirty="0"/>
          </a:p>
        </p:txBody>
      </p:sp>
      <p:sp>
        <p:nvSpPr>
          <p:cNvPr id="9" name="Shape 7"/>
          <p:cNvSpPr/>
          <p:nvPr/>
        </p:nvSpPr>
        <p:spPr>
          <a:xfrm>
            <a:off x="685800" y="914400"/>
            <a:ext cx="7772400" cy="548640"/>
          </a:xfrm>
          <a:prstGeom prst="rect">
            <a:avLst>
              <a:gd name="adj" fmla="val 8333"/>
            </a:avLst>
          </a:prstGeom>
          <a:solidFill>
            <a:srgbClr val="EDE9FE"/>
          </a:solidFill>
          <a:ln/>
        </p:spPr>
      </p:sp>
      <p:sp>
        <p:nvSpPr>
          <p:cNvPr id="10" name="Text 8"/>
          <p:cNvSpPr/>
          <p:nvPr/>
        </p:nvSpPr>
        <p:spPr>
          <a:xfrm>
            <a:off x="960120" y="914400"/>
            <a:ext cx="7223760" cy="548640"/>
          </a:xfrm>
          <a:prstGeom prst="rect">
            <a:avLst/>
          </a:prstGeom>
          <a:noFill/>
          <a:ln/>
        </p:spPr>
        <p:txBody>
          <a:bodyPr wrap="square" rtlCol="0" anchor="ctr">
            <a:normAutofit/>
          </a:bodyPr>
          <a:lstStyle/>
          <a:p>
            <a:pPr indent="0" marL="0">
              <a:buNone/>
            </a:pPr>
            <a:r>
              <a:rPr lang="en-US" sz="1600" b="1" dirty="0">
                <a:solidFill>
                  <a:srgbClr val="7C3AED"/>
                </a:solidFill>
                <a:latin typeface="Calibri" pitchFamily="34" charset="0"/>
                <a:ea typeface="Calibri" pitchFamily="34" charset="-122"/>
                <a:cs typeface="Calibri" pitchFamily="34" charset="-120"/>
              </a:rPr>
              <a:t>ファイルやURLを登録 → 検索時に優先参照。チームでも共有可能。</a:t>
            </a:r>
            <a:endParaRPr lang="en-US" sz="1600" dirty="0"/>
          </a:p>
        </p:txBody>
      </p:sp>
      <p:sp>
        <p:nvSpPr>
          <p:cNvPr id="11" name="Shape 9"/>
          <p:cNvSpPr/>
          <p:nvPr/>
        </p:nvSpPr>
        <p:spPr>
          <a:xfrm>
            <a:off x="905256" y="1691640"/>
            <a:ext cx="2286000" cy="1234440"/>
          </a:xfrm>
          <a:prstGeom prst="rect">
            <a:avLst>
              <a:gd name="adj" fmla="val 3704"/>
            </a:avLst>
          </a:prstGeom>
          <a:solidFill>
            <a:srgbClr val="FAFBFC"/>
          </a:solidFill>
          <a:ln w="6350">
            <a:solidFill>
              <a:srgbClr val="E5E7EB"/>
            </a:solidFill>
            <a:prstDash val="solid"/>
          </a:ln>
        </p:spPr>
      </p:sp>
      <p:pic>
        <p:nvPicPr>
          <p:cNvPr id="12" name="Image 0" descr="preencoded.png">    </p:cNvPr>
          <p:cNvPicPr>
            <a:picLocks noChangeAspect="1"/>
          </p:cNvPicPr>
          <p:nvPr/>
        </p:nvPicPr>
        <p:blipFill>
          <a:blip r:embed="rId1"/>
          <a:stretch>
            <a:fillRect/>
          </a:stretch>
        </p:blipFill>
        <p:spPr>
          <a:xfrm>
            <a:off x="1901952" y="1828800"/>
            <a:ext cx="292608" cy="292608"/>
          </a:xfrm>
          <a:prstGeom prst="rect">
            <a:avLst/>
          </a:prstGeom>
        </p:spPr>
      </p:pic>
      <p:sp>
        <p:nvSpPr>
          <p:cNvPr id="13" name="Text 10"/>
          <p:cNvSpPr/>
          <p:nvPr/>
        </p:nvSpPr>
        <p:spPr>
          <a:xfrm>
            <a:off x="905256" y="2167128"/>
            <a:ext cx="2286000" cy="27432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ファイル登録</a:t>
            </a:r>
            <a:endParaRPr lang="en-US" sz="1600" dirty="0"/>
          </a:p>
        </p:txBody>
      </p:sp>
      <p:sp>
        <p:nvSpPr>
          <p:cNvPr id="14" name="Text 11"/>
          <p:cNvSpPr/>
          <p:nvPr/>
        </p:nvSpPr>
        <p:spPr>
          <a:xfrm>
            <a:off x="905256" y="2441448"/>
            <a:ext cx="2286000" cy="365760"/>
          </a:xfrm>
          <a:prstGeom prst="rect">
            <a:avLst/>
          </a:prstGeom>
          <a:noFill/>
          <a:ln/>
        </p:spPr>
        <p:txBody>
          <a:bodyPr wrap="square" rtlCol="0" anchor="ctr">
            <a:normAutofit/>
          </a:bodyPr>
          <a:lstStyle/>
          <a:p>
            <a:pPr algn="ctr" indent="0" marL="0">
              <a:buNone/>
            </a:pPr>
            <a:r>
              <a:rPr lang="en-US" sz="1200" dirty="0">
                <a:solidFill>
                  <a:srgbClr val="6B7280"/>
                </a:solidFill>
                <a:latin typeface="Calibri" pitchFamily="34" charset="0"/>
                <a:ea typeface="Calibri" pitchFamily="34" charset="-122"/>
                <a:cs typeface="Calibri" pitchFamily="34" charset="-120"/>
              </a:rPr>
              <a:t>PDF・テキスト</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をアップロード</a:t>
            </a:r>
            <a:endParaRPr lang="en-US" sz="1200" dirty="0"/>
          </a:p>
        </p:txBody>
      </p:sp>
      <p:sp>
        <p:nvSpPr>
          <p:cNvPr id="15" name="Shape 12"/>
          <p:cNvSpPr/>
          <p:nvPr/>
        </p:nvSpPr>
        <p:spPr>
          <a:xfrm>
            <a:off x="3429000" y="1691640"/>
            <a:ext cx="2286000" cy="1234440"/>
          </a:xfrm>
          <a:prstGeom prst="rect">
            <a:avLst>
              <a:gd name="adj" fmla="val 3704"/>
            </a:avLst>
          </a:prstGeom>
          <a:solidFill>
            <a:srgbClr val="FAFBFC"/>
          </a:solidFill>
          <a:ln w="6350">
            <a:solidFill>
              <a:srgbClr val="E5E7EB"/>
            </a:solidFill>
            <a:prstDash val="solid"/>
          </a:ln>
        </p:spPr>
      </p:sp>
      <p:pic>
        <p:nvPicPr>
          <p:cNvPr id="16" name="Image 1" descr="preencoded.png">    </p:cNvPr>
          <p:cNvPicPr>
            <a:picLocks noChangeAspect="1"/>
          </p:cNvPicPr>
          <p:nvPr/>
        </p:nvPicPr>
        <p:blipFill>
          <a:blip r:embed="rId2"/>
          <a:stretch>
            <a:fillRect/>
          </a:stretch>
        </p:blipFill>
        <p:spPr>
          <a:xfrm>
            <a:off x="4425696" y="1828800"/>
            <a:ext cx="292608" cy="292608"/>
          </a:xfrm>
          <a:prstGeom prst="rect">
            <a:avLst/>
          </a:prstGeom>
        </p:spPr>
      </p:pic>
      <p:sp>
        <p:nvSpPr>
          <p:cNvPr id="17" name="Text 13"/>
          <p:cNvSpPr/>
          <p:nvPr/>
        </p:nvSpPr>
        <p:spPr>
          <a:xfrm>
            <a:off x="3429000" y="2167128"/>
            <a:ext cx="2286000" cy="27432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URL登録</a:t>
            </a:r>
            <a:endParaRPr lang="en-US" sz="1600" dirty="0"/>
          </a:p>
        </p:txBody>
      </p:sp>
      <p:sp>
        <p:nvSpPr>
          <p:cNvPr id="18" name="Text 14"/>
          <p:cNvSpPr/>
          <p:nvPr/>
        </p:nvSpPr>
        <p:spPr>
          <a:xfrm>
            <a:off x="3429000" y="2441448"/>
            <a:ext cx="2286000" cy="365760"/>
          </a:xfrm>
          <a:prstGeom prst="rect">
            <a:avLst/>
          </a:prstGeom>
          <a:noFill/>
          <a:ln/>
        </p:spPr>
        <p:txBody>
          <a:bodyPr wrap="square" rtlCol="0" anchor="ctr">
            <a:normAutofit/>
          </a:bodyPr>
          <a:lstStyle/>
          <a:p>
            <a:pPr algn="ctr" indent="0" marL="0">
              <a:buNone/>
            </a:pPr>
            <a:r>
              <a:rPr lang="en-US" sz="1200" dirty="0">
                <a:solidFill>
                  <a:srgbClr val="6B7280"/>
                </a:solidFill>
                <a:latin typeface="Calibri" pitchFamily="34" charset="0"/>
                <a:ea typeface="Calibri" pitchFamily="34" charset="-122"/>
                <a:cs typeface="Calibri" pitchFamily="34" charset="-120"/>
              </a:rPr>
              <a:t>ウェブサイト・</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レポートを参照</a:t>
            </a:r>
            <a:endParaRPr lang="en-US" sz="1200" dirty="0"/>
          </a:p>
        </p:txBody>
      </p:sp>
      <p:sp>
        <p:nvSpPr>
          <p:cNvPr id="19" name="Shape 15"/>
          <p:cNvSpPr/>
          <p:nvPr/>
        </p:nvSpPr>
        <p:spPr>
          <a:xfrm>
            <a:off x="5952744" y="1691640"/>
            <a:ext cx="2286000" cy="1234440"/>
          </a:xfrm>
          <a:prstGeom prst="rect">
            <a:avLst>
              <a:gd name="adj" fmla="val 3704"/>
            </a:avLst>
          </a:prstGeom>
          <a:solidFill>
            <a:srgbClr val="FAFBFC"/>
          </a:solidFill>
          <a:ln w="6350">
            <a:solidFill>
              <a:srgbClr val="E5E7EB"/>
            </a:solidFill>
            <a:prstDash val="solid"/>
          </a:ln>
        </p:spPr>
      </p:sp>
      <p:pic>
        <p:nvPicPr>
          <p:cNvPr id="20" name="Image 2" descr="preencoded.png">    </p:cNvPr>
          <p:cNvPicPr>
            <a:picLocks noChangeAspect="1"/>
          </p:cNvPicPr>
          <p:nvPr/>
        </p:nvPicPr>
        <p:blipFill>
          <a:blip r:embed="rId3"/>
          <a:stretch>
            <a:fillRect/>
          </a:stretch>
        </p:blipFill>
        <p:spPr>
          <a:xfrm>
            <a:off x="6949440" y="1828800"/>
            <a:ext cx="292608" cy="292608"/>
          </a:xfrm>
          <a:prstGeom prst="rect">
            <a:avLst/>
          </a:prstGeom>
        </p:spPr>
      </p:pic>
      <p:sp>
        <p:nvSpPr>
          <p:cNvPr id="21" name="Text 16"/>
          <p:cNvSpPr/>
          <p:nvPr/>
        </p:nvSpPr>
        <p:spPr>
          <a:xfrm>
            <a:off x="5952744" y="2167128"/>
            <a:ext cx="2286000" cy="27432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チーム共有</a:t>
            </a:r>
            <a:endParaRPr lang="en-US" sz="1600" dirty="0"/>
          </a:p>
        </p:txBody>
      </p:sp>
      <p:sp>
        <p:nvSpPr>
          <p:cNvPr id="22" name="Text 17"/>
          <p:cNvSpPr/>
          <p:nvPr/>
        </p:nvSpPr>
        <p:spPr>
          <a:xfrm>
            <a:off x="5952744" y="2441448"/>
            <a:ext cx="2286000" cy="365760"/>
          </a:xfrm>
          <a:prstGeom prst="rect">
            <a:avLst/>
          </a:prstGeom>
          <a:noFill/>
          <a:ln/>
        </p:spPr>
        <p:txBody>
          <a:bodyPr wrap="square" rtlCol="0" anchor="ctr">
            <a:normAutofit/>
          </a:bodyPr>
          <a:lstStyle/>
          <a:p>
            <a:pPr algn="ctr" indent="0" marL="0">
              <a:buNone/>
            </a:pPr>
            <a:r>
              <a:rPr lang="en-US" sz="1200" dirty="0">
                <a:solidFill>
                  <a:srgbClr val="6B7280"/>
                </a:solidFill>
                <a:latin typeface="Calibri" pitchFamily="34" charset="0"/>
                <a:ea typeface="Calibri" pitchFamily="34" charset="-122"/>
                <a:cs typeface="Calibri" pitchFamily="34" charset="-120"/>
              </a:rPr>
              <a:t>Spaceを共有し</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知識を蓄積</a:t>
            </a:r>
            <a:endParaRPr lang="en-US" sz="1200" dirty="0"/>
          </a:p>
        </p:txBody>
      </p:sp>
      <p:pic>
        <p:nvPicPr>
          <p:cNvPr id="23" name="Image 3" descr="preencoded.png">    </p:cNvPr>
          <p:cNvPicPr>
            <a:picLocks noChangeAspect="1"/>
          </p:cNvPicPr>
          <p:nvPr/>
        </p:nvPicPr>
        <p:blipFill>
          <a:blip r:embed="rId4"/>
          <a:stretch>
            <a:fillRect/>
          </a:stretch>
        </p:blipFill>
        <p:spPr>
          <a:xfrm>
            <a:off x="685800" y="3246120"/>
            <a:ext cx="201168" cy="201168"/>
          </a:xfrm>
          <a:prstGeom prst="rect">
            <a:avLst/>
          </a:prstGeom>
        </p:spPr>
      </p:pic>
      <p:sp>
        <p:nvSpPr>
          <p:cNvPr id="24" name="Text 18"/>
          <p:cNvSpPr/>
          <p:nvPr/>
        </p:nvSpPr>
        <p:spPr>
          <a:xfrm>
            <a:off x="978408" y="3200400"/>
            <a:ext cx="7406640" cy="347472"/>
          </a:xfrm>
          <a:prstGeom prst="rect">
            <a:avLst/>
          </a:prstGeom>
          <a:noFill/>
          <a:ln/>
        </p:spPr>
        <p:txBody>
          <a:bodyPr wrap="square" rtlCol="0" anchor="ctr">
            <a:normAutofit/>
          </a:bodyPr>
          <a:lstStyle/>
          <a:p>
            <a:pPr indent="0" marL="0">
              <a:buNone/>
            </a:pPr>
            <a:r>
              <a:rPr lang="en-US" sz="1200" i="1" dirty="0">
                <a:solidFill>
                  <a:srgbClr val="6B7280"/>
                </a:solidFill>
                <a:latin typeface="Calibri" pitchFamily="34" charset="0"/>
                <a:ea typeface="Calibri" pitchFamily="34" charset="-122"/>
                <a:cs typeface="Calibri" pitchFamily="34" charset="-120"/>
              </a:rPr>
              <a:t>活用例: 社内マニュアルを登録 → 「このルールはどこ？」と聞けばすぐ回答</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Shape 1"/>
          <p:cNvSpPr/>
          <p:nvPr/>
        </p:nvSpPr>
        <p:spPr>
          <a:xfrm>
            <a:off x="685800" y="109728"/>
            <a:ext cx="960120" cy="256032"/>
          </a:xfrm>
          <a:prstGeom prst="rect">
            <a:avLst>
              <a:gd name="adj" fmla="val 14286"/>
            </a:avLst>
          </a:prstGeom>
          <a:solidFill>
            <a:srgbClr val="DBEAFE"/>
          </a:solidFill>
          <a:ln/>
        </p:spPr>
      </p:sp>
      <p:sp>
        <p:nvSpPr>
          <p:cNvPr id="4" name="Text 2"/>
          <p:cNvSpPr/>
          <p:nvPr/>
        </p:nvSpPr>
        <p:spPr>
          <a:xfrm>
            <a:off x="685800" y="109728"/>
            <a:ext cx="960120" cy="25603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PAGES</a:t>
            </a:r>
            <a:endParaRPr lang="en-US" sz="1000" dirty="0"/>
          </a:p>
        </p:txBody>
      </p:sp>
      <p:sp>
        <p:nvSpPr>
          <p:cNvPr id="5" name="Text 3"/>
          <p:cNvSpPr/>
          <p:nvPr/>
        </p:nvSpPr>
        <p:spPr>
          <a:xfrm>
            <a:off x="685800" y="420624"/>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Pages: 調査結果をレポートで共有</a:t>
            </a:r>
            <a:endParaRPr lang="en-US" sz="3200" dirty="0"/>
          </a:p>
        </p:txBody>
      </p:sp>
      <p:sp>
        <p:nvSpPr>
          <p:cNvPr id="6" name="Shape 4"/>
          <p:cNvSpPr/>
          <p:nvPr/>
        </p:nvSpPr>
        <p:spPr>
          <a:xfrm>
            <a:off x="685800" y="4759452"/>
            <a:ext cx="7772400" cy="0"/>
          </a:xfrm>
          <a:prstGeom prst="line">
            <a:avLst/>
          </a:prstGeom>
          <a:noFill/>
          <a:ln w="6350">
            <a:solidFill>
              <a:srgbClr val="E5E7EB"/>
            </a:solidFill>
            <a:prstDash val="solid"/>
          </a:ln>
        </p:spPr>
      </p:sp>
      <p:sp>
        <p:nvSpPr>
          <p:cNvPr id="7" name="Text 5"/>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8" name="Text 6"/>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9 / 12</a:t>
            </a:r>
            <a:endParaRPr lang="en-US" sz="1000" dirty="0"/>
          </a:p>
        </p:txBody>
      </p:sp>
      <p:sp>
        <p:nvSpPr>
          <p:cNvPr id="9" name="Shape 7"/>
          <p:cNvSpPr/>
          <p:nvPr/>
        </p:nvSpPr>
        <p:spPr>
          <a:xfrm>
            <a:off x="685800" y="914400"/>
            <a:ext cx="7772400" cy="548640"/>
          </a:xfrm>
          <a:prstGeom prst="rect">
            <a:avLst>
              <a:gd name="adj" fmla="val 8333"/>
            </a:avLst>
          </a:prstGeom>
          <a:solidFill>
            <a:srgbClr val="DBEAFE"/>
          </a:solidFill>
          <a:ln/>
        </p:spPr>
      </p:sp>
      <p:sp>
        <p:nvSpPr>
          <p:cNvPr id="10" name="Text 8"/>
          <p:cNvSpPr/>
          <p:nvPr/>
        </p:nvSpPr>
        <p:spPr>
          <a:xfrm>
            <a:off x="960120" y="914400"/>
            <a:ext cx="7223760" cy="548640"/>
          </a:xfrm>
          <a:prstGeom prst="rect">
            <a:avLst/>
          </a:prstGeom>
          <a:noFill/>
          <a:ln/>
        </p:spPr>
        <p:txBody>
          <a:bodyPr wrap="square" rtlCol="0" anchor="ctr">
            <a:normAutofit/>
          </a:bodyPr>
          <a:lstStyle/>
          <a:p>
            <a:pPr indent="0" marL="0">
              <a:buNone/>
            </a:pPr>
            <a:r>
              <a:rPr lang="en-US" sz="1600" b="1" dirty="0">
                <a:solidFill>
                  <a:srgbClr val="2563EB"/>
                </a:solidFill>
                <a:latin typeface="Calibri" pitchFamily="34" charset="0"/>
                <a:ea typeface="Calibri" pitchFamily="34" charset="-122"/>
                <a:cs typeface="Calibri" pitchFamily="34" charset="-120"/>
              </a:rPr>
              <a:t>調査結果を目次付きのレポート形式で自動生成し、公開URLで共有できる機能</a:t>
            </a:r>
            <a:endParaRPr lang="en-US" sz="1600" dirty="0"/>
          </a:p>
        </p:txBody>
      </p:sp>
      <p:sp>
        <p:nvSpPr>
          <p:cNvPr id="11" name="Shape 9"/>
          <p:cNvSpPr/>
          <p:nvPr/>
        </p:nvSpPr>
        <p:spPr>
          <a:xfrm>
            <a:off x="905256" y="1691640"/>
            <a:ext cx="2286000" cy="1234440"/>
          </a:xfrm>
          <a:prstGeom prst="rect">
            <a:avLst>
              <a:gd name="adj" fmla="val 3704"/>
            </a:avLst>
          </a:prstGeom>
          <a:solidFill>
            <a:srgbClr val="FAFBFC"/>
          </a:solidFill>
          <a:ln w="6350">
            <a:solidFill>
              <a:srgbClr val="E5E7EB"/>
            </a:solidFill>
            <a:prstDash val="solid"/>
          </a:ln>
        </p:spPr>
      </p:sp>
      <p:pic>
        <p:nvPicPr>
          <p:cNvPr id="12" name="Image 0" descr="preencoded.png">    </p:cNvPr>
          <p:cNvPicPr>
            <a:picLocks noChangeAspect="1"/>
          </p:cNvPicPr>
          <p:nvPr/>
        </p:nvPicPr>
        <p:blipFill>
          <a:blip r:embed="rId1"/>
          <a:stretch>
            <a:fillRect/>
          </a:stretch>
        </p:blipFill>
        <p:spPr>
          <a:xfrm>
            <a:off x="1901952" y="1828800"/>
            <a:ext cx="292608" cy="292608"/>
          </a:xfrm>
          <a:prstGeom prst="rect">
            <a:avLst/>
          </a:prstGeom>
        </p:spPr>
      </p:pic>
      <p:sp>
        <p:nvSpPr>
          <p:cNvPr id="13" name="Text 10"/>
          <p:cNvSpPr/>
          <p:nvPr/>
        </p:nvSpPr>
        <p:spPr>
          <a:xfrm>
            <a:off x="905256" y="2167128"/>
            <a:ext cx="2286000" cy="27432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自動生成</a:t>
            </a:r>
            <a:endParaRPr lang="en-US" sz="1600" dirty="0"/>
          </a:p>
        </p:txBody>
      </p:sp>
      <p:sp>
        <p:nvSpPr>
          <p:cNvPr id="14" name="Text 11"/>
          <p:cNvSpPr/>
          <p:nvPr/>
        </p:nvSpPr>
        <p:spPr>
          <a:xfrm>
            <a:off x="905256" y="2441448"/>
            <a:ext cx="2286000" cy="365760"/>
          </a:xfrm>
          <a:prstGeom prst="rect">
            <a:avLst/>
          </a:prstGeom>
          <a:noFill/>
          <a:ln/>
        </p:spPr>
        <p:txBody>
          <a:bodyPr wrap="square" rtlCol="0" anchor="ctr">
            <a:normAutofit/>
          </a:bodyPr>
          <a:lstStyle/>
          <a:p>
            <a:pPr algn="ctr" indent="0" marL="0">
              <a:buNone/>
            </a:pPr>
            <a:r>
              <a:rPr lang="en-US" sz="1200" dirty="0">
                <a:solidFill>
                  <a:srgbClr val="6B7280"/>
                </a:solidFill>
                <a:latin typeface="Calibri" pitchFamily="34" charset="0"/>
                <a:ea typeface="Calibri" pitchFamily="34" charset="-122"/>
                <a:cs typeface="Calibri" pitchFamily="34" charset="-120"/>
              </a:rPr>
              <a:t>目次付き構造化</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レポートを即生成</a:t>
            </a:r>
            <a:endParaRPr lang="en-US" sz="1200" dirty="0"/>
          </a:p>
        </p:txBody>
      </p:sp>
      <p:sp>
        <p:nvSpPr>
          <p:cNvPr id="15" name="Shape 12"/>
          <p:cNvSpPr/>
          <p:nvPr/>
        </p:nvSpPr>
        <p:spPr>
          <a:xfrm>
            <a:off x="3429000" y="1691640"/>
            <a:ext cx="2286000" cy="1234440"/>
          </a:xfrm>
          <a:prstGeom prst="rect">
            <a:avLst>
              <a:gd name="adj" fmla="val 3704"/>
            </a:avLst>
          </a:prstGeom>
          <a:solidFill>
            <a:srgbClr val="FAFBFC"/>
          </a:solidFill>
          <a:ln w="6350">
            <a:solidFill>
              <a:srgbClr val="E5E7EB"/>
            </a:solidFill>
            <a:prstDash val="solid"/>
          </a:ln>
        </p:spPr>
      </p:sp>
      <p:pic>
        <p:nvPicPr>
          <p:cNvPr id="16" name="Image 1" descr="preencoded.png">    </p:cNvPr>
          <p:cNvPicPr>
            <a:picLocks noChangeAspect="1"/>
          </p:cNvPicPr>
          <p:nvPr/>
        </p:nvPicPr>
        <p:blipFill>
          <a:blip r:embed="rId2"/>
          <a:stretch>
            <a:fillRect/>
          </a:stretch>
        </p:blipFill>
        <p:spPr>
          <a:xfrm>
            <a:off x="4425696" y="1828800"/>
            <a:ext cx="292608" cy="292608"/>
          </a:xfrm>
          <a:prstGeom prst="rect">
            <a:avLst/>
          </a:prstGeom>
        </p:spPr>
      </p:pic>
      <p:sp>
        <p:nvSpPr>
          <p:cNvPr id="17" name="Text 13"/>
          <p:cNvSpPr/>
          <p:nvPr/>
        </p:nvSpPr>
        <p:spPr>
          <a:xfrm>
            <a:off x="3429000" y="2167128"/>
            <a:ext cx="2286000" cy="27432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編集可能</a:t>
            </a:r>
            <a:endParaRPr lang="en-US" sz="1600" dirty="0"/>
          </a:p>
        </p:txBody>
      </p:sp>
      <p:sp>
        <p:nvSpPr>
          <p:cNvPr id="18" name="Text 14"/>
          <p:cNvSpPr/>
          <p:nvPr/>
        </p:nvSpPr>
        <p:spPr>
          <a:xfrm>
            <a:off x="3429000" y="2441448"/>
            <a:ext cx="2286000" cy="365760"/>
          </a:xfrm>
          <a:prstGeom prst="rect">
            <a:avLst/>
          </a:prstGeom>
          <a:noFill/>
          <a:ln/>
        </p:spPr>
        <p:txBody>
          <a:bodyPr wrap="square" rtlCol="0" anchor="ctr">
            <a:normAutofit/>
          </a:bodyPr>
          <a:lstStyle/>
          <a:p>
            <a:pPr algn="ctr" indent="0" marL="0">
              <a:buNone/>
            </a:pPr>
            <a:r>
              <a:rPr lang="en-US" sz="1200" dirty="0">
                <a:solidFill>
                  <a:srgbClr val="6B7280"/>
                </a:solidFill>
                <a:latin typeface="Calibri" pitchFamily="34" charset="0"/>
                <a:ea typeface="Calibri" pitchFamily="34" charset="-122"/>
                <a:cs typeface="Calibri" pitchFamily="34" charset="-120"/>
              </a:rPr>
              <a:t>セクションごとに</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カスタマイズ</a:t>
            </a:r>
            <a:endParaRPr lang="en-US" sz="1200" dirty="0"/>
          </a:p>
        </p:txBody>
      </p:sp>
      <p:sp>
        <p:nvSpPr>
          <p:cNvPr id="19" name="Shape 15"/>
          <p:cNvSpPr/>
          <p:nvPr/>
        </p:nvSpPr>
        <p:spPr>
          <a:xfrm>
            <a:off x="5952744" y="1691640"/>
            <a:ext cx="2286000" cy="1234440"/>
          </a:xfrm>
          <a:prstGeom prst="rect">
            <a:avLst>
              <a:gd name="adj" fmla="val 3704"/>
            </a:avLst>
          </a:prstGeom>
          <a:solidFill>
            <a:srgbClr val="FAFBFC"/>
          </a:solidFill>
          <a:ln w="6350">
            <a:solidFill>
              <a:srgbClr val="E5E7EB"/>
            </a:solidFill>
            <a:prstDash val="solid"/>
          </a:ln>
        </p:spPr>
      </p:sp>
      <p:pic>
        <p:nvPicPr>
          <p:cNvPr id="20" name="Image 2" descr="preencoded.png">    </p:cNvPr>
          <p:cNvPicPr>
            <a:picLocks noChangeAspect="1"/>
          </p:cNvPicPr>
          <p:nvPr/>
        </p:nvPicPr>
        <p:blipFill>
          <a:blip r:embed="rId3"/>
          <a:stretch>
            <a:fillRect/>
          </a:stretch>
        </p:blipFill>
        <p:spPr>
          <a:xfrm>
            <a:off x="6949440" y="1828800"/>
            <a:ext cx="292608" cy="292608"/>
          </a:xfrm>
          <a:prstGeom prst="rect">
            <a:avLst/>
          </a:prstGeom>
        </p:spPr>
      </p:pic>
      <p:sp>
        <p:nvSpPr>
          <p:cNvPr id="21" name="Text 16"/>
          <p:cNvSpPr/>
          <p:nvPr/>
        </p:nvSpPr>
        <p:spPr>
          <a:xfrm>
            <a:off x="5952744" y="2167128"/>
            <a:ext cx="2286000" cy="27432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公開URL</a:t>
            </a:r>
            <a:endParaRPr lang="en-US" sz="1600" dirty="0"/>
          </a:p>
        </p:txBody>
      </p:sp>
      <p:sp>
        <p:nvSpPr>
          <p:cNvPr id="22" name="Text 17"/>
          <p:cNvSpPr/>
          <p:nvPr/>
        </p:nvSpPr>
        <p:spPr>
          <a:xfrm>
            <a:off x="5952744" y="2441448"/>
            <a:ext cx="2286000" cy="365760"/>
          </a:xfrm>
          <a:prstGeom prst="rect">
            <a:avLst/>
          </a:prstGeom>
          <a:noFill/>
          <a:ln/>
        </p:spPr>
        <p:txBody>
          <a:bodyPr wrap="square" rtlCol="0" anchor="ctr">
            <a:normAutofit/>
          </a:bodyPr>
          <a:lstStyle/>
          <a:p>
            <a:pPr algn="ctr" indent="0" marL="0">
              <a:buNone/>
            </a:pPr>
            <a:r>
              <a:rPr lang="en-US" sz="1200" dirty="0">
                <a:solidFill>
                  <a:srgbClr val="6B7280"/>
                </a:solidFill>
                <a:latin typeface="Calibri" pitchFamily="34" charset="0"/>
                <a:ea typeface="Calibri" pitchFamily="34" charset="-122"/>
                <a:cs typeface="Calibri" pitchFamily="34" charset="-120"/>
              </a:rPr>
              <a:t>リンク共有で</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誰でも閲覧可能</a:t>
            </a:r>
            <a:endParaRPr lang="en-US" sz="1200" dirty="0"/>
          </a:p>
        </p:txBody>
      </p:sp>
      <p:sp>
        <p:nvSpPr>
          <p:cNvPr id="23" name="Shape 18"/>
          <p:cNvSpPr/>
          <p:nvPr/>
        </p:nvSpPr>
        <p:spPr>
          <a:xfrm>
            <a:off x="685800" y="3200400"/>
            <a:ext cx="2560320" cy="347472"/>
          </a:xfrm>
          <a:prstGeom prst="rect">
            <a:avLst>
              <a:gd name="adj" fmla="val 10526"/>
            </a:avLst>
          </a:prstGeom>
          <a:solidFill>
            <a:srgbClr val="F3F4F6"/>
          </a:solidFill>
          <a:ln/>
        </p:spPr>
      </p:sp>
      <p:sp>
        <p:nvSpPr>
          <p:cNvPr id="24" name="Text 19"/>
          <p:cNvSpPr/>
          <p:nvPr/>
        </p:nvSpPr>
        <p:spPr>
          <a:xfrm>
            <a:off x="777240" y="3200400"/>
            <a:ext cx="2377440" cy="347472"/>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社内ナレッジ共有</a:t>
            </a:r>
            <a:endParaRPr lang="en-US" sz="1200" dirty="0"/>
          </a:p>
        </p:txBody>
      </p:sp>
      <p:sp>
        <p:nvSpPr>
          <p:cNvPr id="25" name="Shape 20"/>
          <p:cNvSpPr/>
          <p:nvPr/>
        </p:nvSpPr>
        <p:spPr>
          <a:xfrm>
            <a:off x="3429000" y="3200400"/>
            <a:ext cx="2560320" cy="347472"/>
          </a:xfrm>
          <a:prstGeom prst="rect">
            <a:avLst>
              <a:gd name="adj" fmla="val 10526"/>
            </a:avLst>
          </a:prstGeom>
          <a:solidFill>
            <a:srgbClr val="F3F4F6"/>
          </a:solidFill>
          <a:ln/>
        </p:spPr>
      </p:sp>
      <p:sp>
        <p:nvSpPr>
          <p:cNvPr id="26" name="Text 21"/>
          <p:cNvSpPr/>
          <p:nvPr/>
        </p:nvSpPr>
        <p:spPr>
          <a:xfrm>
            <a:off x="3520440" y="3200400"/>
            <a:ext cx="2377440" cy="347472"/>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クライアントへの簡易レポート</a:t>
            </a:r>
            <a:endParaRPr lang="en-US" sz="1200" dirty="0"/>
          </a:p>
        </p:txBody>
      </p:sp>
      <p:sp>
        <p:nvSpPr>
          <p:cNvPr id="27" name="Shape 22"/>
          <p:cNvSpPr/>
          <p:nvPr/>
        </p:nvSpPr>
        <p:spPr>
          <a:xfrm>
            <a:off x="6172200" y="3200400"/>
            <a:ext cx="2560320" cy="347472"/>
          </a:xfrm>
          <a:prstGeom prst="rect">
            <a:avLst>
              <a:gd name="adj" fmla="val 10526"/>
            </a:avLst>
          </a:prstGeom>
          <a:solidFill>
            <a:srgbClr val="F3F4F6"/>
          </a:solidFill>
          <a:ln/>
        </p:spPr>
      </p:sp>
      <p:sp>
        <p:nvSpPr>
          <p:cNvPr id="28" name="Text 23"/>
          <p:cNvSpPr/>
          <p:nvPr/>
        </p:nvSpPr>
        <p:spPr>
          <a:xfrm>
            <a:off x="6263640" y="3200400"/>
            <a:ext cx="2377440" cy="347472"/>
          </a:xfrm>
          <a:prstGeom prst="rect">
            <a:avLst/>
          </a:prstGeom>
          <a:noFill/>
          <a:ln/>
        </p:spPr>
        <p:txBody>
          <a:bodyPr wrap="square" rtlCol="0" anchor="ctr">
            <a:normAutofit/>
          </a:bodyPr>
          <a:lstStyle/>
          <a:p>
            <a:pPr indent="0" marL="0">
              <a:buNone/>
            </a:pPr>
            <a:r>
              <a:rPr lang="en-US" sz="1200" dirty="0">
                <a:solidFill>
                  <a:srgbClr val="374151"/>
                </a:solidFill>
                <a:latin typeface="Calibri" pitchFamily="34" charset="0"/>
                <a:ea typeface="Calibri" pitchFamily="34" charset="-122"/>
                <a:cs typeface="Calibri" pitchFamily="34" charset="-120"/>
              </a:rPr>
              <a:t>✔  プレゼン資料の自動生成</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Shape 1"/>
          <p:cNvSpPr/>
          <p:nvPr/>
        </p:nvSpPr>
        <p:spPr>
          <a:xfrm>
            <a:off x="685800" y="109728"/>
            <a:ext cx="1078992" cy="256032"/>
          </a:xfrm>
          <a:prstGeom prst="rect">
            <a:avLst>
              <a:gd name="adj" fmla="val 14286"/>
            </a:avLst>
          </a:prstGeom>
          <a:solidFill>
            <a:srgbClr val="DBEAFE"/>
          </a:solidFill>
          <a:ln/>
        </p:spPr>
      </p:sp>
      <p:sp>
        <p:nvSpPr>
          <p:cNvPr id="4" name="Text 2"/>
          <p:cNvSpPr/>
          <p:nvPr/>
        </p:nvSpPr>
        <p:spPr>
          <a:xfrm>
            <a:off x="685800" y="109728"/>
            <a:ext cx="1078992" cy="256032"/>
          </a:xfrm>
          <a:prstGeom prst="rect">
            <a:avLst/>
          </a:prstGeom>
          <a:noFill/>
          <a:ln/>
        </p:spPr>
        <p:txBody>
          <a:bodyPr wrap="square" rtlCol="0" anchor="ctr">
            <a:normAutofit/>
          </a:bodyPr>
          <a:lstStyle/>
          <a:p>
            <a:pPr algn="ctr" indent="0" marL="0">
              <a:buNone/>
            </a:pPr>
            <a:r>
              <a:rPr lang="en-US" sz="1000" b="1" dirty="0">
                <a:solidFill>
                  <a:srgbClr val="2563EB"/>
                </a:solidFill>
                <a:latin typeface="Calibri" pitchFamily="34" charset="0"/>
                <a:ea typeface="Calibri" pitchFamily="34" charset="-122"/>
                <a:cs typeface="Calibri" pitchFamily="34" charset="-120"/>
              </a:rPr>
              <a:t>UPLOAD</a:t>
            </a:r>
            <a:endParaRPr lang="en-US" sz="1000" dirty="0"/>
          </a:p>
        </p:txBody>
      </p:sp>
      <p:sp>
        <p:nvSpPr>
          <p:cNvPr id="5" name="Text 3"/>
          <p:cNvSpPr/>
          <p:nvPr/>
        </p:nvSpPr>
        <p:spPr>
          <a:xfrm>
            <a:off x="685800" y="420624"/>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ファイルアップロード</a:t>
            </a:r>
            <a:endParaRPr lang="en-US" sz="3200" dirty="0"/>
          </a:p>
        </p:txBody>
      </p:sp>
      <p:sp>
        <p:nvSpPr>
          <p:cNvPr id="6" name="Shape 4"/>
          <p:cNvSpPr/>
          <p:nvPr/>
        </p:nvSpPr>
        <p:spPr>
          <a:xfrm>
            <a:off x="685800" y="4759452"/>
            <a:ext cx="7772400" cy="0"/>
          </a:xfrm>
          <a:prstGeom prst="line">
            <a:avLst/>
          </a:prstGeom>
          <a:noFill/>
          <a:ln w="6350">
            <a:solidFill>
              <a:srgbClr val="E5E7EB"/>
            </a:solidFill>
            <a:prstDash val="solid"/>
          </a:ln>
        </p:spPr>
      </p:sp>
      <p:sp>
        <p:nvSpPr>
          <p:cNvPr id="7" name="Text 5"/>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8" name="Text 6"/>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10 / 12</a:t>
            </a:r>
            <a:endParaRPr lang="en-US" sz="1000" dirty="0"/>
          </a:p>
        </p:txBody>
      </p:sp>
      <p:sp>
        <p:nvSpPr>
          <p:cNvPr id="9" name="Shape 7"/>
          <p:cNvSpPr/>
          <p:nvPr/>
        </p:nvSpPr>
        <p:spPr>
          <a:xfrm>
            <a:off x="914400" y="960120"/>
            <a:ext cx="3200400" cy="1325880"/>
          </a:xfrm>
          <a:prstGeom prst="rect">
            <a:avLst>
              <a:gd name="adj" fmla="val 3448"/>
            </a:avLst>
          </a:prstGeom>
          <a:solidFill>
            <a:srgbClr val="FAFBFC"/>
          </a:solidFill>
          <a:ln w="6350">
            <a:solidFill>
              <a:srgbClr val="E5E7EB"/>
            </a:solidFill>
            <a:prstDash val="solid"/>
          </a:ln>
        </p:spPr>
      </p:sp>
      <p:pic>
        <p:nvPicPr>
          <p:cNvPr id="10" name="Image 0" descr="preencoded.png">    </p:cNvPr>
          <p:cNvPicPr>
            <a:picLocks noChangeAspect="1"/>
          </p:cNvPicPr>
          <p:nvPr/>
        </p:nvPicPr>
        <p:blipFill>
          <a:blip r:embed="rId1"/>
          <a:stretch>
            <a:fillRect/>
          </a:stretch>
        </p:blipFill>
        <p:spPr>
          <a:xfrm>
            <a:off x="2354580" y="1097280"/>
            <a:ext cx="320040" cy="320040"/>
          </a:xfrm>
          <a:prstGeom prst="rect">
            <a:avLst/>
          </a:prstGeom>
        </p:spPr>
      </p:pic>
      <p:sp>
        <p:nvSpPr>
          <p:cNvPr id="11" name="Text 8"/>
          <p:cNvSpPr/>
          <p:nvPr/>
        </p:nvSpPr>
        <p:spPr>
          <a:xfrm>
            <a:off x="914400" y="1463040"/>
            <a:ext cx="3200400" cy="32004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PDF</a:t>
            </a:r>
            <a:endParaRPr lang="en-US" sz="1600" dirty="0"/>
          </a:p>
        </p:txBody>
      </p:sp>
      <p:sp>
        <p:nvSpPr>
          <p:cNvPr id="12" name="Text 9"/>
          <p:cNvSpPr/>
          <p:nvPr/>
        </p:nvSpPr>
        <p:spPr>
          <a:xfrm>
            <a:off x="914400" y="1783080"/>
            <a:ext cx="3200400" cy="384048"/>
          </a:xfrm>
          <a:prstGeom prst="rect">
            <a:avLst/>
          </a:prstGeom>
          <a:noFill/>
          <a:ln/>
        </p:spPr>
        <p:txBody>
          <a:bodyPr wrap="square" rtlCol="0" anchor="ctr">
            <a:normAutofit/>
          </a:bodyPr>
          <a:lstStyle/>
          <a:p>
            <a:pPr algn="ctr" indent="0" marL="0">
              <a:buNone/>
            </a:pPr>
            <a:r>
              <a:rPr lang="en-US" sz="1400" dirty="0">
                <a:solidFill>
                  <a:srgbClr val="6B7280"/>
                </a:solidFill>
                <a:latin typeface="Calibri" pitchFamily="34" charset="0"/>
                <a:ea typeface="Calibri" pitchFamily="34" charset="-122"/>
                <a:cs typeface="Calibri" pitchFamily="34" charset="-120"/>
              </a:rPr>
              <a:t>業界レポート・</a:t>
            </a:r>
            <a:endParaRPr lang="en-US" sz="1400" dirty="0"/>
          </a:p>
          <a:p>
            <a:pPr algn="ctr" indent="0" marL="0">
              <a:buNone/>
            </a:pPr>
            <a:r>
              <a:rPr lang="en-US" sz="1400" dirty="0">
                <a:solidFill>
                  <a:srgbClr val="6B7280"/>
                </a:solidFill>
                <a:latin typeface="Calibri" pitchFamily="34" charset="0"/>
                <a:ea typeface="Calibri" pitchFamily="34" charset="-122"/>
                <a:cs typeface="Calibri" pitchFamily="34" charset="-120"/>
              </a:rPr>
              <a:t>社内文書の要約</a:t>
            </a:r>
            <a:endParaRPr lang="en-US" sz="1400" dirty="0"/>
          </a:p>
        </p:txBody>
      </p:sp>
      <p:sp>
        <p:nvSpPr>
          <p:cNvPr id="13" name="Shape 10"/>
          <p:cNvSpPr/>
          <p:nvPr/>
        </p:nvSpPr>
        <p:spPr>
          <a:xfrm>
            <a:off x="5029200" y="960120"/>
            <a:ext cx="3200400" cy="1325880"/>
          </a:xfrm>
          <a:prstGeom prst="rect">
            <a:avLst>
              <a:gd name="adj" fmla="val 3448"/>
            </a:avLst>
          </a:prstGeom>
          <a:solidFill>
            <a:srgbClr val="FAFBFC"/>
          </a:solidFill>
          <a:ln w="6350">
            <a:solidFill>
              <a:srgbClr val="E5E7EB"/>
            </a:solidFill>
            <a:prstDash val="solid"/>
          </a:ln>
        </p:spPr>
      </p:sp>
      <p:pic>
        <p:nvPicPr>
          <p:cNvPr id="14" name="Image 1" descr="preencoded.png">    </p:cNvPr>
          <p:cNvPicPr>
            <a:picLocks noChangeAspect="1"/>
          </p:cNvPicPr>
          <p:nvPr/>
        </p:nvPicPr>
        <p:blipFill>
          <a:blip r:embed="rId2"/>
          <a:stretch>
            <a:fillRect/>
          </a:stretch>
        </p:blipFill>
        <p:spPr>
          <a:xfrm>
            <a:off x="6469380" y="1097280"/>
            <a:ext cx="320040" cy="320040"/>
          </a:xfrm>
          <a:prstGeom prst="rect">
            <a:avLst/>
          </a:prstGeom>
        </p:spPr>
      </p:pic>
      <p:sp>
        <p:nvSpPr>
          <p:cNvPr id="15" name="Text 11"/>
          <p:cNvSpPr/>
          <p:nvPr/>
        </p:nvSpPr>
        <p:spPr>
          <a:xfrm>
            <a:off x="5029200" y="1463040"/>
            <a:ext cx="3200400" cy="320040"/>
          </a:xfrm>
          <a:prstGeom prst="rect">
            <a:avLst/>
          </a:prstGeom>
          <a:noFill/>
          <a:ln/>
        </p:spPr>
        <p:txBody>
          <a:bodyPr wrap="square" rtlCol="0" anchor="ctr">
            <a:normAutofit/>
          </a:bodyPr>
          <a:lstStyle/>
          <a:p>
            <a:pPr algn="ctr" indent="0" marL="0">
              <a:buNone/>
            </a:pPr>
            <a:r>
              <a:rPr lang="en-US" sz="1600" b="1" dirty="0">
                <a:solidFill>
                  <a:srgbClr val="111827"/>
                </a:solidFill>
                <a:latin typeface="Calibri" pitchFamily="34" charset="0"/>
                <a:ea typeface="Calibri" pitchFamily="34" charset="-122"/>
                <a:cs typeface="Calibri" pitchFamily="34" charset="-120"/>
              </a:rPr>
              <a:t>画像</a:t>
            </a:r>
            <a:endParaRPr lang="en-US" sz="1600" dirty="0"/>
          </a:p>
        </p:txBody>
      </p:sp>
      <p:sp>
        <p:nvSpPr>
          <p:cNvPr id="16" name="Text 12"/>
          <p:cNvSpPr/>
          <p:nvPr/>
        </p:nvSpPr>
        <p:spPr>
          <a:xfrm>
            <a:off x="5029200" y="1783080"/>
            <a:ext cx="3200400" cy="384048"/>
          </a:xfrm>
          <a:prstGeom prst="rect">
            <a:avLst/>
          </a:prstGeom>
          <a:noFill/>
          <a:ln/>
        </p:spPr>
        <p:txBody>
          <a:bodyPr wrap="square" rtlCol="0" anchor="ctr">
            <a:normAutofit/>
          </a:bodyPr>
          <a:lstStyle/>
          <a:p>
            <a:pPr algn="ctr" indent="0" marL="0">
              <a:buNone/>
            </a:pPr>
            <a:r>
              <a:rPr lang="en-US" sz="1400" dirty="0">
                <a:solidFill>
                  <a:srgbClr val="6B7280"/>
                </a:solidFill>
                <a:latin typeface="Calibri" pitchFamily="34" charset="0"/>
                <a:ea typeface="Calibri" pitchFamily="34" charset="-122"/>
                <a:cs typeface="Calibri" pitchFamily="34" charset="-120"/>
              </a:rPr>
              <a:t>グラフ・図表の</a:t>
            </a:r>
            <a:endParaRPr lang="en-US" sz="1400" dirty="0"/>
          </a:p>
          <a:p>
            <a:pPr algn="ctr" indent="0" marL="0">
              <a:buNone/>
            </a:pPr>
            <a:r>
              <a:rPr lang="en-US" sz="1400" dirty="0">
                <a:solidFill>
                  <a:srgbClr val="6B7280"/>
                </a:solidFill>
                <a:latin typeface="Calibri" pitchFamily="34" charset="0"/>
                <a:ea typeface="Calibri" pitchFamily="34" charset="-122"/>
                <a:cs typeface="Calibri" pitchFamily="34" charset="-120"/>
              </a:rPr>
              <a:t>トレンド分析</a:t>
            </a:r>
            <a:endParaRPr lang="en-US" sz="1400" dirty="0"/>
          </a:p>
        </p:txBody>
      </p:sp>
      <p:sp>
        <p:nvSpPr>
          <p:cNvPr id="17" name="Shape 13"/>
          <p:cNvSpPr/>
          <p:nvPr/>
        </p:nvSpPr>
        <p:spPr>
          <a:xfrm>
            <a:off x="685800" y="2542032"/>
            <a:ext cx="7772400" cy="594360"/>
          </a:xfrm>
          <a:prstGeom prst="rect">
            <a:avLst>
              <a:gd name="adj" fmla="val 7692"/>
            </a:avLst>
          </a:prstGeom>
          <a:solidFill>
            <a:srgbClr val="DBEAFE"/>
          </a:solidFill>
          <a:ln/>
        </p:spPr>
      </p:sp>
      <p:sp>
        <p:nvSpPr>
          <p:cNvPr id="18" name="Text 14"/>
          <p:cNvSpPr/>
          <p:nvPr/>
        </p:nvSpPr>
        <p:spPr>
          <a:xfrm>
            <a:off x="960120" y="2542032"/>
            <a:ext cx="7223760" cy="594360"/>
          </a:xfrm>
          <a:prstGeom prst="rect">
            <a:avLst/>
          </a:prstGeom>
          <a:noFill/>
          <a:ln/>
        </p:spPr>
        <p:txBody>
          <a:bodyPr wrap="square" rtlCol="0" anchor="ctr">
            <a:normAutofit/>
          </a:bodyPr>
          <a:lstStyle/>
          <a:p>
            <a:pPr indent="0" marL="0">
              <a:buNone/>
            </a:pPr>
            <a:r>
              <a:rPr lang="en-US" sz="1600" b="1" dirty="0">
                <a:solidFill>
                  <a:srgbClr val="2563EB"/>
                </a:solidFill>
                <a:latin typeface="Calibri" pitchFamily="34" charset="0"/>
                <a:ea typeface="Calibri" pitchFamily="34" charset="-122"/>
                <a:cs typeface="Calibri" pitchFamily="34" charset="-120"/>
              </a:rPr>
              <a:t>無料版: 1日3回まで  |  Pro版: 無制限</a:t>
            </a:r>
            <a:endParaRPr lang="en-US" sz="1600" dirty="0"/>
          </a:p>
        </p:txBody>
      </p:sp>
      <p:sp>
        <p:nvSpPr>
          <p:cNvPr id="19" name="Shape 15"/>
          <p:cNvSpPr/>
          <p:nvPr/>
        </p:nvSpPr>
        <p:spPr>
          <a:xfrm>
            <a:off x="685800" y="3310128"/>
            <a:ext cx="7772400" cy="594360"/>
          </a:xfrm>
          <a:prstGeom prst="rect">
            <a:avLst>
              <a:gd name="adj" fmla="val 7692"/>
            </a:avLst>
          </a:prstGeom>
          <a:solidFill>
            <a:srgbClr val="FEE2E2"/>
          </a:solidFill>
          <a:ln/>
        </p:spPr>
      </p:sp>
      <p:sp>
        <p:nvSpPr>
          <p:cNvPr id="20" name="Text 16"/>
          <p:cNvSpPr/>
          <p:nvPr/>
        </p:nvSpPr>
        <p:spPr>
          <a:xfrm>
            <a:off x="868680" y="3310128"/>
            <a:ext cx="7406640" cy="594360"/>
          </a:xfrm>
          <a:prstGeom prst="rect">
            <a:avLst/>
          </a:prstGeom>
          <a:noFill/>
          <a:ln/>
        </p:spPr>
        <p:txBody>
          <a:bodyPr wrap="square" rtlCol="0" anchor="ctr">
            <a:normAutofit/>
          </a:bodyPr>
          <a:lstStyle/>
          <a:p>
            <a:pPr indent="0" marL="0">
              <a:buNone/>
            </a:pPr>
            <a:r>
              <a:rPr lang="en-US" sz="1400" b="1" dirty="0">
                <a:solidFill>
                  <a:srgbClr val="DC2626"/>
                </a:solidFill>
                <a:latin typeface="Calibri" pitchFamily="34" charset="0"/>
                <a:ea typeface="Calibri" pitchFamily="34" charset="-122"/>
                <a:cs typeface="Calibri" pitchFamily="34" charset="-120"/>
              </a:rPr>
              <a:t>⚠ 注意: 機密情報・個人情報のアップロードは社内のAI利用ルールを必ず確認してください</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Text 1"/>
          <p:cNvSpPr/>
          <p:nvPr/>
        </p:nvSpPr>
        <p:spPr>
          <a:xfrm>
            <a:off x="685800" y="109728"/>
            <a:ext cx="7772400" cy="438912"/>
          </a:xfrm>
          <a:prstGeom prst="rect">
            <a:avLst/>
          </a:prstGeom>
          <a:noFill/>
          <a:ln/>
        </p:spPr>
        <p:txBody>
          <a:bodyPr wrap="square" rtlCol="0" anchor="ctr">
            <a:normAutofit/>
          </a:bodyPr>
          <a:lstStyle/>
          <a:p>
            <a:pPr indent="0" marL="0">
              <a:buNone/>
            </a:pPr>
            <a:r>
              <a:rPr lang="en-US" sz="3200" b="1" dirty="0">
                <a:solidFill>
                  <a:srgbClr val="111827"/>
                </a:solidFill>
                <a:latin typeface="Calibri" pitchFamily="34" charset="0"/>
                <a:ea typeface="Calibri" pitchFamily="34" charset="-122"/>
                <a:cs typeface="Calibri" pitchFamily="34" charset="-120"/>
              </a:rPr>
              <a:t>まとめ</a:t>
            </a:r>
            <a:endParaRPr lang="en-US" sz="3200" dirty="0"/>
          </a:p>
        </p:txBody>
      </p:sp>
      <p:sp>
        <p:nvSpPr>
          <p:cNvPr id="4" name="Shape 2"/>
          <p:cNvSpPr/>
          <p:nvPr/>
        </p:nvSpPr>
        <p:spPr>
          <a:xfrm>
            <a:off x="685800" y="4759452"/>
            <a:ext cx="7772400" cy="0"/>
          </a:xfrm>
          <a:prstGeom prst="line">
            <a:avLst/>
          </a:prstGeom>
          <a:noFill/>
          <a:ln w="6350">
            <a:solidFill>
              <a:srgbClr val="E5E7EB"/>
            </a:solidFill>
            <a:prstDash val="solid"/>
          </a:ln>
        </p:spPr>
      </p:sp>
      <p:sp>
        <p:nvSpPr>
          <p:cNvPr id="5" name="Text 3"/>
          <p:cNvSpPr/>
          <p:nvPr/>
        </p:nvSpPr>
        <p:spPr>
          <a:xfrm>
            <a:off x="685800" y="4777740"/>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6" name="Text 4"/>
          <p:cNvSpPr/>
          <p:nvPr/>
        </p:nvSpPr>
        <p:spPr>
          <a:xfrm>
            <a:off x="7772400" y="4777740"/>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11 / 12</a:t>
            </a:r>
            <a:endParaRPr lang="en-US" sz="1000" dirty="0"/>
          </a:p>
        </p:txBody>
      </p:sp>
      <p:pic>
        <p:nvPicPr>
          <p:cNvPr id="7" name="Image 0" descr="preencoded.png">    </p:cNvPr>
          <p:cNvPicPr>
            <a:picLocks noChangeAspect="1"/>
          </p:cNvPicPr>
          <p:nvPr/>
        </p:nvPicPr>
        <p:blipFill>
          <a:blip r:embed="rId1"/>
          <a:stretch>
            <a:fillRect/>
          </a:stretch>
        </p:blipFill>
        <p:spPr>
          <a:xfrm>
            <a:off x="758952" y="905256"/>
            <a:ext cx="237744" cy="237744"/>
          </a:xfrm>
          <a:prstGeom prst="rect">
            <a:avLst/>
          </a:prstGeom>
        </p:spPr>
      </p:pic>
      <p:sp>
        <p:nvSpPr>
          <p:cNvPr id="8" name="Text 5"/>
          <p:cNvSpPr/>
          <p:nvPr/>
        </p:nvSpPr>
        <p:spPr>
          <a:xfrm>
            <a:off x="1143000" y="822960"/>
            <a:ext cx="6858000" cy="41148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Focus機能（7種）で検索対象を絞り込み精度アップ</a:t>
            </a:r>
            <a:endParaRPr lang="en-US" sz="1600" dirty="0"/>
          </a:p>
        </p:txBody>
      </p:sp>
      <p:sp>
        <p:nvSpPr>
          <p:cNvPr id="9" name="Shape 6"/>
          <p:cNvSpPr/>
          <p:nvPr/>
        </p:nvSpPr>
        <p:spPr>
          <a:xfrm>
            <a:off x="685800" y="1298448"/>
            <a:ext cx="7772400" cy="0"/>
          </a:xfrm>
          <a:prstGeom prst="line">
            <a:avLst/>
          </a:prstGeom>
          <a:noFill/>
          <a:ln w="3810">
            <a:solidFill>
              <a:srgbClr val="E5E7EB"/>
            </a:solidFill>
            <a:prstDash val="solid"/>
          </a:ln>
        </p:spPr>
      </p:sp>
      <p:pic>
        <p:nvPicPr>
          <p:cNvPr id="10" name="Image 1" descr="preencoded.png">    </p:cNvPr>
          <p:cNvPicPr>
            <a:picLocks noChangeAspect="1"/>
          </p:cNvPicPr>
          <p:nvPr/>
        </p:nvPicPr>
        <p:blipFill>
          <a:blip r:embed="rId2"/>
          <a:stretch>
            <a:fillRect/>
          </a:stretch>
        </p:blipFill>
        <p:spPr>
          <a:xfrm>
            <a:off x="758952" y="1499616"/>
            <a:ext cx="237744" cy="237744"/>
          </a:xfrm>
          <a:prstGeom prst="rect">
            <a:avLst/>
          </a:prstGeom>
        </p:spPr>
      </p:pic>
      <p:sp>
        <p:nvSpPr>
          <p:cNvPr id="11" name="Text 7"/>
          <p:cNvSpPr/>
          <p:nvPr/>
        </p:nvSpPr>
        <p:spPr>
          <a:xfrm>
            <a:off x="1143000" y="1417320"/>
            <a:ext cx="6858000" cy="41148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Pro Searchで段階的に深掘り（無料1日5回）</a:t>
            </a:r>
            <a:endParaRPr lang="en-US" sz="1600" dirty="0"/>
          </a:p>
        </p:txBody>
      </p:sp>
      <p:sp>
        <p:nvSpPr>
          <p:cNvPr id="12" name="Shape 8"/>
          <p:cNvSpPr/>
          <p:nvPr/>
        </p:nvSpPr>
        <p:spPr>
          <a:xfrm>
            <a:off x="685800" y="1892808"/>
            <a:ext cx="7772400" cy="0"/>
          </a:xfrm>
          <a:prstGeom prst="line">
            <a:avLst/>
          </a:prstGeom>
          <a:noFill/>
          <a:ln w="3810">
            <a:solidFill>
              <a:srgbClr val="E5E7EB"/>
            </a:solidFill>
            <a:prstDash val="solid"/>
          </a:ln>
        </p:spPr>
      </p:sp>
      <p:pic>
        <p:nvPicPr>
          <p:cNvPr id="13" name="Image 2" descr="preencoded.png">    </p:cNvPr>
          <p:cNvPicPr>
            <a:picLocks noChangeAspect="1"/>
          </p:cNvPicPr>
          <p:nvPr/>
        </p:nvPicPr>
        <p:blipFill>
          <a:blip r:embed="rId3"/>
          <a:stretch>
            <a:fillRect/>
          </a:stretch>
        </p:blipFill>
        <p:spPr>
          <a:xfrm>
            <a:off x="758952" y="2093976"/>
            <a:ext cx="237744" cy="237744"/>
          </a:xfrm>
          <a:prstGeom prst="rect">
            <a:avLst/>
          </a:prstGeom>
        </p:spPr>
      </p:pic>
      <p:sp>
        <p:nvSpPr>
          <p:cNvPr id="14" name="Text 9"/>
          <p:cNvSpPr/>
          <p:nvPr/>
        </p:nvSpPr>
        <p:spPr>
          <a:xfrm>
            <a:off x="1143000" y="2011680"/>
            <a:ext cx="6858000" cy="41148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Deep Researchで本格調査レポートを自動生成</a:t>
            </a:r>
            <a:endParaRPr lang="en-US" sz="1600" dirty="0"/>
          </a:p>
        </p:txBody>
      </p:sp>
      <p:sp>
        <p:nvSpPr>
          <p:cNvPr id="15" name="Shape 10"/>
          <p:cNvSpPr/>
          <p:nvPr/>
        </p:nvSpPr>
        <p:spPr>
          <a:xfrm>
            <a:off x="685800" y="2487168"/>
            <a:ext cx="7772400" cy="0"/>
          </a:xfrm>
          <a:prstGeom prst="line">
            <a:avLst/>
          </a:prstGeom>
          <a:noFill/>
          <a:ln w="3810">
            <a:solidFill>
              <a:srgbClr val="E5E7EB"/>
            </a:solidFill>
            <a:prstDash val="solid"/>
          </a:ln>
        </p:spPr>
      </p:sp>
      <p:pic>
        <p:nvPicPr>
          <p:cNvPr id="16" name="Image 3" descr="preencoded.png">    </p:cNvPr>
          <p:cNvPicPr>
            <a:picLocks noChangeAspect="1"/>
          </p:cNvPicPr>
          <p:nvPr/>
        </p:nvPicPr>
        <p:blipFill>
          <a:blip r:embed="rId4"/>
          <a:stretch>
            <a:fillRect/>
          </a:stretch>
        </p:blipFill>
        <p:spPr>
          <a:xfrm>
            <a:off x="758952" y="2688336"/>
            <a:ext cx="237744" cy="237744"/>
          </a:xfrm>
          <a:prstGeom prst="rect">
            <a:avLst/>
          </a:prstGeom>
        </p:spPr>
      </p:pic>
      <p:sp>
        <p:nvSpPr>
          <p:cNvPr id="17" name="Text 11"/>
          <p:cNvSpPr/>
          <p:nvPr/>
        </p:nvSpPr>
        <p:spPr>
          <a:xfrm>
            <a:off x="1143000" y="2606040"/>
            <a:ext cx="6858000" cy="41148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Spacesで自分専用ナレッジベースを構築・チーム共有</a:t>
            </a:r>
            <a:endParaRPr lang="en-US" sz="1600" dirty="0"/>
          </a:p>
        </p:txBody>
      </p:sp>
      <p:sp>
        <p:nvSpPr>
          <p:cNvPr id="18" name="Shape 12"/>
          <p:cNvSpPr/>
          <p:nvPr/>
        </p:nvSpPr>
        <p:spPr>
          <a:xfrm>
            <a:off x="685800" y="3081528"/>
            <a:ext cx="7772400" cy="0"/>
          </a:xfrm>
          <a:prstGeom prst="line">
            <a:avLst/>
          </a:prstGeom>
          <a:noFill/>
          <a:ln w="3810">
            <a:solidFill>
              <a:srgbClr val="E5E7EB"/>
            </a:solidFill>
            <a:prstDash val="solid"/>
          </a:ln>
        </p:spPr>
      </p:sp>
      <p:pic>
        <p:nvPicPr>
          <p:cNvPr id="19" name="Image 4" descr="preencoded.png">    </p:cNvPr>
          <p:cNvPicPr>
            <a:picLocks noChangeAspect="1"/>
          </p:cNvPicPr>
          <p:nvPr/>
        </p:nvPicPr>
        <p:blipFill>
          <a:blip r:embed="rId5"/>
          <a:stretch>
            <a:fillRect/>
          </a:stretch>
        </p:blipFill>
        <p:spPr>
          <a:xfrm>
            <a:off x="758952" y="3282696"/>
            <a:ext cx="237744" cy="237744"/>
          </a:xfrm>
          <a:prstGeom prst="rect">
            <a:avLst/>
          </a:prstGeom>
        </p:spPr>
      </p:pic>
      <p:sp>
        <p:nvSpPr>
          <p:cNvPr id="20" name="Text 13"/>
          <p:cNvSpPr/>
          <p:nvPr/>
        </p:nvSpPr>
        <p:spPr>
          <a:xfrm>
            <a:off x="1143000" y="3200400"/>
            <a:ext cx="6858000" cy="411480"/>
          </a:xfrm>
          <a:prstGeom prst="rect">
            <a:avLst/>
          </a:prstGeom>
          <a:noFill/>
          <a:ln/>
        </p:spPr>
        <p:txBody>
          <a:bodyPr wrap="square" rtlCol="0" anchor="ctr">
            <a:normAutofit/>
          </a:bodyPr>
          <a:lstStyle/>
          <a:p>
            <a:pPr indent="0" marL="0">
              <a:buNone/>
            </a:pPr>
            <a:r>
              <a:rPr lang="en-US" sz="1600" dirty="0">
                <a:solidFill>
                  <a:srgbClr val="111827"/>
                </a:solidFill>
                <a:latin typeface="Calibri" pitchFamily="34" charset="0"/>
                <a:ea typeface="Calibri" pitchFamily="34" charset="-122"/>
                <a:cs typeface="Calibri" pitchFamily="34" charset="-120"/>
              </a:rPr>
              <a:t>Pagesで調査結果をレポートとして公開</a:t>
            </a:r>
            <a:endParaRPr lang="en-US" sz="1600" dirty="0"/>
          </a:p>
        </p:txBody>
      </p:sp>
      <p:sp>
        <p:nvSpPr>
          <p:cNvPr id="21" name="Shape 14"/>
          <p:cNvSpPr/>
          <p:nvPr/>
        </p:nvSpPr>
        <p:spPr>
          <a:xfrm>
            <a:off x="685800" y="4041648"/>
            <a:ext cx="7772400" cy="438912"/>
          </a:xfrm>
          <a:prstGeom prst="rect">
            <a:avLst>
              <a:gd name="adj" fmla="val 8333"/>
            </a:avLst>
          </a:prstGeom>
          <a:solidFill>
            <a:srgbClr val="DBEAFE"/>
          </a:solidFill>
          <a:ln/>
        </p:spPr>
      </p:sp>
      <p:sp>
        <p:nvSpPr>
          <p:cNvPr id="22" name="Text 15"/>
          <p:cNvSpPr/>
          <p:nvPr/>
        </p:nvSpPr>
        <p:spPr>
          <a:xfrm>
            <a:off x="960120" y="4041648"/>
            <a:ext cx="7223760" cy="438912"/>
          </a:xfrm>
          <a:prstGeom prst="rect">
            <a:avLst/>
          </a:prstGeom>
          <a:noFill/>
          <a:ln/>
        </p:spPr>
        <p:txBody>
          <a:bodyPr wrap="square" rtlCol="0" anchor="ctr">
            <a:normAutofit/>
          </a:bodyPr>
          <a:lstStyle/>
          <a:p>
            <a:pPr indent="0" marL="0">
              <a:buNone/>
            </a:pPr>
            <a:r>
              <a:rPr lang="en-US" sz="1400" b="1" dirty="0">
                <a:solidFill>
                  <a:srgbClr val="2563EB"/>
                </a:solidFill>
                <a:latin typeface="Calibri" pitchFamily="34" charset="0"/>
                <a:ea typeface="Calibri" pitchFamily="34" charset="-122"/>
                <a:cs typeface="Calibri" pitchFamily="34" charset="-120"/>
              </a:rPr>
              <a:t>→ 確認テスト: 5問中4問正解（80%）で修了</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1280160"/>
            <a:ext cx="8229600" cy="777240"/>
          </a:xfrm>
          <a:prstGeom prst="rect">
            <a:avLst/>
          </a:prstGeom>
          <a:noFill/>
          <a:ln/>
        </p:spPr>
        <p:txBody>
          <a:bodyPr wrap="square" rtlCol="0" anchor="ctr">
            <a:normAutofit/>
          </a:bodyPr>
          <a:lstStyle/>
          <a:p>
            <a:pPr algn="ctr" indent="0" marL="0">
              <a:buNone/>
            </a:pPr>
            <a:r>
              <a:rPr lang="en-US" sz="4000" b="1" dirty="0">
                <a:solidFill>
                  <a:srgbClr val="FFFFFF"/>
                </a:solidFill>
                <a:latin typeface="Calibri" pitchFamily="34" charset="0"/>
                <a:ea typeface="Calibri" pitchFamily="34" charset="-122"/>
                <a:cs typeface="Calibri" pitchFamily="34" charset="-120"/>
              </a:rPr>
              <a:t>P-03 修了</a:t>
            </a:r>
            <a:endParaRPr lang="en-US" sz="4000" dirty="0"/>
          </a:p>
        </p:txBody>
      </p:sp>
      <p:sp>
        <p:nvSpPr>
          <p:cNvPr id="3" name="Shape 1"/>
          <p:cNvSpPr/>
          <p:nvPr/>
        </p:nvSpPr>
        <p:spPr>
          <a:xfrm>
            <a:off x="2926080" y="2212848"/>
            <a:ext cx="3291840" cy="0"/>
          </a:xfrm>
          <a:prstGeom prst="line">
            <a:avLst/>
          </a:prstGeom>
          <a:noFill/>
          <a:ln w="19050">
            <a:solidFill>
              <a:srgbClr val="93C5FD"/>
            </a:solidFill>
            <a:prstDash val="solid"/>
          </a:ln>
        </p:spPr>
      </p:sp>
      <p:sp>
        <p:nvSpPr>
          <p:cNvPr id="4" name="Text 2"/>
          <p:cNvSpPr/>
          <p:nvPr/>
        </p:nvSpPr>
        <p:spPr>
          <a:xfrm>
            <a:off x="457200" y="2377440"/>
            <a:ext cx="8229600" cy="411480"/>
          </a:xfrm>
          <a:prstGeom prst="rect">
            <a:avLst/>
          </a:prstGeom>
          <a:noFill/>
          <a:ln/>
        </p:spPr>
        <p:txBody>
          <a:bodyPr wrap="square" rtlCol="0" anchor="ctr">
            <a:normAutofit/>
          </a:bodyPr>
          <a:lstStyle/>
          <a:p>
            <a:pPr algn="ctr" indent="0" marL="0">
              <a:buNone/>
            </a:pPr>
            <a:r>
              <a:rPr lang="en-US" sz="2000" dirty="0">
                <a:solidFill>
                  <a:srgbClr val="93C5FD"/>
                </a:solidFill>
                <a:latin typeface="Calibri" pitchFamily="34" charset="0"/>
                <a:ea typeface="Calibri" pitchFamily="34" charset="-122"/>
                <a:cs typeface="Calibri" pitchFamily="34" charset="-120"/>
              </a:rPr>
              <a:t>Perplexityの上級機能をマスターしました</a:t>
            </a:r>
            <a:endParaRPr lang="en-US" sz="2000" dirty="0"/>
          </a:p>
        </p:txBody>
      </p:sp>
      <p:sp>
        <p:nvSpPr>
          <p:cNvPr id="5" name="Text 3"/>
          <p:cNvSpPr/>
          <p:nvPr/>
        </p:nvSpPr>
        <p:spPr>
          <a:xfrm>
            <a:off x="457200" y="3246120"/>
            <a:ext cx="8229600" cy="347472"/>
          </a:xfrm>
          <a:prstGeom prst="rect">
            <a:avLst/>
          </a:prstGeom>
          <a:noFill/>
          <a:ln/>
        </p:spPr>
        <p:txBody>
          <a:bodyPr wrap="square" rtlCol="0" anchor="ctr">
            <a:normAutofit/>
          </a:bodyPr>
          <a:lstStyle/>
          <a:p>
            <a:pPr algn="ctr" indent="0" marL="0">
              <a:buNone/>
            </a:pPr>
            <a:r>
              <a:rPr lang="en-US" sz="1200" dirty="0">
                <a:solidFill>
                  <a:srgbClr val="9CA3AF"/>
                </a:solidFill>
                <a:latin typeface="Calibri" pitchFamily="34" charset="0"/>
                <a:ea typeface="Calibri" pitchFamily="34" charset="-122"/>
                <a:cs typeface="Calibri" pitchFamily="34" charset="-120"/>
              </a:rPr>
              <a:t>Next: P-04 Google検索との使い分け</a:t>
            </a:r>
            <a:endParaRPr lang="en-US" sz="1200" dirty="0"/>
          </a:p>
        </p:txBody>
      </p:sp>
      <p:sp>
        <p:nvSpPr>
          <p:cNvPr id="6" name="Text 4"/>
          <p:cNvSpPr/>
          <p:nvPr/>
        </p:nvSpPr>
        <p:spPr>
          <a:xfrm>
            <a:off x="685800" y="4759452"/>
            <a:ext cx="1828800" cy="274320"/>
          </a:xfrm>
          <a:prstGeom prst="rect">
            <a:avLst/>
          </a:prstGeom>
          <a:noFill/>
          <a:ln/>
        </p:spPr>
        <p:txBody>
          <a:bodyPr wrap="square" rtlCol="0" anchor="ctr">
            <a:normAutofit/>
          </a:bodyPr>
          <a:lstStyle/>
          <a:p>
            <a:pPr algn="l" indent="0" marL="0">
              <a:buNone/>
            </a:pPr>
            <a:r>
              <a:rPr lang="en-US" sz="1000" dirty="0">
                <a:solidFill>
                  <a:srgbClr val="9CA3AF"/>
                </a:solidFill>
                <a:latin typeface="Calibri" pitchFamily="34" charset="0"/>
                <a:ea typeface="Calibri" pitchFamily="34" charset="-122"/>
                <a:cs typeface="Calibri" pitchFamily="34" charset="-120"/>
              </a:rPr>
              <a:t>P-03</a:t>
            </a:r>
            <a:endParaRPr lang="en-US" sz="1000" dirty="0"/>
          </a:p>
        </p:txBody>
      </p:sp>
      <p:sp>
        <p:nvSpPr>
          <p:cNvPr id="7" name="Text 5"/>
          <p:cNvSpPr/>
          <p:nvPr/>
        </p:nvSpPr>
        <p:spPr>
          <a:xfrm>
            <a:off x="7772400" y="4759452"/>
            <a:ext cx="1097280" cy="274320"/>
          </a:xfrm>
          <a:prstGeom prst="rect">
            <a:avLst/>
          </a:prstGeom>
          <a:noFill/>
          <a:ln/>
        </p:spPr>
        <p:txBody>
          <a:bodyPr wrap="square" rtlCol="0" anchor="ctr">
            <a:normAutofit/>
          </a:bodyPr>
          <a:lstStyle/>
          <a:p>
            <a:pPr algn="r" indent="0" marL="0">
              <a:buNone/>
            </a:pPr>
            <a:r>
              <a:rPr lang="en-US" sz="1000" dirty="0">
                <a:solidFill>
                  <a:srgbClr val="9CA3AF"/>
                </a:solidFill>
                <a:latin typeface="Calibri" pitchFamily="34" charset="0"/>
                <a:ea typeface="Calibri" pitchFamily="34" charset="-122"/>
                <a:cs typeface="Calibri" pitchFamily="34" charset="-120"/>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P-03: 高度な検索テクニック -- Perplexityを使いこなす</dc:title>
  <dc:subject>PptxGenJS Presentation</dc:subject>
  <dc:creator>Gorilla Knowledge</dc:creator>
  <cp:lastModifiedBy>Gorilla Knowledge</cp:lastModifiedBy>
  <cp:revision>1</cp:revision>
  <dcterms:created xsi:type="dcterms:W3CDTF">2026-04-01T18:45:08Z</dcterms:created>
  <dcterms:modified xsi:type="dcterms:W3CDTF">2026-04-01T18:45:08Z</dcterms:modified>
</cp:coreProperties>
</file>