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51960" y="914400"/>
            <a:ext cx="640080" cy="6400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7373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AI時代の情報リテラシー</a:t>
            </a:r>
            <a:endParaRPr lang="en-US" sz="4400" dirty="0"/>
          </a:p>
        </p:txBody>
      </p:sp>
      <p:sp>
        <p:nvSpPr>
          <p:cNvPr id="4" name="Shape 1"/>
          <p:cNvSpPr/>
          <p:nvPr/>
        </p:nvSpPr>
        <p:spPr>
          <a:xfrm>
            <a:off x="3200400" y="2697480"/>
            <a:ext cx="2743200" cy="0"/>
          </a:xfrm>
          <a:prstGeom prst="line">
            <a:avLst/>
          </a:prstGeom>
          <a:noFill/>
          <a:ln w="19050">
            <a:solidFill>
              <a:srgbClr val="93C5FD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2880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AIの嘘を見抜く力を身につける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457200" y="3840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A-107   |   全社員向け   |   20分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200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今日のゴール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85800" y="1188720"/>
            <a:ext cx="502920" cy="50292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417320" y="1143000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ハルシネーション（AIの嘘）の仕組みと対策を実践できる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85800" y="19202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240280"/>
            <a:ext cx="502920" cy="50292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417320" y="2194560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AIの回答をファクトチェックする3ステップの手順を使える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85800" y="297180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3291840"/>
            <a:ext cx="502920" cy="50292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417320" y="3246120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情報の信頼性を評価する基準（ソース確認・クロスチェック・専門家検証）を理解する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411480"/>
            <a:ext cx="1133856" cy="274320"/>
          </a:xfrm>
          <a:prstGeom prst="rect">
            <a:avLst>
              <a:gd name="adj" fmla="val 1666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11480"/>
            <a:ext cx="11338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7772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ハルシネーション — AIの「もっともらしいウソ」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A-107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00100" y="1188720"/>
            <a:ext cx="233172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0100" y="1188720"/>
            <a:ext cx="233172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1" name="Shape 9"/>
          <p:cNvSpPr/>
          <p:nvPr/>
        </p:nvSpPr>
        <p:spPr>
          <a:xfrm>
            <a:off x="1691640" y="1463040"/>
            <a:ext cx="548640" cy="548640"/>
          </a:xfrm>
          <a:prstGeom prst="ellipse">
            <a:avLst/>
          </a:prstGeom>
          <a:solidFill>
            <a:srgbClr val="FEE2E2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5940" y="1581912"/>
            <a:ext cx="320040" cy="32004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800100" y="21945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架空の論文引用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937260" y="260604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存在しない研究を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著者名・雑誌名付きで生成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3406140" y="1188720"/>
            <a:ext cx="233172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406140" y="1188720"/>
            <a:ext cx="233172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7" name="Shape 14"/>
          <p:cNvSpPr/>
          <p:nvPr/>
        </p:nvSpPr>
        <p:spPr>
          <a:xfrm>
            <a:off x="4297680" y="1463040"/>
            <a:ext cx="548640" cy="548640"/>
          </a:xfrm>
          <a:prstGeom prst="ellipse">
            <a:avLst/>
          </a:prstGeom>
          <a:solidFill>
            <a:srgbClr val="FEF3C7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1980" y="1581912"/>
            <a:ext cx="320040" cy="32004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3406140" y="21945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架空の統計データ</a:t>
            </a:r>
            <a:endParaRPr lang="en-US" sz="1800" dirty="0"/>
          </a:p>
        </p:txBody>
      </p:sp>
      <p:sp>
        <p:nvSpPr>
          <p:cNvPr id="20" name="Text 16"/>
          <p:cNvSpPr/>
          <p:nvPr/>
        </p:nvSpPr>
        <p:spPr>
          <a:xfrm>
            <a:off x="3543300" y="260604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もっともらしい数字を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出すが出典が存在しない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6012180" y="1188720"/>
            <a:ext cx="233172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012180" y="1188720"/>
            <a:ext cx="233172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3" name="Shape 19"/>
          <p:cNvSpPr/>
          <p:nvPr/>
        </p:nvSpPr>
        <p:spPr>
          <a:xfrm>
            <a:off x="6903720" y="1463040"/>
            <a:ext cx="548640" cy="548640"/>
          </a:xfrm>
          <a:prstGeom prst="ellipse">
            <a:avLst/>
          </a:prstGeom>
          <a:solidFill>
            <a:srgbClr val="FEE2E2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8020" y="1581912"/>
            <a:ext cx="320040" cy="32004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6012180" y="21945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架空の人物情報</a:t>
            </a:r>
            <a:endParaRPr lang="en-US" sz="1800" dirty="0"/>
          </a:p>
        </p:txBody>
      </p:sp>
      <p:sp>
        <p:nvSpPr>
          <p:cNvPr id="26" name="Text 21"/>
          <p:cNvSpPr/>
          <p:nvPr/>
        </p:nvSpPr>
        <p:spPr>
          <a:xfrm>
            <a:off x="6149340" y="260604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実在しない人物の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プロフィールを詳細に語る</a:t>
            </a:r>
            <a:endParaRPr lang="en-US" sz="1300" dirty="0"/>
          </a:p>
        </p:txBody>
      </p:sp>
      <p:sp>
        <p:nvSpPr>
          <p:cNvPr id="27" name="Shape 22"/>
          <p:cNvSpPr/>
          <p:nvPr/>
        </p:nvSpPr>
        <p:spPr>
          <a:xfrm>
            <a:off x="685800" y="3886200"/>
            <a:ext cx="7772400" cy="5029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8" name="Text 23"/>
          <p:cNvSpPr/>
          <p:nvPr/>
        </p:nvSpPr>
        <p:spPr>
          <a:xfrm>
            <a:off x="960120" y="3886200"/>
            <a:ext cx="7223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原因: AIは </a:t>
            </a:r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「次に来そうな言葉を予測している」</a:t>
            </a:r>
            <a:pPr algn="ctr" indent="0" marL="0">
              <a:buNone/>
            </a:pPr>
            <a:r>
              <a:rPr lang="en-US" sz="16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だけ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411480"/>
            <a:ext cx="1133856" cy="274320"/>
          </a:xfrm>
          <a:prstGeom prst="rect">
            <a:avLst>
              <a:gd name="adj" fmla="val 1666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11480"/>
            <a:ext cx="11338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7772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ハルシネーションが起きやすい場面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A-107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62940" y="1188720"/>
            <a:ext cx="1783080" cy="2926080"/>
          </a:xfrm>
          <a:prstGeom prst="rect">
            <a:avLst/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2940" y="1188720"/>
            <a:ext cx="1783080" cy="54864"/>
          </a:xfrm>
          <a:prstGeom prst="rect">
            <a:avLst/>
          </a:prstGeom>
          <a:solidFill>
            <a:srgbClr val="DC2626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1508760"/>
            <a:ext cx="365760" cy="36576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62940" y="201168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専門知識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845820" y="2468880"/>
            <a:ext cx="141732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54380" y="26060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医療・法律・技術の詳細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2674620" y="1188720"/>
            <a:ext cx="1783080" cy="2926080"/>
          </a:xfrm>
          <a:prstGeom prst="rect">
            <a:avLst/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674620" y="1188720"/>
            <a:ext cx="1783080" cy="54864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508760"/>
            <a:ext cx="365760" cy="36576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2674620" y="201168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数値・統計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2857500" y="2468880"/>
            <a:ext cx="141732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2766060" y="26060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出典のない数字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4686300" y="1188720"/>
            <a:ext cx="1783080" cy="2926080"/>
          </a:xfrm>
          <a:prstGeom prst="rect">
            <a:avLst/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4686300" y="1188720"/>
            <a:ext cx="1783080" cy="54864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1508760"/>
            <a:ext cx="365760" cy="36576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4686300" y="201168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最新情報</a:t>
            </a:r>
            <a:endParaRPr lang="en-US" sz="1800" dirty="0"/>
          </a:p>
        </p:txBody>
      </p:sp>
      <p:sp>
        <p:nvSpPr>
          <p:cNvPr id="25" name="Shape 20"/>
          <p:cNvSpPr/>
          <p:nvPr/>
        </p:nvSpPr>
        <p:spPr>
          <a:xfrm>
            <a:off x="4869180" y="2468880"/>
            <a:ext cx="141732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777740" y="26060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学習データ以降の出来事</a:t>
            </a:r>
            <a:endParaRPr lang="en-US" sz="1300" dirty="0"/>
          </a:p>
        </p:txBody>
      </p:sp>
      <p:sp>
        <p:nvSpPr>
          <p:cNvPr id="27" name="Shape 22"/>
          <p:cNvSpPr/>
          <p:nvPr/>
        </p:nvSpPr>
        <p:spPr>
          <a:xfrm>
            <a:off x="6697980" y="1188720"/>
            <a:ext cx="1783080" cy="2926080"/>
          </a:xfrm>
          <a:prstGeom prst="rect">
            <a:avLst/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6697980" y="1188720"/>
            <a:ext cx="1783080" cy="54864"/>
          </a:xfrm>
          <a:prstGeom prst="rect">
            <a:avLst/>
          </a:prstGeom>
          <a:solidFill>
            <a:srgbClr val="DC2626"/>
          </a:solidFill>
          <a:ln/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0" y="1508760"/>
            <a:ext cx="365760" cy="365760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6697980" y="201168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マイナー情報</a:t>
            </a:r>
            <a:endParaRPr lang="en-US" sz="1800" dirty="0"/>
          </a:p>
        </p:txBody>
      </p:sp>
      <p:sp>
        <p:nvSpPr>
          <p:cNvPr id="31" name="Shape 25"/>
          <p:cNvSpPr/>
          <p:nvPr/>
        </p:nvSpPr>
        <p:spPr>
          <a:xfrm>
            <a:off x="6880860" y="2468880"/>
            <a:ext cx="141732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6789420" y="26060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知名度の低い人物・組織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411480"/>
            <a:ext cx="1024128" cy="274320"/>
          </a:xfrm>
          <a:prstGeom prst="rect">
            <a:avLst>
              <a:gd name="adj" fmla="val 1666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11480"/>
            <a:ext cx="10241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7772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ファクトチェック 3ステップ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A-107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22960" y="1188720"/>
            <a:ext cx="219456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1188720"/>
            <a:ext cx="219456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1" name="Text 9"/>
          <p:cNvSpPr/>
          <p:nvPr/>
        </p:nvSpPr>
        <p:spPr>
          <a:xfrm>
            <a:off x="1691640" y="1417320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22960" y="20116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ソース確認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097280" y="2514600"/>
            <a:ext cx="164592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「出典はどこ？」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とAIに聞く</a:t>
            </a:r>
            <a:endParaRPr lang="en-US" sz="1600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90672" y="2286000"/>
            <a:ext cx="320040" cy="32004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3474720" y="1188720"/>
            <a:ext cx="219456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474720" y="1188720"/>
            <a:ext cx="219456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8" name="Text 15"/>
          <p:cNvSpPr/>
          <p:nvPr/>
        </p:nvSpPr>
        <p:spPr>
          <a:xfrm>
            <a:off x="4343400" y="1417320"/>
            <a:ext cx="457200" cy="457200"/>
          </a:xfrm>
          <a:prstGeom prst="ellipse">
            <a:avLst/>
          </a:prstGeom>
          <a:solidFill>
            <a:srgbClr val="D9770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3474720" y="20116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クロスチェック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3749040" y="2514600"/>
            <a:ext cx="164592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61188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別の情報源で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裏を取る</a:t>
            </a:r>
            <a:endParaRPr lang="en-US" sz="160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2432" y="2286000"/>
            <a:ext cx="320040" cy="320040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6126480" y="1188720"/>
            <a:ext cx="219456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126480" y="1188720"/>
            <a:ext cx="2194560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5" name="Text 21"/>
          <p:cNvSpPr/>
          <p:nvPr/>
        </p:nvSpPr>
        <p:spPr>
          <a:xfrm>
            <a:off x="6995160" y="1417320"/>
            <a:ext cx="457200" cy="457200"/>
          </a:xfrm>
          <a:prstGeom prst="ellipse">
            <a:avLst/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6" name="Text 22"/>
          <p:cNvSpPr/>
          <p:nvPr/>
        </p:nvSpPr>
        <p:spPr>
          <a:xfrm>
            <a:off x="6126480" y="20116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専門家検証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6400800" y="2514600"/>
            <a:ext cx="164592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626364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重要な判断は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専門家に確認</a:t>
            </a:r>
            <a:endParaRPr lang="en-US" sz="1600" dirty="0"/>
          </a:p>
        </p:txBody>
      </p:sp>
      <p:sp>
        <p:nvSpPr>
          <p:cNvPr id="29" name="Shape 25"/>
          <p:cNvSpPr/>
          <p:nvPr/>
        </p:nvSpPr>
        <p:spPr>
          <a:xfrm>
            <a:off x="685800" y="4160520"/>
            <a:ext cx="7772400" cy="457200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30" name="Text 26"/>
          <p:cNvSpPr/>
          <p:nvPr/>
        </p:nvSpPr>
        <p:spPr>
          <a:xfrm>
            <a:off x="960120" y="4160520"/>
            <a:ext cx="7223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この3つを習慣にするだけで、AIの嘘に騙されるリスクは大きく下がる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320040"/>
            <a:ext cx="1097280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32004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6400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ソース確認の具体的なやり方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A-107</a:t>
            </a:r>
            <a:endParaRPr lang="en-US" sz="11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325880"/>
            <a:ext cx="228600" cy="228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234440" y="128016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AIに「その情報の出典やURLを教えて」と聞く</a:t>
            </a:r>
            <a:endParaRPr lang="en-US" sz="16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011680"/>
            <a:ext cx="228600" cy="2286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234440" y="196596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URLが返ってきたら実際にアクセスして内容を確認</a:t>
            </a:r>
            <a:endParaRPr lang="en-US" sz="16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697480"/>
            <a:ext cx="228600" cy="2286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34440" y="265176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論文・書籍は著者名・発行年をGoogle Scholarで検索</a:t>
            </a:r>
            <a:endParaRPr lang="en-US" sz="16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383280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234440" y="333756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引用元が実在しても原文と比較して正確性を確認</a:t>
            </a:r>
            <a:endParaRPr lang="en-US" sz="1600" dirty="0"/>
          </a:p>
        </p:txBody>
      </p:sp>
      <p:sp>
        <p:nvSpPr>
          <p:cNvPr id="17" name="Shape 11"/>
          <p:cNvSpPr/>
          <p:nvPr/>
        </p:nvSpPr>
        <p:spPr>
          <a:xfrm>
            <a:off x="685800" y="4160520"/>
            <a:ext cx="7772400" cy="4572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8" name="Text 12"/>
          <p:cNvSpPr/>
          <p:nvPr/>
        </p:nvSpPr>
        <p:spPr>
          <a:xfrm>
            <a:off x="960120" y="4160520"/>
            <a:ext cx="7223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ソース確認の習慣だけで、ハルシネーション被害は大幅に減少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320040"/>
            <a:ext cx="1097280" cy="256032"/>
          </a:xfrm>
          <a:prstGeom prst="rect">
            <a:avLst>
              <a:gd name="adj" fmla="val 17857"/>
            </a:avLst>
          </a:prstGeom>
          <a:solidFill>
            <a:srgbClr val="FEF3C7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32004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6400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クロスチェックのコツ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A-107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00100" y="1188720"/>
            <a:ext cx="233172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0100" y="1188720"/>
            <a:ext cx="233172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1" name="Shape 9"/>
          <p:cNvSpPr/>
          <p:nvPr/>
        </p:nvSpPr>
        <p:spPr>
          <a:xfrm>
            <a:off x="1691640" y="1463040"/>
            <a:ext cx="548640" cy="548640"/>
          </a:xfrm>
          <a:prstGeom prst="ellipse">
            <a:avLst/>
          </a:prstGeom>
          <a:solidFill>
            <a:srgbClr val="DBEAFE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5940" y="1581912"/>
            <a:ext cx="320040" cy="32004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800100" y="21945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Google検索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891540" y="26517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公式サイト・政府機関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大手メディアで確認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3406140" y="1188720"/>
            <a:ext cx="233172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406140" y="1188720"/>
            <a:ext cx="233172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7" name="Shape 14"/>
          <p:cNvSpPr/>
          <p:nvPr/>
        </p:nvSpPr>
        <p:spPr>
          <a:xfrm>
            <a:off x="4297680" y="1463040"/>
            <a:ext cx="548640" cy="548640"/>
          </a:xfrm>
          <a:prstGeom prst="ellipse">
            <a:avLst/>
          </a:prstGeom>
          <a:solidFill>
            <a:srgbClr val="FEF3C7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1980" y="1581912"/>
            <a:ext cx="320040" cy="32004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3406140" y="21945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別のAIに聞く</a:t>
            </a:r>
            <a:endParaRPr lang="en-US" sz="1800" dirty="0"/>
          </a:p>
        </p:txBody>
      </p:sp>
      <p:sp>
        <p:nvSpPr>
          <p:cNvPr id="20" name="Text 16"/>
          <p:cNvSpPr/>
          <p:nvPr/>
        </p:nvSpPr>
        <p:spPr>
          <a:xfrm>
            <a:off x="3497580" y="26517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Gemini, Copilot等に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同じ質問をぶつける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6012180" y="1188720"/>
            <a:ext cx="233172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012180" y="1188720"/>
            <a:ext cx="2331720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3" name="Shape 19"/>
          <p:cNvSpPr/>
          <p:nvPr/>
        </p:nvSpPr>
        <p:spPr>
          <a:xfrm>
            <a:off x="6903720" y="1463040"/>
            <a:ext cx="548640" cy="548640"/>
          </a:xfrm>
          <a:prstGeom prst="ellipse">
            <a:avLst/>
          </a:prstGeom>
          <a:solidFill>
            <a:srgbClr val="D1FAE5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8020" y="1581912"/>
            <a:ext cx="320040" cy="32004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6012180" y="21945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公式DB検索</a:t>
            </a:r>
            <a:endParaRPr lang="en-US" sz="1800" dirty="0"/>
          </a:p>
        </p:txBody>
      </p:sp>
      <p:sp>
        <p:nvSpPr>
          <p:cNvPr id="26" name="Text 21"/>
          <p:cNvSpPr/>
          <p:nvPr/>
        </p:nvSpPr>
        <p:spPr>
          <a:xfrm>
            <a:off x="6103620" y="26517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官公庁統計・学術DB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業界団体の一次情報</a:t>
            </a:r>
            <a:endParaRPr lang="en-US" sz="1300" dirty="0"/>
          </a:p>
        </p:txBody>
      </p:sp>
      <p:sp>
        <p:nvSpPr>
          <p:cNvPr id="27" name="Shape 22"/>
          <p:cNvSpPr/>
          <p:nvPr/>
        </p:nvSpPr>
        <p:spPr>
          <a:xfrm>
            <a:off x="685800" y="3977640"/>
            <a:ext cx="7772400" cy="457200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28" name="Text 23"/>
          <p:cNvSpPr/>
          <p:nvPr/>
        </p:nvSpPr>
        <p:spPr>
          <a:xfrm>
            <a:off x="960120" y="3977640"/>
            <a:ext cx="7223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目安: 3つ以上の独立した情報源が一致すれば信頼度 HIGH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320040"/>
            <a:ext cx="1097280" cy="256032"/>
          </a:xfrm>
          <a:prstGeom prst="rect">
            <a:avLst>
              <a:gd name="adj" fmla="val 17857"/>
            </a:avLst>
          </a:prstGeom>
          <a:solidFill>
            <a:srgbClr val="D1FAE5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32004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640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専門家検証 — 人間のチェックが最後の砦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A-107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1234440"/>
            <a:ext cx="3566160" cy="1280160"/>
          </a:xfrm>
          <a:prstGeom prst="rect">
            <a:avLst/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5800" y="1234440"/>
            <a:ext cx="45720" cy="1280160"/>
          </a:xfrm>
          <a:prstGeom prst="rect">
            <a:avLst/>
          </a:prstGeom>
          <a:solidFill>
            <a:srgbClr val="059669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463040"/>
            <a:ext cx="365760" cy="36576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463040" y="13716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法務・コンプライアンス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463040" y="173736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契約書の解釈、法的助言は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必ず法務部門・弁護士に確認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4526280" y="1234440"/>
            <a:ext cx="3566160" cy="1280160"/>
          </a:xfrm>
          <a:prstGeom prst="rect">
            <a:avLst/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526280" y="1234440"/>
            <a:ext cx="45720" cy="1280160"/>
          </a:xfrm>
          <a:prstGeom prst="rect">
            <a:avLst/>
          </a:prstGeom>
          <a:solidFill>
            <a:srgbClr val="059669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463040"/>
            <a:ext cx="365760" cy="36576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303520" y="13716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顧客提出資料</a:t>
            </a:r>
            <a:endParaRPr lang="en-US" sz="1800" dirty="0"/>
          </a:p>
        </p:txBody>
      </p:sp>
      <p:sp>
        <p:nvSpPr>
          <p:cNvPr id="18" name="Text 14"/>
          <p:cNvSpPr/>
          <p:nvPr/>
        </p:nvSpPr>
        <p:spPr>
          <a:xfrm>
            <a:off x="5303520" y="173736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提案書・報告書は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社内担当者がダブルチェック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685800" y="2743200"/>
            <a:ext cx="3566160" cy="1280160"/>
          </a:xfrm>
          <a:prstGeom prst="rect">
            <a:avLst/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85800" y="2743200"/>
            <a:ext cx="45720" cy="1280160"/>
          </a:xfrm>
          <a:prstGeom prst="rect">
            <a:avLst/>
          </a:prstGeom>
          <a:solidFill>
            <a:srgbClr val="059669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971800"/>
            <a:ext cx="365760" cy="36576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463040" y="28803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技術仕様・数値</a:t>
            </a:r>
            <a:endParaRPr lang="en-US" sz="1800" dirty="0"/>
          </a:p>
        </p:txBody>
      </p:sp>
      <p:sp>
        <p:nvSpPr>
          <p:cNvPr id="23" name="Text 18"/>
          <p:cNvSpPr/>
          <p:nvPr/>
        </p:nvSpPr>
        <p:spPr>
          <a:xfrm>
            <a:off x="146304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スペック、設定値、予算は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間違い許容ゼロ</a:t>
            </a:r>
            <a:endParaRPr lang="en-US" sz="1300" dirty="0"/>
          </a:p>
        </p:txBody>
      </p:sp>
      <p:sp>
        <p:nvSpPr>
          <p:cNvPr id="24" name="Shape 19"/>
          <p:cNvSpPr/>
          <p:nvPr/>
        </p:nvSpPr>
        <p:spPr>
          <a:xfrm>
            <a:off x="4526280" y="2743200"/>
            <a:ext cx="3566160" cy="1280160"/>
          </a:xfrm>
          <a:prstGeom prst="rect">
            <a:avLst/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4526280" y="2743200"/>
            <a:ext cx="45720" cy="1280160"/>
          </a:xfrm>
          <a:prstGeom prst="rect">
            <a:avLst/>
          </a:prstGeom>
          <a:solidFill>
            <a:srgbClr val="059669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0" y="2971800"/>
            <a:ext cx="365760" cy="36576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5303520" y="28803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意思決定の根拠</a:t>
            </a:r>
            <a:endParaRPr lang="en-US" sz="1800" dirty="0"/>
          </a:p>
        </p:txBody>
      </p:sp>
      <p:sp>
        <p:nvSpPr>
          <p:cNvPr id="28" name="Text 22"/>
          <p:cNvSpPr/>
          <p:nvPr/>
        </p:nvSpPr>
        <p:spPr>
          <a:xfrm>
            <a:off x="530352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経営判断・方針決定の根拠は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複数人で検証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411480"/>
            <a:ext cx="1353312" cy="274320"/>
          </a:xfrm>
          <a:prstGeom prst="rect">
            <a:avLst>
              <a:gd name="adj" fmla="val 1666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11480"/>
            <a:ext cx="13533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7772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情報の信頼性を評価する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A-107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1097280"/>
            <a:ext cx="7772400" cy="59436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09728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信頼度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057400" y="1097280"/>
            <a:ext cx="4114800" cy="594360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情報源の例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172200" y="10972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業務での扱い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85800" y="228600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1828800"/>
            <a:ext cx="914400" cy="320040"/>
          </a:xfrm>
          <a:prstGeom prst="rect">
            <a:avLst>
              <a:gd name="adj" fmla="val 14286"/>
            </a:avLst>
          </a:prstGeom>
          <a:solidFill>
            <a:srgbClr val="059669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182880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057400" y="1691640"/>
            <a:ext cx="4114800" cy="594360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官公庁データ / 査読済み論文 / 公式プレスリリース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172200" y="1691640"/>
            <a:ext cx="2286000" cy="594360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そのまま引用可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85800" y="288036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400" y="2423160"/>
            <a:ext cx="914400" cy="320040"/>
          </a:xfrm>
          <a:prstGeom prst="rect">
            <a:avLst>
              <a:gd name="adj" fmla="val 14286"/>
            </a:avLst>
          </a:prstGeom>
          <a:solidFill>
            <a:srgbClr val="D97706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2423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057400" y="2286000"/>
            <a:ext cx="4114800" cy="594360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大手メディア記事 / 業界レポート / 企業ブログ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172200" y="22860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複数確認で引用可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85800" y="347472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4400" y="3017520"/>
            <a:ext cx="914400" cy="320040"/>
          </a:xfrm>
          <a:prstGeom prst="rect">
            <a:avLst>
              <a:gd name="adj" fmla="val 14286"/>
            </a:avLst>
          </a:prstGeom>
          <a:solidFill>
            <a:srgbClr val="DC2626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30175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057400" y="2880360"/>
            <a:ext cx="4114800" cy="594360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AIの回答 / SNS投稿 / 個人ブログ / Wikipedia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172200" y="2880360"/>
            <a:ext cx="2286000" cy="594360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必ず裏取りが必要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85800" y="3657600"/>
            <a:ext cx="777240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29" name="Text 27"/>
          <p:cNvSpPr/>
          <p:nvPr/>
        </p:nvSpPr>
        <p:spPr>
          <a:xfrm>
            <a:off x="960120" y="3657600"/>
            <a:ext cx="7223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AIの回答は常に「CHECK」に分類されることを忘れない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411480"/>
            <a:ext cx="804672" cy="274320"/>
          </a:xfrm>
          <a:prstGeom prst="rect">
            <a:avLst>
              <a:gd name="adj" fmla="val 1666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11480"/>
            <a:ext cx="804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7772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日常業務で使える5つのテクニック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A-107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77240" y="1143000"/>
            <a:ext cx="411480" cy="41148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71600" y="10972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「正確な情報が必要です。不確かなら教えて」と前置きする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7240" y="1801368"/>
            <a:ext cx="411480" cy="411480"/>
          </a:xfrm>
          <a:prstGeom prst="ellipse">
            <a:avLst/>
          </a:prstGeom>
          <a:solidFill>
            <a:srgbClr val="D9770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71600" y="175564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「確信度を%で教えて」とAIに聞いて危険度を把握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77240" y="2459736"/>
            <a:ext cx="411480" cy="411480"/>
          </a:xfrm>
          <a:prstGeom prst="ellipse">
            <a:avLst/>
          </a:prstGeom>
          <a:solidFill>
            <a:srgbClr val="DC262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71600" y="241401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AIで作った資料には「要検証」タグを付けて共有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77240" y="3118104"/>
            <a:ext cx="411480" cy="411480"/>
          </a:xfrm>
          <a:prstGeom prst="ellipse">
            <a:avLst/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71600" y="3072384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チーム内でファクトチェック担当を明確にする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77240" y="3776472"/>
            <a:ext cx="411480" cy="41148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71600" y="3730752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「AIが言っていた」を根拠にしない文化をつくる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200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まとめ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A-107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85800" y="1097280"/>
            <a:ext cx="77724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097280"/>
            <a:ext cx="45720" cy="6858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109728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ハルシネーション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063240" y="109728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AIは次の言葉を予測しているだけ。もっともらしいウソをつくことがある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1965960"/>
            <a:ext cx="77724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5800" y="1965960"/>
            <a:ext cx="45720" cy="6858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3ステップ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063240" y="196596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ソース確認 → クロスチェック → 専門家検証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85800" y="2834640"/>
            <a:ext cx="77724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2834640"/>
            <a:ext cx="45720" cy="6858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283464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信頼性評価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063240" y="283464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/ MID / CHECK の3段階で情報源を分類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85800" y="3703320"/>
            <a:ext cx="77724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85800" y="3703320"/>
            <a:ext cx="45720" cy="6858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37033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実践の原則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063240" y="370332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AIの回答は「下書き」。最終確認は必ず人間が行う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7680" y="640080"/>
            <a:ext cx="548640" cy="548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280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A-107 修了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457200" y="17373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お疲れさまでした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1828800" y="2560320"/>
            <a:ext cx="5486400" cy="1828800"/>
          </a:xfrm>
          <a:prstGeom prst="rect">
            <a:avLst>
              <a:gd name="adj" fmla="val 5000"/>
            </a:avLst>
          </a:prstGeom>
          <a:solidFill>
            <a:srgbClr val="FFFFFF"/>
          </a:solidFill>
          <a:ln/>
        </p:spPr>
      </p:sp>
      <p:sp>
        <p:nvSpPr>
          <p:cNvPr id="6" name="Text 3"/>
          <p:cNvSpPr/>
          <p:nvPr/>
        </p:nvSpPr>
        <p:spPr>
          <a:xfrm>
            <a:off x="1828800" y="2697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確認テスト（5問）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3200400" y="3154680"/>
            <a:ext cx="27432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828800" y="3246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80%以上の正答で修了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3200400" y="3657600"/>
            <a:ext cx="27432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828800" y="3749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「それ、出典ある？」を口癖にしましょう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457200" y="4480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皆さんの情報リテラシー向上を応援しています！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A-107: AI時代の情報リテラシー</dc:title>
  <dc:subject>PptxGenJS Presentation</dc:subject>
  <dc:creator>Gorilla Knowledge</dc:creator>
  <cp:lastModifiedBy>Gorilla Knowledge</cp:lastModifiedBy>
  <cp:revision>1</cp:revision>
  <dcterms:created xsi:type="dcterms:W3CDTF">2026-03-28T14:56:34Z</dcterms:created>
  <dcterms:modified xsi:type="dcterms:W3CDTF">2026-03-28T14:56:34Z</dcterms:modified>
</cp:coreProperties>
</file>