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こんにちは。Claude実践講座Part3へようこそ。今回のテーマは「100万トークンの長文処理」と「Web検索活用」です。Claudeが持つ最大の強みの一つ、大量の文書を一度に読み込んで分析する能力と、最新の情報をWebから取得する機能について解説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100万トークンの規模感を整理しましょう。日本語では、新書1冊がおよそ12万トークンです。つまり100万トークンは新書にして約8冊分。A4のビジネス文書に換算すると、約1,500〜2,000ページ分です。ChatGPTとの比較で見ると、ChatGPT Plusは256Kトークンで、Claudeの約4分の1。ChatGPT Proでも400Kトークンで、Claudeの半分以下。しかもChatGPT Proは月200ドル、Claude Proは月20ドルです。長文処理においてClaudeのコストパフォーマンスは圧倒的です。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万トークンの容量があると、具体的に何ができるのか。まず、100ページのPDFを丸ごとアップロードして、エグゼクティブサマリーや主要データポイントを30秒で抽出できます。次に、競合3社の決算資料を同時に読み込ませて、売上や利益率、戦略の違いを横断的に比較分析できます。さらに、2時間の会議の議事録をそのまま投入し、決定事項・アクションアイテム・未解決課題に自動分類できます。手作業で数時間から数日かかる作業が、数十秒で完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文分析で安定した結果を得るためのコツを3つ紹介します。1つ目は、分析の観点を明確に指定すること。「この資料を分析してください」ではなく、「コスト構造・競合優位性・成長リスクの3点で分析してください」と指定すれば、焦点が絞られた深い分析が返ってきます。2つ目は、出力フォーマットの指定です。表で欲しいのか、箇条書きでいいのか。フォーマットを指定するだけで、後の加工作業が劇的に減ります。3つ目は、段階的な深掘りです。最初から全てを詳細に聞くのではなく、まず全体要約を出させ、気になるポイントを見つけてから深掘りする。この2段階アプローチが最も効率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文処理には注意点もあります。まず、大量のテキストの中に埋もれた小さな情報を見落とすことがあります。対策は「特にこの点に注目して」と焦点を明示すること。次に、文書の先頭と末尾は正確に拾いますが、中盤の情報は見落とされやすい場合があります。そして最も重要なのがハルシネーション対策です。長い文書ほど、それっぽいが事実でない要約が紛れ込むリスクがあります。重要な数値や固有名詞は必ず原文と照合してください。「根拠となる原文を引用してください」と指示するのも有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Web検索機能の話に移ります。Web検索機能により、Claudeは最新情報にアクセスできるようになりました。使い方は簡単で、claude.aiのチャット画面でWeb検索のトグルをONにするだけです。あとは普通に質問すれば、Claudeが検索の必要性を自動判断し、Webを検索して結果を統合して回答します。重要なのは、引用付きで回答が返ってくること。ソースURLが紐づいているので、情報の出典を確認し、裏取りが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とClaudeのWeb検索は、同じ検索でも性質が異なります。ChatGPTは検索結果をきれいに要約するのが得意。複数のソースから情報を集め、分かりやすくまとめてくれます。一方Claudeは、複数ソースの情報を突き合わせ、矛盾点や差異を指摘する分析寄りの回答を返します。たとえば市場予測を聞くと、ChatGPTは主要機関の予測をまとめて提示し、Claudeは予測値の差異の原因まで分析する傾向があります。速報的に情報を掴みたいならChatGPT、情報の意味を深く理解したいならClaude。目的に応じて使い分けるのがベス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文処理とWeb検索を組み合わせる。これがClaudeの真骨頂です。たとえば、半年前に策定した中期経営計画を最新の市場環境でレビューしたいとき。計画書のPDFをアップロードし、Web検索をONにして、計画の前提条件が現在の市場環境と整合しているかを聞く。するとClaudeは、計画書を精読しつつ、同時にWebで最新の市場データを検索し、両者を突き合わせた分析を返してくれます。社内のストック情報とWeb上のフロー情報を一つのプロンプトで統合分析できる。これは従来のAIにはなかった能力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3のまとめです。100万トークンは新書8冊分、A4で約1,500ページ。ChatGPTの2.5倍以上の容量を月20ドルで使えます。長文分析は、一括要約、複数文書の比較、議事録の構造化の3パターン。分析の観点と出力フォーマットを指定するのがコツです。Web検索はChatGPTが情報のまとめ、Claudeが情報の分析。そして最大の武器は、長文処理とWeb検索の組み合わせです。注意点として、重要なデータは必ず原文と照合すること、機密情報の取り扱いは社内ポリシーを確認すること。次回Part4ではClaude CodeとMCPを学びます。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0" y="1280160"/>
            <a:ext cx="9144000" cy="822960"/>
          </a:xfrm>
          <a:prstGeom prst="rect">
            <a:avLst/>
          </a:prstGeom>
          <a:noFill/>
          <a:ln/>
        </p:spPr>
        <p:txBody>
          <a:bodyPr wrap="square" rtlCol="0" anchor="b"/>
          <a:lstStyle/>
          <a:p>
            <a:pPr algn="ctr" indent="0" marL="0">
              <a:buNone/>
            </a:pPr>
            <a:r>
              <a:rPr lang="en-US" sz="4000" b="1" dirty="0">
                <a:solidFill>
                  <a:srgbClr val="FFFFFF"/>
                </a:solidFill>
                <a:latin typeface="Calibri" pitchFamily="34" charset="0"/>
                <a:ea typeface="Calibri" pitchFamily="34" charset="-122"/>
                <a:cs typeface="Calibri" pitchFamily="34" charset="-120"/>
              </a:rPr>
              <a:t>100万トークン長文処理 &amp; Web検索活用</a:t>
            </a:r>
            <a:endParaRPr lang="en-US" sz="4000" dirty="0"/>
          </a:p>
        </p:txBody>
      </p:sp>
      <p:sp>
        <p:nvSpPr>
          <p:cNvPr id="3" name="Shape 1"/>
          <p:cNvSpPr/>
          <p:nvPr/>
        </p:nvSpPr>
        <p:spPr>
          <a:xfrm>
            <a:off x="3200400" y="2331720"/>
            <a:ext cx="2743200" cy="0"/>
          </a:xfrm>
          <a:prstGeom prst="line">
            <a:avLst/>
          </a:prstGeom>
          <a:noFill/>
          <a:ln w="19050">
            <a:solidFill>
              <a:srgbClr val="93C5FD"/>
            </a:solidFill>
            <a:prstDash val="solid"/>
          </a:ln>
        </p:spPr>
      </p:sp>
      <p:sp>
        <p:nvSpPr>
          <p:cNvPr id="4" name="Text 2"/>
          <p:cNvSpPr/>
          <p:nvPr/>
        </p:nvSpPr>
        <p:spPr>
          <a:xfrm>
            <a:off x="685800" y="2514600"/>
            <a:ext cx="7772400" cy="457200"/>
          </a:xfrm>
          <a:prstGeom prst="rect">
            <a:avLst/>
          </a:prstGeom>
          <a:noFill/>
          <a:ln/>
        </p:spPr>
        <p:txBody>
          <a:bodyPr wrap="square" rtlCol="0" anchor="ctr"/>
          <a:lstStyle/>
          <a:p>
            <a:pPr algn="ctr" indent="0" marL="0">
              <a:buNone/>
            </a:pPr>
            <a:r>
              <a:rPr lang="en-US" sz="2200" dirty="0">
                <a:solidFill>
                  <a:srgbClr val="93C5FD"/>
                </a:solidFill>
                <a:latin typeface="Calibri" pitchFamily="34" charset="0"/>
                <a:ea typeface="Calibri" pitchFamily="34" charset="-122"/>
                <a:cs typeface="Calibri" pitchFamily="34" charset="-120"/>
              </a:rPr>
              <a:t>Claudeの長文処理能力とWeb検索機能の概要を解説</a:t>
            </a:r>
            <a:endParaRPr lang="en-US" sz="2200" dirty="0"/>
          </a:p>
        </p:txBody>
      </p:sp>
      <p:sp>
        <p:nvSpPr>
          <p:cNvPr id="5" name="Text 3"/>
          <p:cNvSpPr/>
          <p:nvPr/>
        </p:nvSpPr>
        <p:spPr>
          <a:xfrm>
            <a:off x="685800" y="3383280"/>
            <a:ext cx="7772400" cy="320040"/>
          </a:xfrm>
          <a:prstGeom prst="rect">
            <a:avLst/>
          </a:prstGeom>
          <a:noFill/>
          <a:ln/>
        </p:spPr>
        <p:txBody>
          <a:bodyPr wrap="square" rtlCol="0" anchor="ctr"/>
          <a:lstStyle/>
          <a:p>
            <a:pPr algn="ctr" indent="0" marL="0">
              <a:buNone/>
            </a:pPr>
            <a:r>
              <a:rPr lang="en-US" sz="1300" dirty="0">
                <a:solidFill>
                  <a:srgbClr val="9CA3AF"/>
                </a:solidFill>
                <a:latin typeface="Calibri" pitchFamily="34" charset="0"/>
                <a:ea typeface="Calibri" pitchFamily="34" charset="-122"/>
                <a:cs typeface="Calibri" pitchFamily="34" charset="-120"/>
              </a:rPr>
              <a:t>10分</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2 / 9</a:t>
            </a:r>
            <a:endParaRPr lang="en-US" sz="1100" dirty="0"/>
          </a:p>
        </p:txBody>
      </p:sp>
      <p:sp>
        <p:nvSpPr>
          <p:cNvPr id="4" name="Text 2"/>
          <p:cNvSpPr/>
          <p:nvPr/>
        </p:nvSpPr>
        <p:spPr>
          <a:xfrm>
            <a:off x="685800" y="274320"/>
            <a:ext cx="7772400" cy="548640"/>
          </a:xfrm>
          <a:prstGeom prst="rect">
            <a:avLst/>
          </a:prstGeom>
          <a:noFill/>
          <a:ln/>
        </p:spPr>
        <p:txBody>
          <a:bodyPr wrap="square" rtlCol="0" anchor="b">
            <a:normAutofit/>
          </a:bodyPr>
          <a:lstStyle/>
          <a:p>
            <a:pPr algn="l" indent="0" marL="0">
              <a:buNone/>
            </a:pPr>
            <a:r>
              <a:rPr lang="en-US" sz="3200" b="1" dirty="0">
                <a:solidFill>
                  <a:srgbClr val="111827"/>
                </a:solidFill>
                <a:latin typeface="Calibri" pitchFamily="34" charset="0"/>
                <a:ea typeface="Calibri" pitchFamily="34" charset="-122"/>
                <a:cs typeface="Calibri" pitchFamily="34" charset="-120"/>
              </a:rPr>
              <a:t>100万トークンのスケール感</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34440"/>
            <a:ext cx="45720" cy="822960"/>
          </a:xfrm>
          <a:prstGeom prst="rect">
            <a:avLst/>
          </a:prstGeom>
          <a:solidFill>
            <a:srgbClr val="2563EB"/>
          </a:solidFill>
          <a:ln/>
        </p:spPr>
      </p:sp>
      <p:sp>
        <p:nvSpPr>
          <p:cNvPr id="7" name="Text 5"/>
          <p:cNvSpPr/>
          <p:nvPr/>
        </p:nvSpPr>
        <p:spPr>
          <a:xfrm>
            <a:off x="914400" y="118872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新書1冊 ≒ 12万トークン → 100万トークン = 約8冊分</a:t>
            </a:r>
            <a:endParaRPr lang="en-US" sz="1800" dirty="0"/>
          </a:p>
        </p:txBody>
      </p:sp>
      <p:sp>
        <p:nvSpPr>
          <p:cNvPr id="8" name="Shape 6"/>
          <p:cNvSpPr/>
          <p:nvPr/>
        </p:nvSpPr>
        <p:spPr>
          <a:xfrm>
            <a:off x="685800" y="2240280"/>
            <a:ext cx="45720" cy="822960"/>
          </a:xfrm>
          <a:prstGeom prst="rect">
            <a:avLst/>
          </a:prstGeom>
          <a:solidFill>
            <a:srgbClr val="059669"/>
          </a:solidFill>
          <a:ln/>
        </p:spPr>
      </p:sp>
      <p:sp>
        <p:nvSpPr>
          <p:cNvPr id="9" name="Text 7"/>
          <p:cNvSpPr/>
          <p:nvPr/>
        </p:nvSpPr>
        <p:spPr>
          <a:xfrm>
            <a:off x="914400" y="219456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A4ビジネス文書に換算すると約1,500〜2,000ページ分</a:t>
            </a:r>
            <a:endParaRPr lang="en-US" sz="1800" dirty="0"/>
          </a:p>
        </p:txBody>
      </p:sp>
      <p:sp>
        <p:nvSpPr>
          <p:cNvPr id="10" name="Shape 8"/>
          <p:cNvSpPr/>
          <p:nvPr/>
        </p:nvSpPr>
        <p:spPr>
          <a:xfrm>
            <a:off x="685800" y="3246120"/>
            <a:ext cx="45720" cy="822960"/>
          </a:xfrm>
          <a:prstGeom prst="rect">
            <a:avLst/>
          </a:prstGeom>
          <a:solidFill>
            <a:srgbClr val="D97706"/>
          </a:solidFill>
          <a:ln/>
        </p:spPr>
      </p:sp>
      <p:sp>
        <p:nvSpPr>
          <p:cNvPr id="11" name="Text 9"/>
          <p:cNvSpPr/>
          <p:nvPr/>
        </p:nvSpPr>
        <p:spPr>
          <a:xfrm>
            <a:off x="914400" y="320040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ChatGPT Plus（256K）の約4倍、ChatGPT Pro（400K）の2.5倍</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3 / 9</a:t>
            </a:r>
            <a:endParaRPr lang="en-US" sz="1100" dirty="0"/>
          </a:p>
        </p:txBody>
      </p:sp>
      <p:sp>
        <p:nvSpPr>
          <p:cNvPr id="4" name="Text 2"/>
          <p:cNvSpPr/>
          <p:nvPr/>
        </p:nvSpPr>
        <p:spPr>
          <a:xfrm>
            <a:off x="685800" y="274320"/>
            <a:ext cx="7772400" cy="548640"/>
          </a:xfrm>
          <a:prstGeom prst="rect">
            <a:avLst/>
          </a:prstGeom>
          <a:noFill/>
          <a:ln/>
        </p:spPr>
        <p:txBody>
          <a:bodyPr wrap="square" rtlCol="0" anchor="b">
            <a:normAutofit/>
          </a:bodyPr>
          <a:lstStyle/>
          <a:p>
            <a:pPr algn="l" indent="0" marL="0">
              <a:buNone/>
            </a:pPr>
            <a:r>
              <a:rPr lang="en-US" sz="3200" b="1" dirty="0">
                <a:solidFill>
                  <a:srgbClr val="111827"/>
                </a:solidFill>
                <a:latin typeface="Calibri" pitchFamily="34" charset="0"/>
                <a:ea typeface="Calibri" pitchFamily="34" charset="-122"/>
                <a:cs typeface="Calibri" pitchFamily="34" charset="-120"/>
              </a:rPr>
              <a:t>長文処理でできること</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34440"/>
            <a:ext cx="45720" cy="822960"/>
          </a:xfrm>
          <a:prstGeom prst="rect">
            <a:avLst/>
          </a:prstGeom>
          <a:solidFill>
            <a:srgbClr val="2563EB"/>
          </a:solidFill>
          <a:ln/>
        </p:spPr>
      </p:sp>
      <p:sp>
        <p:nvSpPr>
          <p:cNvPr id="7" name="Text 5"/>
          <p:cNvSpPr/>
          <p:nvPr/>
        </p:nvSpPr>
        <p:spPr>
          <a:xfrm>
            <a:off x="914400" y="118872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100ページのPDFを丸ごと読み込み、30秒で要約・分析</a:t>
            </a:r>
            <a:endParaRPr lang="en-US" sz="1800" dirty="0"/>
          </a:p>
        </p:txBody>
      </p:sp>
      <p:sp>
        <p:nvSpPr>
          <p:cNvPr id="8" name="Shape 6"/>
          <p:cNvSpPr/>
          <p:nvPr/>
        </p:nvSpPr>
        <p:spPr>
          <a:xfrm>
            <a:off x="685800" y="2240280"/>
            <a:ext cx="45720" cy="822960"/>
          </a:xfrm>
          <a:prstGeom prst="rect">
            <a:avLst/>
          </a:prstGeom>
          <a:solidFill>
            <a:srgbClr val="059669"/>
          </a:solidFill>
          <a:ln/>
        </p:spPr>
      </p:sp>
      <p:sp>
        <p:nvSpPr>
          <p:cNvPr id="9" name="Text 7"/>
          <p:cNvSpPr/>
          <p:nvPr/>
        </p:nvSpPr>
        <p:spPr>
          <a:xfrm>
            <a:off x="914400" y="219456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競合3社の決算資料を同時にアップロードして横断比較</a:t>
            </a:r>
            <a:endParaRPr lang="en-US" sz="1800" dirty="0"/>
          </a:p>
        </p:txBody>
      </p:sp>
      <p:sp>
        <p:nvSpPr>
          <p:cNvPr id="10" name="Shape 8"/>
          <p:cNvSpPr/>
          <p:nvPr/>
        </p:nvSpPr>
        <p:spPr>
          <a:xfrm>
            <a:off x="685800" y="3246120"/>
            <a:ext cx="45720" cy="822960"/>
          </a:xfrm>
          <a:prstGeom prst="rect">
            <a:avLst/>
          </a:prstGeom>
          <a:solidFill>
            <a:srgbClr val="D97706"/>
          </a:solidFill>
          <a:ln/>
        </p:spPr>
      </p:sp>
      <p:sp>
        <p:nvSpPr>
          <p:cNvPr id="11" name="Text 9"/>
          <p:cNvSpPr/>
          <p:nvPr/>
        </p:nvSpPr>
        <p:spPr>
          <a:xfrm>
            <a:off x="914400" y="320040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長い議事録から決定事項・アクションアイテムを自動抽出</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4 / 9</a:t>
            </a:r>
            <a:endParaRPr lang="en-US" sz="1100" dirty="0"/>
          </a:p>
        </p:txBody>
      </p:sp>
      <p:sp>
        <p:nvSpPr>
          <p:cNvPr id="4" name="Text 2"/>
          <p:cNvSpPr/>
          <p:nvPr/>
        </p:nvSpPr>
        <p:spPr>
          <a:xfrm>
            <a:off x="685800" y="274320"/>
            <a:ext cx="7772400" cy="548640"/>
          </a:xfrm>
          <a:prstGeom prst="rect">
            <a:avLst/>
          </a:prstGeom>
          <a:noFill/>
          <a:ln/>
        </p:spPr>
        <p:txBody>
          <a:bodyPr wrap="square" rtlCol="0" anchor="b">
            <a:normAutofit/>
          </a:bodyPr>
          <a:lstStyle/>
          <a:p>
            <a:pPr algn="l" indent="0" marL="0">
              <a:buNone/>
            </a:pPr>
            <a:r>
              <a:rPr lang="en-US" sz="3200" b="1" dirty="0">
                <a:solidFill>
                  <a:srgbClr val="111827"/>
                </a:solidFill>
                <a:latin typeface="Calibri" pitchFamily="34" charset="0"/>
                <a:ea typeface="Calibri" pitchFamily="34" charset="-122"/>
                <a:cs typeface="Calibri" pitchFamily="34" charset="-120"/>
              </a:rPr>
              <a:t>長文分析を成功させる3つのコツ</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34440"/>
            <a:ext cx="45720" cy="822960"/>
          </a:xfrm>
          <a:prstGeom prst="rect">
            <a:avLst/>
          </a:prstGeom>
          <a:solidFill>
            <a:srgbClr val="2563EB"/>
          </a:solidFill>
          <a:ln/>
        </p:spPr>
      </p:sp>
      <p:sp>
        <p:nvSpPr>
          <p:cNvPr id="7" name="Text 5"/>
          <p:cNvSpPr/>
          <p:nvPr/>
        </p:nvSpPr>
        <p:spPr>
          <a:xfrm>
            <a:off x="914400" y="118872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分析の観点を明確に指定する（「コスト面で」「リスク面で」など）</a:t>
            </a:r>
            <a:endParaRPr lang="en-US" sz="1800" dirty="0"/>
          </a:p>
        </p:txBody>
      </p:sp>
      <p:sp>
        <p:nvSpPr>
          <p:cNvPr id="8" name="Shape 6"/>
          <p:cNvSpPr/>
          <p:nvPr/>
        </p:nvSpPr>
        <p:spPr>
          <a:xfrm>
            <a:off x="685800" y="2240280"/>
            <a:ext cx="45720" cy="822960"/>
          </a:xfrm>
          <a:prstGeom prst="rect">
            <a:avLst/>
          </a:prstGeom>
          <a:solidFill>
            <a:srgbClr val="059669"/>
          </a:solidFill>
          <a:ln/>
        </p:spPr>
      </p:sp>
      <p:sp>
        <p:nvSpPr>
          <p:cNvPr id="9" name="Text 7"/>
          <p:cNvSpPr/>
          <p:nvPr/>
        </p:nvSpPr>
        <p:spPr>
          <a:xfrm>
            <a:off x="914400" y="219456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出力フォーマットを指定する（表形式、箇条書き、スコア付きなど）</a:t>
            </a:r>
            <a:endParaRPr lang="en-US" sz="1800" dirty="0"/>
          </a:p>
        </p:txBody>
      </p:sp>
      <p:sp>
        <p:nvSpPr>
          <p:cNvPr id="10" name="Shape 8"/>
          <p:cNvSpPr/>
          <p:nvPr/>
        </p:nvSpPr>
        <p:spPr>
          <a:xfrm>
            <a:off x="685800" y="3246120"/>
            <a:ext cx="45720" cy="822960"/>
          </a:xfrm>
          <a:prstGeom prst="rect">
            <a:avLst/>
          </a:prstGeom>
          <a:solidFill>
            <a:srgbClr val="D97706"/>
          </a:solidFill>
          <a:ln/>
        </p:spPr>
      </p:sp>
      <p:sp>
        <p:nvSpPr>
          <p:cNvPr id="11" name="Text 9"/>
          <p:cNvSpPr/>
          <p:nvPr/>
        </p:nvSpPr>
        <p:spPr>
          <a:xfrm>
            <a:off x="914400" y="320040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段階的に深掘りする（まず要約→気になる点を詳細分析）</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5 / 9</a:t>
            </a:r>
            <a:endParaRPr lang="en-US" sz="1100" dirty="0"/>
          </a:p>
        </p:txBody>
      </p:sp>
      <p:sp>
        <p:nvSpPr>
          <p:cNvPr id="4" name="Text 2"/>
          <p:cNvSpPr/>
          <p:nvPr/>
        </p:nvSpPr>
        <p:spPr>
          <a:xfrm>
            <a:off x="685800" y="274320"/>
            <a:ext cx="7772400" cy="548640"/>
          </a:xfrm>
          <a:prstGeom prst="rect">
            <a:avLst/>
          </a:prstGeom>
          <a:noFill/>
          <a:ln/>
        </p:spPr>
        <p:txBody>
          <a:bodyPr wrap="square" rtlCol="0" anchor="b">
            <a:normAutofit/>
          </a:bodyPr>
          <a:lstStyle/>
          <a:p>
            <a:pPr algn="l" indent="0" marL="0">
              <a:buNone/>
            </a:pPr>
            <a:r>
              <a:rPr lang="en-US" sz="3200" b="1" dirty="0">
                <a:solidFill>
                  <a:srgbClr val="111827"/>
                </a:solidFill>
                <a:latin typeface="Calibri" pitchFamily="34" charset="0"/>
                <a:ea typeface="Calibri" pitchFamily="34" charset="-122"/>
                <a:cs typeface="Calibri" pitchFamily="34" charset="-120"/>
              </a:rPr>
              <a:t>長文処理の注意点</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34440"/>
            <a:ext cx="45720" cy="822960"/>
          </a:xfrm>
          <a:prstGeom prst="rect">
            <a:avLst/>
          </a:prstGeom>
          <a:solidFill>
            <a:srgbClr val="2563EB"/>
          </a:solidFill>
          <a:ln/>
        </p:spPr>
      </p:sp>
      <p:sp>
        <p:nvSpPr>
          <p:cNvPr id="7" name="Text 5"/>
          <p:cNvSpPr/>
          <p:nvPr/>
        </p:nvSpPr>
        <p:spPr>
          <a:xfrm>
            <a:off x="914400" y="118872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大量テキスト中の小さな情報を見落とす可能性がある</a:t>
            </a:r>
            <a:endParaRPr lang="en-US" sz="1800" dirty="0"/>
          </a:p>
        </p:txBody>
      </p:sp>
      <p:sp>
        <p:nvSpPr>
          <p:cNvPr id="8" name="Shape 6"/>
          <p:cNvSpPr/>
          <p:nvPr/>
        </p:nvSpPr>
        <p:spPr>
          <a:xfrm>
            <a:off x="685800" y="2240280"/>
            <a:ext cx="45720" cy="822960"/>
          </a:xfrm>
          <a:prstGeom prst="rect">
            <a:avLst/>
          </a:prstGeom>
          <a:solidFill>
            <a:srgbClr val="059669"/>
          </a:solidFill>
          <a:ln/>
        </p:spPr>
      </p:sp>
      <p:sp>
        <p:nvSpPr>
          <p:cNvPr id="9" name="Text 7"/>
          <p:cNvSpPr/>
          <p:nvPr/>
        </p:nvSpPr>
        <p:spPr>
          <a:xfrm>
            <a:off x="914400" y="219456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文書の中盤の情報が薄くなる傾向がある</a:t>
            </a:r>
            <a:endParaRPr lang="en-US" sz="1800" dirty="0"/>
          </a:p>
        </p:txBody>
      </p:sp>
      <p:sp>
        <p:nvSpPr>
          <p:cNvPr id="10" name="Shape 8"/>
          <p:cNvSpPr/>
          <p:nvPr/>
        </p:nvSpPr>
        <p:spPr>
          <a:xfrm>
            <a:off x="685800" y="3246120"/>
            <a:ext cx="45720" cy="822960"/>
          </a:xfrm>
          <a:prstGeom prst="rect">
            <a:avLst/>
          </a:prstGeom>
          <a:solidFill>
            <a:srgbClr val="D97706"/>
          </a:solidFill>
          <a:ln/>
        </p:spPr>
      </p:sp>
      <p:sp>
        <p:nvSpPr>
          <p:cNvPr id="11" name="Text 9"/>
          <p:cNvSpPr/>
          <p:nvPr/>
        </p:nvSpPr>
        <p:spPr>
          <a:xfrm>
            <a:off x="914400" y="320040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ハルシネーション対策：重要な数値は必ず原文と照合する</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6 / 9</a:t>
            </a:r>
            <a:endParaRPr lang="en-US" sz="1100" dirty="0"/>
          </a:p>
        </p:txBody>
      </p:sp>
      <p:sp>
        <p:nvSpPr>
          <p:cNvPr id="4" name="Text 2"/>
          <p:cNvSpPr/>
          <p:nvPr/>
        </p:nvSpPr>
        <p:spPr>
          <a:xfrm>
            <a:off x="685800" y="274320"/>
            <a:ext cx="7772400" cy="548640"/>
          </a:xfrm>
          <a:prstGeom prst="rect">
            <a:avLst/>
          </a:prstGeom>
          <a:noFill/>
          <a:ln/>
        </p:spPr>
        <p:txBody>
          <a:bodyPr wrap="square" rtlCol="0" anchor="b">
            <a:normAutofit/>
          </a:bodyPr>
          <a:lstStyle/>
          <a:p>
            <a:pPr algn="l" indent="0" marL="0">
              <a:buNone/>
            </a:pPr>
            <a:r>
              <a:rPr lang="en-US" sz="3200" b="1" dirty="0">
                <a:solidFill>
                  <a:srgbClr val="111827"/>
                </a:solidFill>
                <a:latin typeface="Calibri" pitchFamily="34" charset="0"/>
                <a:ea typeface="Calibri" pitchFamily="34" charset="-122"/>
                <a:cs typeface="Calibri" pitchFamily="34" charset="-120"/>
              </a:rPr>
              <a:t>Web検索機能の概要</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34440"/>
            <a:ext cx="45720" cy="822960"/>
          </a:xfrm>
          <a:prstGeom prst="rect">
            <a:avLst/>
          </a:prstGeom>
          <a:solidFill>
            <a:srgbClr val="2563EB"/>
          </a:solidFill>
          <a:ln/>
        </p:spPr>
      </p:sp>
      <p:sp>
        <p:nvSpPr>
          <p:cNvPr id="7" name="Text 5"/>
          <p:cNvSpPr/>
          <p:nvPr/>
        </p:nvSpPr>
        <p:spPr>
          <a:xfrm>
            <a:off x="914400" y="118872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最新ニュース・市場データ・技術情報をリアルタイムで取得</a:t>
            </a:r>
            <a:endParaRPr lang="en-US" sz="1800" dirty="0"/>
          </a:p>
        </p:txBody>
      </p:sp>
      <p:sp>
        <p:nvSpPr>
          <p:cNvPr id="8" name="Shape 6"/>
          <p:cNvSpPr/>
          <p:nvPr/>
        </p:nvSpPr>
        <p:spPr>
          <a:xfrm>
            <a:off x="685800" y="2240280"/>
            <a:ext cx="45720" cy="822960"/>
          </a:xfrm>
          <a:prstGeom prst="rect">
            <a:avLst/>
          </a:prstGeom>
          <a:solidFill>
            <a:srgbClr val="059669"/>
          </a:solidFill>
          <a:ln/>
        </p:spPr>
      </p:sp>
      <p:sp>
        <p:nvSpPr>
          <p:cNvPr id="9" name="Text 7"/>
          <p:cNvSpPr/>
          <p:nvPr/>
        </p:nvSpPr>
        <p:spPr>
          <a:xfrm>
            <a:off x="914400" y="219456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引用URL付きで回答が返ってくるため出典確認が容易</a:t>
            </a:r>
            <a:endParaRPr lang="en-US" sz="1800" dirty="0"/>
          </a:p>
        </p:txBody>
      </p:sp>
      <p:sp>
        <p:nvSpPr>
          <p:cNvPr id="10" name="Shape 8"/>
          <p:cNvSpPr/>
          <p:nvPr/>
        </p:nvSpPr>
        <p:spPr>
          <a:xfrm>
            <a:off x="685800" y="3246120"/>
            <a:ext cx="45720" cy="822960"/>
          </a:xfrm>
          <a:prstGeom prst="rect">
            <a:avLst/>
          </a:prstGeom>
          <a:solidFill>
            <a:srgbClr val="D97706"/>
          </a:solidFill>
          <a:ln/>
        </p:spPr>
      </p:sp>
      <p:sp>
        <p:nvSpPr>
          <p:cNvPr id="11" name="Text 9"/>
          <p:cNvSpPr/>
          <p:nvPr/>
        </p:nvSpPr>
        <p:spPr>
          <a:xfrm>
            <a:off x="914400" y="320040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claude.aiのチャット画面でWeb検索トグルをONにするだけ</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7 / 9</a:t>
            </a:r>
            <a:endParaRPr lang="en-US" sz="1100" dirty="0"/>
          </a:p>
        </p:txBody>
      </p:sp>
      <p:sp>
        <p:nvSpPr>
          <p:cNvPr id="4" name="Text 2"/>
          <p:cNvSpPr/>
          <p:nvPr/>
        </p:nvSpPr>
        <p:spPr>
          <a:xfrm>
            <a:off x="685800" y="274320"/>
            <a:ext cx="7772400" cy="548640"/>
          </a:xfrm>
          <a:prstGeom prst="rect">
            <a:avLst/>
          </a:prstGeom>
          <a:noFill/>
          <a:ln/>
        </p:spPr>
        <p:txBody>
          <a:bodyPr wrap="square" rtlCol="0" anchor="b">
            <a:normAutofit/>
          </a:bodyPr>
          <a:lstStyle/>
          <a:p>
            <a:pPr algn="l" indent="0" marL="0">
              <a:buNone/>
            </a:pPr>
            <a:r>
              <a:rPr lang="en-US" sz="3200" b="1" dirty="0">
                <a:solidFill>
                  <a:srgbClr val="111827"/>
                </a:solidFill>
                <a:latin typeface="Calibri" pitchFamily="34" charset="0"/>
                <a:ea typeface="Calibri" pitchFamily="34" charset="-122"/>
                <a:cs typeface="Calibri" pitchFamily="34" charset="-120"/>
              </a:rPr>
              <a:t>ChatGPTの検索とClaudeの検索の違い</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34440"/>
            <a:ext cx="45720" cy="822960"/>
          </a:xfrm>
          <a:prstGeom prst="rect">
            <a:avLst/>
          </a:prstGeom>
          <a:solidFill>
            <a:srgbClr val="2563EB"/>
          </a:solidFill>
          <a:ln/>
        </p:spPr>
      </p:sp>
      <p:sp>
        <p:nvSpPr>
          <p:cNvPr id="7" name="Text 5"/>
          <p:cNvSpPr/>
          <p:nvPr/>
        </p:nvSpPr>
        <p:spPr>
          <a:xfrm>
            <a:off x="914400" y="118872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ChatGPT：検索結果をきれいに要約。速報的に情報を掴むのが得意</a:t>
            </a:r>
            <a:endParaRPr lang="en-US" sz="1800" dirty="0"/>
          </a:p>
        </p:txBody>
      </p:sp>
      <p:sp>
        <p:nvSpPr>
          <p:cNvPr id="8" name="Shape 6"/>
          <p:cNvSpPr/>
          <p:nvPr/>
        </p:nvSpPr>
        <p:spPr>
          <a:xfrm>
            <a:off x="685800" y="2240280"/>
            <a:ext cx="45720" cy="822960"/>
          </a:xfrm>
          <a:prstGeom prst="rect">
            <a:avLst/>
          </a:prstGeom>
          <a:solidFill>
            <a:srgbClr val="059669"/>
          </a:solidFill>
          <a:ln/>
        </p:spPr>
      </p:sp>
      <p:sp>
        <p:nvSpPr>
          <p:cNvPr id="9" name="Text 7"/>
          <p:cNvSpPr/>
          <p:nvPr/>
        </p:nvSpPr>
        <p:spPr>
          <a:xfrm>
            <a:off x="914400" y="219456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Claude：複数ソースを突き合わせ、矛盾や差異を分析的に統合</a:t>
            </a:r>
            <a:endParaRPr lang="en-US" sz="1800" dirty="0"/>
          </a:p>
        </p:txBody>
      </p:sp>
      <p:sp>
        <p:nvSpPr>
          <p:cNvPr id="10" name="Shape 8"/>
          <p:cNvSpPr/>
          <p:nvPr/>
        </p:nvSpPr>
        <p:spPr>
          <a:xfrm>
            <a:off x="685800" y="3246120"/>
            <a:ext cx="45720" cy="822960"/>
          </a:xfrm>
          <a:prstGeom prst="rect">
            <a:avLst/>
          </a:prstGeom>
          <a:solidFill>
            <a:srgbClr val="D97706"/>
          </a:solidFill>
          <a:ln/>
        </p:spPr>
      </p:sp>
      <p:sp>
        <p:nvSpPr>
          <p:cNvPr id="11" name="Text 9"/>
          <p:cNvSpPr/>
          <p:nvPr/>
        </p:nvSpPr>
        <p:spPr>
          <a:xfrm>
            <a:off x="914400" y="320040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目的に応じて使い分けるのがベスト</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8 / 9</a:t>
            </a:r>
            <a:endParaRPr lang="en-US" sz="1100" dirty="0"/>
          </a:p>
        </p:txBody>
      </p:sp>
      <p:sp>
        <p:nvSpPr>
          <p:cNvPr id="4" name="Text 2"/>
          <p:cNvSpPr/>
          <p:nvPr/>
        </p:nvSpPr>
        <p:spPr>
          <a:xfrm>
            <a:off x="685800" y="274320"/>
            <a:ext cx="7772400" cy="548640"/>
          </a:xfrm>
          <a:prstGeom prst="rect">
            <a:avLst/>
          </a:prstGeom>
          <a:noFill/>
          <a:ln/>
        </p:spPr>
        <p:txBody>
          <a:bodyPr wrap="square" rtlCol="0" anchor="b">
            <a:normAutofit/>
          </a:bodyPr>
          <a:lstStyle/>
          <a:p>
            <a:pPr algn="l" indent="0" marL="0">
              <a:buNone/>
            </a:pPr>
            <a:r>
              <a:rPr lang="en-US" sz="3200" b="1" dirty="0">
                <a:solidFill>
                  <a:srgbClr val="111827"/>
                </a:solidFill>
                <a:latin typeface="Calibri" pitchFamily="34" charset="0"/>
                <a:ea typeface="Calibri" pitchFamily="34" charset="-122"/>
                <a:cs typeface="Calibri" pitchFamily="34" charset="-120"/>
              </a:rPr>
              <a:t>最強の組み合わせ：長文 + Web検索</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34440"/>
            <a:ext cx="45720" cy="822960"/>
          </a:xfrm>
          <a:prstGeom prst="rect">
            <a:avLst/>
          </a:prstGeom>
          <a:solidFill>
            <a:srgbClr val="2563EB"/>
          </a:solidFill>
          <a:ln/>
        </p:spPr>
      </p:sp>
      <p:sp>
        <p:nvSpPr>
          <p:cNvPr id="7" name="Text 5"/>
          <p:cNvSpPr/>
          <p:nvPr/>
        </p:nvSpPr>
        <p:spPr>
          <a:xfrm>
            <a:off x="914400" y="118872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社内資料（PDF）+ 最新市場データ（Web検索）= 統合分析</a:t>
            </a:r>
            <a:endParaRPr lang="en-US" sz="1800" dirty="0"/>
          </a:p>
        </p:txBody>
      </p:sp>
      <p:sp>
        <p:nvSpPr>
          <p:cNvPr id="8" name="Shape 6"/>
          <p:cNvSpPr/>
          <p:nvPr/>
        </p:nvSpPr>
        <p:spPr>
          <a:xfrm>
            <a:off x="685800" y="2240280"/>
            <a:ext cx="45720" cy="822960"/>
          </a:xfrm>
          <a:prstGeom prst="rect">
            <a:avLst/>
          </a:prstGeom>
          <a:solidFill>
            <a:srgbClr val="059669"/>
          </a:solidFill>
          <a:ln/>
        </p:spPr>
      </p:sp>
      <p:sp>
        <p:nvSpPr>
          <p:cNvPr id="9" name="Text 7"/>
          <p:cNvSpPr/>
          <p:nvPr/>
        </p:nvSpPr>
        <p:spPr>
          <a:xfrm>
            <a:off x="914400" y="219456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例：中期経営計画の前提条件を最新の市場環境と照合</a:t>
            </a:r>
            <a:endParaRPr lang="en-US" sz="1800" dirty="0"/>
          </a:p>
        </p:txBody>
      </p:sp>
      <p:sp>
        <p:nvSpPr>
          <p:cNvPr id="10" name="Shape 8"/>
          <p:cNvSpPr/>
          <p:nvPr/>
        </p:nvSpPr>
        <p:spPr>
          <a:xfrm>
            <a:off x="685800" y="3246120"/>
            <a:ext cx="45720" cy="822960"/>
          </a:xfrm>
          <a:prstGeom prst="rect">
            <a:avLst/>
          </a:prstGeom>
          <a:solidFill>
            <a:srgbClr val="D97706"/>
          </a:solidFill>
          <a:ln/>
        </p:spPr>
      </p:sp>
      <p:sp>
        <p:nvSpPr>
          <p:cNvPr id="11" name="Text 9"/>
          <p:cNvSpPr/>
          <p:nvPr/>
        </p:nvSpPr>
        <p:spPr>
          <a:xfrm>
            <a:off x="914400" y="3200400"/>
            <a:ext cx="7543800" cy="1005840"/>
          </a:xfrm>
          <a:prstGeom prst="rect">
            <a:avLst/>
          </a:prstGeom>
          <a:noFill/>
          <a:ln/>
        </p:spPr>
        <p:txBody>
          <a:bodyPr wrap="square" rtlCol="0" anchor="ctr">
            <a:normAutofit/>
          </a:bodyPr>
          <a:lstStyle/>
          <a:p>
            <a:pPr algn="l" indent="0" marL="0">
              <a:buNone/>
            </a:pPr>
            <a:r>
              <a:rPr lang="en-US" sz="1800" b="1" dirty="0">
                <a:solidFill>
                  <a:srgbClr val="111827"/>
                </a:solidFill>
                <a:latin typeface="Calibri" pitchFamily="34" charset="0"/>
                <a:ea typeface="Calibri" pitchFamily="34" charset="-122"/>
                <a:cs typeface="Calibri" pitchFamily="34" charset="-120"/>
              </a:rPr>
              <a:t>社内のストック情報とWeb上のフロー情報を一つのプロンプトで統合</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
          </a:xfrm>
          <a:prstGeom prst="rect">
            <a:avLst/>
          </a:prstGeom>
          <a:solidFill>
            <a:srgbClr val="2563EB"/>
          </a:solidFill>
          <a:ln/>
        </p:spPr>
      </p:sp>
      <p:sp>
        <p:nvSpPr>
          <p:cNvPr id="3" name="Text 1"/>
          <p:cNvSpPr/>
          <p:nvPr/>
        </p:nvSpPr>
        <p:spPr>
          <a:xfrm>
            <a:off x="7772400" y="4828032"/>
            <a:ext cx="1097280" cy="228600"/>
          </a:xfrm>
          <a:prstGeom prst="rect">
            <a:avLst/>
          </a:prstGeom>
          <a:noFill/>
          <a:ln/>
        </p:spPr>
        <p:txBody>
          <a:bodyPr wrap="square" rtlCol="0" anchor="b"/>
          <a:lstStyle/>
          <a:p>
            <a:pPr algn="r" indent="0" marL="0">
              <a:buNone/>
            </a:pPr>
            <a:r>
              <a:rPr lang="en-US" sz="1100" dirty="0">
                <a:solidFill>
                  <a:srgbClr val="9CA3AF"/>
                </a:solidFill>
                <a:latin typeface="Calibri" pitchFamily="34" charset="0"/>
                <a:ea typeface="Calibri" pitchFamily="34" charset="-122"/>
                <a:cs typeface="Calibri" pitchFamily="34" charset="-120"/>
              </a:rPr>
              <a:t>9 / 9</a:t>
            </a:r>
            <a:endParaRPr lang="en-US" sz="1100" dirty="0"/>
          </a:p>
        </p:txBody>
      </p:sp>
      <p:sp>
        <p:nvSpPr>
          <p:cNvPr id="4" name="Text 2"/>
          <p:cNvSpPr/>
          <p:nvPr/>
        </p:nvSpPr>
        <p:spPr>
          <a:xfrm>
            <a:off x="685800" y="274320"/>
            <a:ext cx="7772400" cy="548640"/>
          </a:xfrm>
          <a:prstGeom prst="rect">
            <a:avLst/>
          </a:prstGeom>
          <a:noFill/>
          <a:ln/>
        </p:spPr>
        <p:txBody>
          <a:bodyPr wrap="square" rtlCol="0" anchor="b"/>
          <a:lstStyle/>
          <a:p>
            <a:pPr algn="l" indent="0" marL="0">
              <a:buNone/>
            </a:pPr>
            <a:r>
              <a:rPr lang="en-US" sz="3200" b="1" dirty="0">
                <a:solidFill>
                  <a:srgbClr val="111827"/>
                </a:solidFill>
                <a:latin typeface="Calibri" pitchFamily="34" charset="0"/>
                <a:ea typeface="Calibri" pitchFamily="34" charset="-122"/>
                <a:cs typeface="Calibri" pitchFamily="34" charset="-120"/>
              </a:rPr>
              <a:t>まとめ</a:t>
            </a:r>
            <a:endParaRPr lang="en-US" sz="3200" dirty="0"/>
          </a:p>
        </p:txBody>
      </p:sp>
      <p:sp>
        <p:nvSpPr>
          <p:cNvPr id="5" name="Shape 3"/>
          <p:cNvSpPr/>
          <p:nvPr/>
        </p:nvSpPr>
        <p:spPr>
          <a:xfrm>
            <a:off x="685800" y="960120"/>
            <a:ext cx="7772400" cy="0"/>
          </a:xfrm>
          <a:prstGeom prst="line">
            <a:avLst/>
          </a:prstGeom>
          <a:noFill/>
          <a:ln w="9525">
            <a:solidFill>
              <a:srgbClr val="E5E7EB"/>
            </a:solidFill>
            <a:prstDash val="solid"/>
          </a:ln>
        </p:spPr>
      </p:sp>
      <p:sp>
        <p:nvSpPr>
          <p:cNvPr id="6" name="Shape 4"/>
          <p:cNvSpPr/>
          <p:nvPr/>
        </p:nvSpPr>
        <p:spPr>
          <a:xfrm>
            <a:off x="685800" y="1216152"/>
            <a:ext cx="45720" cy="512064"/>
          </a:xfrm>
          <a:prstGeom prst="rect">
            <a:avLst/>
          </a:prstGeom>
          <a:solidFill>
            <a:srgbClr val="2563EB"/>
          </a:solidFill>
          <a:ln/>
        </p:spPr>
      </p:sp>
      <p:sp>
        <p:nvSpPr>
          <p:cNvPr id="7" name="Text 5"/>
          <p:cNvSpPr/>
          <p:nvPr/>
        </p:nvSpPr>
        <p:spPr>
          <a:xfrm>
            <a:off x="868680" y="1143000"/>
            <a:ext cx="7589520" cy="694944"/>
          </a:xfrm>
          <a:prstGeom prst="rect">
            <a:avLst/>
          </a:prstGeom>
          <a:noFill/>
          <a:ln/>
        </p:spPr>
        <p:txBody>
          <a:bodyPr wrap="square" rtlCol="0" anchor="ctr">
            <a:normAutofit/>
          </a:bodyPr>
          <a:lstStyle/>
          <a:p>
            <a:pPr algn="l" indent="0" marL="0">
              <a:buNone/>
            </a:pPr>
            <a:r>
              <a:rPr lang="en-US" sz="1600" dirty="0">
                <a:solidFill>
                  <a:srgbClr val="111827"/>
                </a:solidFill>
                <a:latin typeface="Calibri" pitchFamily="34" charset="0"/>
                <a:ea typeface="Calibri" pitchFamily="34" charset="-122"/>
                <a:cs typeface="Calibri" pitchFamily="34" charset="-120"/>
              </a:rPr>
              <a:t>100万トークン = 新書8冊分。ChatGPTの2.5倍以上の容量</a:t>
            </a:r>
            <a:endParaRPr lang="en-US" sz="1600" dirty="0"/>
          </a:p>
        </p:txBody>
      </p:sp>
      <p:sp>
        <p:nvSpPr>
          <p:cNvPr id="8" name="Shape 6"/>
          <p:cNvSpPr/>
          <p:nvPr/>
        </p:nvSpPr>
        <p:spPr>
          <a:xfrm>
            <a:off x="685800" y="1911096"/>
            <a:ext cx="45720" cy="512064"/>
          </a:xfrm>
          <a:prstGeom prst="rect">
            <a:avLst/>
          </a:prstGeom>
          <a:solidFill>
            <a:srgbClr val="059669"/>
          </a:solidFill>
          <a:ln/>
        </p:spPr>
      </p:sp>
      <p:sp>
        <p:nvSpPr>
          <p:cNvPr id="9" name="Text 7"/>
          <p:cNvSpPr/>
          <p:nvPr/>
        </p:nvSpPr>
        <p:spPr>
          <a:xfrm>
            <a:off x="868680" y="1837944"/>
            <a:ext cx="7589520" cy="694944"/>
          </a:xfrm>
          <a:prstGeom prst="rect">
            <a:avLst/>
          </a:prstGeom>
          <a:noFill/>
          <a:ln/>
        </p:spPr>
        <p:txBody>
          <a:bodyPr wrap="square" rtlCol="0" anchor="ctr">
            <a:normAutofit/>
          </a:bodyPr>
          <a:lstStyle/>
          <a:p>
            <a:pPr algn="l" indent="0" marL="0">
              <a:buNone/>
            </a:pPr>
            <a:r>
              <a:rPr lang="en-US" sz="1600" dirty="0">
                <a:solidFill>
                  <a:srgbClr val="111827"/>
                </a:solidFill>
                <a:latin typeface="Calibri" pitchFamily="34" charset="0"/>
                <a:ea typeface="Calibri" pitchFamily="34" charset="-122"/>
                <a:cs typeface="Calibri" pitchFamily="34" charset="-120"/>
              </a:rPr>
              <a:t>長文分析は要約・比較・構造化の3パターンを押さえる</a:t>
            </a:r>
            <a:endParaRPr lang="en-US" sz="1600" dirty="0"/>
          </a:p>
        </p:txBody>
      </p:sp>
      <p:sp>
        <p:nvSpPr>
          <p:cNvPr id="10" name="Shape 8"/>
          <p:cNvSpPr/>
          <p:nvPr/>
        </p:nvSpPr>
        <p:spPr>
          <a:xfrm>
            <a:off x="685800" y="2606040"/>
            <a:ext cx="45720" cy="512064"/>
          </a:xfrm>
          <a:prstGeom prst="rect">
            <a:avLst/>
          </a:prstGeom>
          <a:solidFill>
            <a:srgbClr val="D97706"/>
          </a:solidFill>
          <a:ln/>
        </p:spPr>
      </p:sp>
      <p:sp>
        <p:nvSpPr>
          <p:cNvPr id="11" name="Text 9"/>
          <p:cNvSpPr/>
          <p:nvPr/>
        </p:nvSpPr>
        <p:spPr>
          <a:xfrm>
            <a:off x="868680" y="2532888"/>
            <a:ext cx="7589520" cy="694944"/>
          </a:xfrm>
          <a:prstGeom prst="rect">
            <a:avLst/>
          </a:prstGeom>
          <a:noFill/>
          <a:ln/>
        </p:spPr>
        <p:txBody>
          <a:bodyPr wrap="square" rtlCol="0" anchor="ctr">
            <a:normAutofit/>
          </a:bodyPr>
          <a:lstStyle/>
          <a:p>
            <a:pPr algn="l" indent="0" marL="0">
              <a:buNone/>
            </a:pPr>
            <a:r>
              <a:rPr lang="en-US" sz="1600" dirty="0">
                <a:solidFill>
                  <a:srgbClr val="111827"/>
                </a:solidFill>
                <a:latin typeface="Calibri" pitchFamily="34" charset="0"/>
                <a:ea typeface="Calibri" pitchFamily="34" charset="-122"/>
                <a:cs typeface="Calibri" pitchFamily="34" charset="-120"/>
              </a:rPr>
              <a:t>Web検索はChatGPTが要約型、Claudeが分析型</a:t>
            </a:r>
            <a:endParaRPr lang="en-US" sz="1600" dirty="0"/>
          </a:p>
        </p:txBody>
      </p:sp>
      <p:sp>
        <p:nvSpPr>
          <p:cNvPr id="12" name="Shape 10"/>
          <p:cNvSpPr/>
          <p:nvPr/>
        </p:nvSpPr>
        <p:spPr>
          <a:xfrm>
            <a:off x="685800" y="3300984"/>
            <a:ext cx="45720" cy="512064"/>
          </a:xfrm>
          <a:prstGeom prst="rect">
            <a:avLst/>
          </a:prstGeom>
          <a:solidFill>
            <a:srgbClr val="DC2626"/>
          </a:solidFill>
          <a:ln/>
        </p:spPr>
      </p:sp>
      <p:sp>
        <p:nvSpPr>
          <p:cNvPr id="13" name="Text 11"/>
          <p:cNvSpPr/>
          <p:nvPr/>
        </p:nvSpPr>
        <p:spPr>
          <a:xfrm>
            <a:off x="868680" y="3227832"/>
            <a:ext cx="7589520" cy="694944"/>
          </a:xfrm>
          <a:prstGeom prst="rect">
            <a:avLst/>
          </a:prstGeom>
          <a:noFill/>
          <a:ln/>
        </p:spPr>
        <p:txBody>
          <a:bodyPr wrap="square" rtlCol="0" anchor="ctr">
            <a:normAutofit/>
          </a:bodyPr>
          <a:lstStyle/>
          <a:p>
            <a:pPr algn="l" indent="0" marL="0">
              <a:buNone/>
            </a:pPr>
            <a:r>
              <a:rPr lang="en-US" sz="1600" dirty="0">
                <a:solidFill>
                  <a:srgbClr val="111827"/>
                </a:solidFill>
                <a:latin typeface="Calibri" pitchFamily="34" charset="0"/>
                <a:ea typeface="Calibri" pitchFamily="34" charset="-122"/>
                <a:cs typeface="Calibri" pitchFamily="34" charset="-120"/>
              </a:rPr>
              <a:t>長文 + Web検索の組み合わせが最大の武器</a:t>
            </a:r>
            <a:endParaRPr lang="en-US" sz="1600" dirty="0"/>
          </a:p>
        </p:txBody>
      </p:sp>
      <p:sp>
        <p:nvSpPr>
          <p:cNvPr id="14" name="Shape 12"/>
          <p:cNvSpPr/>
          <p:nvPr/>
        </p:nvSpPr>
        <p:spPr>
          <a:xfrm>
            <a:off x="685800" y="3995928"/>
            <a:ext cx="45720" cy="512064"/>
          </a:xfrm>
          <a:prstGeom prst="rect">
            <a:avLst/>
          </a:prstGeom>
          <a:solidFill>
            <a:srgbClr val="6B7280"/>
          </a:solidFill>
          <a:ln/>
        </p:spPr>
      </p:sp>
      <p:sp>
        <p:nvSpPr>
          <p:cNvPr id="15" name="Text 13"/>
          <p:cNvSpPr/>
          <p:nvPr/>
        </p:nvSpPr>
        <p:spPr>
          <a:xfrm>
            <a:off x="868680" y="3922776"/>
            <a:ext cx="7589520" cy="694944"/>
          </a:xfrm>
          <a:prstGeom prst="rect">
            <a:avLst/>
          </a:prstGeom>
          <a:noFill/>
          <a:ln/>
        </p:spPr>
        <p:txBody>
          <a:bodyPr wrap="square" rtlCol="0" anchor="ctr">
            <a:normAutofit/>
          </a:bodyPr>
          <a:lstStyle/>
          <a:p>
            <a:pPr algn="l" indent="0" marL="0">
              <a:buNone/>
            </a:pPr>
            <a:r>
              <a:rPr lang="en-US" sz="1600" dirty="0">
                <a:solidFill>
                  <a:srgbClr val="111827"/>
                </a:solidFill>
                <a:latin typeface="Calibri" pitchFamily="34" charset="0"/>
                <a:ea typeface="Calibri" pitchFamily="34" charset="-122"/>
                <a:cs typeface="Calibri" pitchFamily="34" charset="-120"/>
              </a:rPr>
              <a:t>重要データは必ず原文照合。機密情報ポリシーも確認を</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100万トークン長文処理 &amp; Web検索活用</dc:title>
  <dc:subject>PptxGenJS Presentation</dc:subject>
  <dc:creator>LMS Pipeline</dc:creator>
  <cp:lastModifiedBy>LMS Pipeline</cp:lastModifiedBy>
  <cp:revision>1</cp:revision>
  <dcterms:created xsi:type="dcterms:W3CDTF">2026-04-04T09:23:10Z</dcterms:created>
  <dcterms:modified xsi:type="dcterms:W3CDTF">2026-04-04T09:23:10Z</dcterms:modified>
</cp:coreProperties>
</file>