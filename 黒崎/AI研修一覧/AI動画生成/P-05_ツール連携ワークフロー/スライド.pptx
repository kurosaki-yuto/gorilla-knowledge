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9144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ツール連携で動画を量産する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3200400" y="251460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697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AI動画生成 最終回 — ワークフロー＋業務活用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  |  全社員向け実践  |  12分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28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96012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9144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複数のAIツールを連携させた動画制作ワークフローを3つ以上設計できる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164592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116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19659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SNSプラットフォーム別の動画スペックを理解し、最適な形式で出力できる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269748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0632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3017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業務別の活用パターンを把握し、明日から実践できる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28600"/>
            <a:ext cx="146304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286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486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最強ワークフロー① 台本→音声→動画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1005840"/>
            <a:ext cx="1691640" cy="2743200"/>
          </a:xfrm>
          <a:prstGeom prst="rect">
            <a:avLst>
              <a:gd name="adj" fmla="val 2703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3060" y="118872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15544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05840" y="196596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台本を自動生成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「30秒の商品紹介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動画の台本を書いて」</a:t>
            </a:r>
            <a:endParaRPr lang="en-US" sz="14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2103120"/>
            <a:ext cx="274320" cy="2743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788920" y="1005840"/>
            <a:ext cx="1691640" cy="2743200"/>
          </a:xfrm>
          <a:prstGeom prst="rect">
            <a:avLst>
              <a:gd name="adj" fmla="val 2703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7580" y="118872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788920" y="15544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2880360" y="196596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プロ品質の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ナレーション音声を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</a:t>
            </a:r>
            <a:endParaRPr lang="en-US" sz="14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2103120"/>
            <a:ext cx="274320" cy="27432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663440" y="1005840"/>
            <a:ext cx="1691640" cy="2743200"/>
          </a:xfrm>
          <a:prstGeom prst="rect">
            <a:avLst>
              <a:gd name="adj" fmla="val 2703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2100" y="118872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663440" y="15544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Veo3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4754880" y="196596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映像プロンプトで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動画を生成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（無料枠あり）</a:t>
            </a:r>
            <a:endParaRPr lang="en-US" sz="14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2103120"/>
            <a:ext cx="274320" cy="274320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6537960" y="1005840"/>
            <a:ext cx="1691640" cy="2743200"/>
          </a:xfrm>
          <a:prstGeom prst="rect">
            <a:avLst>
              <a:gd name="adj" fmla="val 270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6620" y="1188720"/>
            <a:ext cx="274320" cy="27432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537960" y="15544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完成！</a:t>
            </a:r>
            <a:endParaRPr lang="en-US" sz="1600" dirty="0"/>
          </a:p>
        </p:txBody>
      </p:sp>
      <p:sp>
        <p:nvSpPr>
          <p:cNvPr id="27" name="Text 18"/>
          <p:cNvSpPr/>
          <p:nvPr/>
        </p:nvSpPr>
        <p:spPr>
          <a:xfrm>
            <a:off x="6629400" y="196596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CapCut等で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音声+映像を合成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15分で完了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28600"/>
            <a:ext cx="146304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286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486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最強ワークフロー② 画像→動画→SNS投稿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1005840"/>
            <a:ext cx="1691640" cy="2560320"/>
          </a:xfrm>
          <a:prstGeom prst="rect">
            <a:avLst>
              <a:gd name="adj" fmla="val 2703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3060" y="118872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15544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Midjourney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DALL-E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05840" y="205740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ハイクオリティ画像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を生成</a:t>
            </a:r>
            <a:endParaRPr lang="en-US" sz="14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2011680"/>
            <a:ext cx="274320" cy="2743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788920" y="1005840"/>
            <a:ext cx="1691640" cy="2560320"/>
          </a:xfrm>
          <a:prstGeom prst="rect">
            <a:avLst>
              <a:gd name="adj" fmla="val 2703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7580" y="118872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788920" y="15544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Veo3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2880360" y="205740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「画像から動画」で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静止画を動画化</a:t>
            </a:r>
            <a:endParaRPr lang="en-US" sz="14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2011680"/>
            <a:ext cx="274320" cy="27432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663440" y="1005840"/>
            <a:ext cx="1691640" cy="2560320"/>
          </a:xfrm>
          <a:prstGeom prst="rect">
            <a:avLst>
              <a:gd name="adj" fmla="val 2703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2100" y="118872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663440" y="15544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4754880" y="205740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ナレーションを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重ねる</a:t>
            </a:r>
            <a:endParaRPr lang="en-US" sz="14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2011680"/>
            <a:ext cx="274320" cy="274320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6537960" y="1005840"/>
            <a:ext cx="1691640" cy="2560320"/>
          </a:xfrm>
          <a:prstGeom prst="rect">
            <a:avLst>
              <a:gd name="adj" fmla="val 270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6620" y="1188720"/>
            <a:ext cx="274320" cy="27432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537960" y="15544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SNS投稿</a:t>
            </a:r>
            <a:endParaRPr lang="en-US" sz="1600" dirty="0"/>
          </a:p>
        </p:txBody>
      </p:sp>
      <p:sp>
        <p:nvSpPr>
          <p:cNvPr id="27" name="Text 18"/>
          <p:cNvSpPr/>
          <p:nvPr/>
        </p:nvSpPr>
        <p:spPr>
          <a:xfrm>
            <a:off x="6629400" y="205740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 / TikTok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に投稿</a:t>
            </a:r>
            <a:endParaRPr lang="en-US" sz="14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840480"/>
            <a:ext cx="201168" cy="20116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960120" y="3794760"/>
            <a:ext cx="7452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ポイント：画像生成AIの高品質さ × Veo3の動画化能力 = 最強の組み合わせ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28600"/>
            <a:ext cx="146304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286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486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最強ワークフロー③ 多言語展開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1005840"/>
            <a:ext cx="1691640" cy="2560320"/>
          </a:xfrm>
          <a:prstGeom prst="rect">
            <a:avLst>
              <a:gd name="adj" fmla="val 2703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3060" y="118872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15544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05840" y="1965960"/>
            <a:ext cx="150876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日本語の台本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を作成</a:t>
            </a:r>
            <a:endParaRPr lang="en-US" sz="14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2011680"/>
            <a:ext cx="274320" cy="2743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788920" y="1005840"/>
            <a:ext cx="1691640" cy="2560320"/>
          </a:xfrm>
          <a:prstGeom prst="rect">
            <a:avLst>
              <a:gd name="adj" fmla="val 2703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7580" y="118872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788920" y="15544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HeyGen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2880360" y="1965960"/>
            <a:ext cx="150876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アバター動画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撮影なしで作成</a:t>
            </a:r>
            <a:endParaRPr lang="en-US" sz="14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2011680"/>
            <a:ext cx="274320" cy="27432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663440" y="1005840"/>
            <a:ext cx="1691640" cy="2560320"/>
          </a:xfrm>
          <a:prstGeom prst="rect">
            <a:avLst>
              <a:gd name="adj" fmla="val 2703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2100" y="118872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663440" y="15544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翻訳・展開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4754880" y="1965960"/>
            <a:ext cx="150876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英/中/西など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多言語に自動変換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リップシンク対応</a:t>
            </a:r>
            <a:endParaRPr lang="en-US" sz="14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2011680"/>
            <a:ext cx="274320" cy="274320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6537960" y="1005840"/>
            <a:ext cx="1691640" cy="2560320"/>
          </a:xfrm>
          <a:prstGeom prst="rect">
            <a:avLst>
              <a:gd name="adj" fmla="val 270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6620" y="1188720"/>
            <a:ext cx="274320" cy="27432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537960" y="15544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配信</a:t>
            </a:r>
            <a:endParaRPr lang="en-US" sz="1600" dirty="0"/>
          </a:p>
        </p:txBody>
      </p:sp>
      <p:sp>
        <p:nvSpPr>
          <p:cNvPr id="27" name="Text 18"/>
          <p:cNvSpPr/>
          <p:nvPr/>
        </p:nvSpPr>
        <p:spPr>
          <a:xfrm>
            <a:off x="6629400" y="1965960"/>
            <a:ext cx="150876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グローバル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社内研修・海外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プロモーション</a:t>
            </a:r>
            <a:endParaRPr lang="en-US" sz="1400" dirty="0"/>
          </a:p>
        </p:txBody>
      </p:sp>
      <p:sp>
        <p:nvSpPr>
          <p:cNvPr id="28" name="Shape 19"/>
          <p:cNvSpPr/>
          <p:nvPr/>
        </p:nvSpPr>
        <p:spPr>
          <a:xfrm>
            <a:off x="685800" y="3794760"/>
            <a:ext cx="4114800" cy="320040"/>
          </a:xfrm>
          <a:prstGeom prst="rect">
            <a:avLst>
              <a:gd name="adj" fmla="val 14286"/>
            </a:avLst>
          </a:prstGeom>
          <a:solidFill>
            <a:srgbClr val="D1FAE5"/>
          </a:solidFill>
          <a:ln/>
        </p:spPr>
      </p:sp>
      <p:sp>
        <p:nvSpPr>
          <p:cNvPr id="29" name="Text 20"/>
          <p:cNvSpPr/>
          <p:nvPr/>
        </p:nvSpPr>
        <p:spPr>
          <a:xfrm>
            <a:off x="685800" y="3794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1本の動画 → 5か国語・10か国語に展開可能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28600"/>
            <a:ext cx="91440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286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486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SNSプラットフォーム別 動画スペック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00100" y="914400"/>
            <a:ext cx="1783080" cy="3108960"/>
          </a:xfrm>
          <a:prstGeom prst="rect">
            <a:avLst>
              <a:gd name="adj" fmla="val 2564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0100" y="10515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43000" y="1600200"/>
            <a:ext cx="1097280" cy="320040"/>
          </a:xfrm>
          <a:prstGeom prst="rect">
            <a:avLst>
              <a:gd name="adj" fmla="val 11429"/>
            </a:avLst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16002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9:16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0100" y="20574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15〜90秒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74420" y="2468880"/>
            <a:ext cx="1234440" cy="0"/>
          </a:xfrm>
          <a:prstGeom prst="line">
            <a:avLst/>
          </a:prstGeom>
          <a:noFill/>
          <a:ln w="635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1540" y="260604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冒頭3秒で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インパクト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20340" y="914400"/>
            <a:ext cx="1783080" cy="3108960"/>
          </a:xfrm>
          <a:prstGeom prst="rect">
            <a:avLst>
              <a:gd name="adj" fmla="val 2564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20340" y="10515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063240" y="1600200"/>
            <a:ext cx="1097280" cy="320040"/>
          </a:xfrm>
          <a:prstGeom prst="rect">
            <a:avLst>
              <a:gd name="adj" fmla="val 11429"/>
            </a:avLst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3063240" y="16002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9:16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20340" y="20574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15秒〜3分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994660" y="2468880"/>
            <a:ext cx="1234440" cy="0"/>
          </a:xfrm>
          <a:prstGeom prst="line">
            <a:avLst/>
          </a:prstGeom>
          <a:noFill/>
          <a:ln w="635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11780" y="260604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テンポ重視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トレンド音楽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40580" y="914400"/>
            <a:ext cx="1783080" cy="3108960"/>
          </a:xfrm>
          <a:prstGeom prst="rect">
            <a:avLst>
              <a:gd name="adj" fmla="val 2564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40580" y="10515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983480" y="1600200"/>
            <a:ext cx="1097280" cy="320040"/>
          </a:xfrm>
          <a:prstGeom prst="rect">
            <a:avLst>
              <a:gd name="adj" fmla="val 11429"/>
            </a:avLst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16002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9:16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0580" y="20574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最大60秒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914900" y="2468880"/>
            <a:ext cx="1234440" cy="0"/>
          </a:xfrm>
          <a:prstGeom prst="line">
            <a:avLst/>
          </a:prstGeom>
          <a:noFill/>
          <a:ln w="635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2020" y="260604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タイトルに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キーワード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560820" y="914400"/>
            <a:ext cx="1783080" cy="3108960"/>
          </a:xfrm>
          <a:prstGeom prst="rect">
            <a:avLst>
              <a:gd name="adj" fmla="val 2564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60820" y="10515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（横型）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903720" y="1600200"/>
            <a:ext cx="1097280" cy="320040"/>
          </a:xfrm>
          <a:prstGeom prst="rect">
            <a:avLst>
              <a:gd name="adj" fmla="val 11429"/>
            </a:avLst>
          </a:prstGeom>
          <a:solidFill>
            <a:srgbClr val="D97706"/>
          </a:solidFill>
          <a:ln/>
        </p:spPr>
      </p:sp>
      <p:sp>
        <p:nvSpPr>
          <p:cNvPr id="33" name="Text 31"/>
          <p:cNvSpPr/>
          <p:nvPr/>
        </p:nvSpPr>
        <p:spPr>
          <a:xfrm>
            <a:off x="6903720" y="16002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16:9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560820" y="20574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8〜15分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835140" y="2468880"/>
            <a:ext cx="1234440" cy="0"/>
          </a:xfrm>
          <a:prstGeom prst="line">
            <a:avLst/>
          </a:prstGeom>
          <a:noFill/>
          <a:ln w="635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52260" y="260604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広告収益に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有利な尺</a:t>
            </a:r>
            <a:endParaRPr lang="en-US" sz="1400" dirty="0"/>
          </a:p>
        </p:txBody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160520"/>
            <a:ext cx="182880" cy="18288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941832" y="41148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Veo3で生成時にアスペクト比を指定しておくと後の編集が楽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28600"/>
            <a:ext cx="1243584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28600"/>
            <a:ext cx="124358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486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週5本のSNS動画を30分で作る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48740" y="91440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8680" y="1463040"/>
            <a:ext cx="1371600" cy="1828800"/>
          </a:xfrm>
          <a:prstGeom prst="rect">
            <a:avLst>
              <a:gd name="adj" fmla="val 3333"/>
            </a:avLst>
          </a:prstGeom>
          <a:solidFill>
            <a:srgbClr val="DBEAFE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55448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ChatGPTで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台本5本生成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143000" y="2606040"/>
            <a:ext cx="822960" cy="274320"/>
          </a:xfrm>
          <a:prstGeom prst="rect">
            <a:avLst>
              <a:gd name="adj" fmla="val 13333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26060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10分</a:t>
            </a:r>
            <a:endParaRPr lang="en-US" sz="12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2011680"/>
            <a:ext cx="228600" cy="2286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2857500" y="91440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火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2377440" y="1463040"/>
            <a:ext cx="1371600" cy="1828800"/>
          </a:xfrm>
          <a:prstGeom prst="rect">
            <a:avLst>
              <a:gd name="adj" fmla="val 3333"/>
            </a:avLst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423160" y="155448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ElevenLabsで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ナレーション5本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2651760" y="2606040"/>
            <a:ext cx="822960" cy="274320"/>
          </a:xfrm>
          <a:prstGeom prst="rect">
            <a:avLst>
              <a:gd name="adj" fmla="val 13333"/>
            </a:avLst>
          </a:prstGeom>
          <a:solidFill>
            <a:srgbClr val="7C3AED"/>
          </a:solidFill>
          <a:ln/>
        </p:spPr>
      </p:sp>
      <p:sp>
        <p:nvSpPr>
          <p:cNvPr id="19" name="Text 16"/>
          <p:cNvSpPr/>
          <p:nvPr/>
        </p:nvSpPr>
        <p:spPr>
          <a:xfrm>
            <a:off x="2651760" y="26060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5分</a:t>
            </a:r>
            <a:endParaRPr lang="en-US" sz="12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2011680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66260" y="914400"/>
            <a:ext cx="411480" cy="411480"/>
          </a:xfrm>
          <a:prstGeom prst="ellipse">
            <a:avLst/>
          </a:prstGeom>
          <a:solidFill>
            <a:srgbClr val="059669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水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3886200" y="1463040"/>
            <a:ext cx="1371600" cy="1828800"/>
          </a:xfrm>
          <a:prstGeom prst="rect">
            <a:avLst>
              <a:gd name="adj" fmla="val 3333"/>
            </a:avLst>
          </a:prstGeom>
          <a:solidFill>
            <a:srgbClr val="D1FAE5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931920" y="155448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Veo3で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動画5本生成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4160520" y="2606040"/>
            <a:ext cx="822960" cy="274320"/>
          </a:xfrm>
          <a:prstGeom prst="rect">
            <a:avLst>
              <a:gd name="adj" fmla="val 13333"/>
            </a:avLst>
          </a:prstGeom>
          <a:solidFill>
            <a:srgbClr val="059669"/>
          </a:solidFill>
          <a:ln/>
        </p:spPr>
      </p:sp>
      <p:sp>
        <p:nvSpPr>
          <p:cNvPr id="25" name="Text 21"/>
          <p:cNvSpPr/>
          <p:nvPr/>
        </p:nvSpPr>
        <p:spPr>
          <a:xfrm>
            <a:off x="4160520" y="26060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10分</a:t>
            </a:r>
            <a:endParaRPr lang="en-US" sz="12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2011680"/>
            <a:ext cx="228600" cy="2286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875020" y="914400"/>
            <a:ext cx="411480" cy="411480"/>
          </a:xfrm>
          <a:prstGeom prst="ellipse">
            <a:avLst/>
          </a:prstGeom>
          <a:solidFill>
            <a:srgbClr val="D97706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木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5394960" y="1463040"/>
            <a:ext cx="1371600" cy="1828800"/>
          </a:xfrm>
          <a:prstGeom prst="rect">
            <a:avLst>
              <a:gd name="adj" fmla="val 3333"/>
            </a:avLst>
          </a:prstGeom>
          <a:solidFill>
            <a:srgbClr val="FEF3C7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440680" y="155448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最終チェック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微調整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5669280" y="2606040"/>
            <a:ext cx="822960" cy="274320"/>
          </a:xfrm>
          <a:prstGeom prst="rect">
            <a:avLst>
              <a:gd name="adj" fmla="val 13333"/>
            </a:avLst>
          </a:prstGeom>
          <a:solidFill>
            <a:srgbClr val="D97706"/>
          </a:solidFill>
          <a:ln/>
        </p:spPr>
      </p:sp>
      <p:sp>
        <p:nvSpPr>
          <p:cNvPr id="31" name="Text 26"/>
          <p:cNvSpPr/>
          <p:nvPr/>
        </p:nvSpPr>
        <p:spPr>
          <a:xfrm>
            <a:off x="5669280" y="26060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5分</a:t>
            </a:r>
            <a:endParaRPr lang="en-US" sz="12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011680"/>
            <a:ext cx="228600" cy="2286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383780" y="914400"/>
            <a:ext cx="411480" cy="411480"/>
          </a:xfrm>
          <a:prstGeom prst="ellipse">
            <a:avLst/>
          </a:prstGeom>
          <a:solidFill>
            <a:srgbClr val="DC2626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</a:t>
            </a:r>
            <a:endParaRPr lang="en-US" sz="1600" dirty="0"/>
          </a:p>
        </p:txBody>
      </p:sp>
      <p:sp>
        <p:nvSpPr>
          <p:cNvPr id="34" name="Shape 28"/>
          <p:cNvSpPr/>
          <p:nvPr/>
        </p:nvSpPr>
        <p:spPr>
          <a:xfrm>
            <a:off x="6903720" y="1463040"/>
            <a:ext cx="1371600" cy="1828800"/>
          </a:xfrm>
          <a:prstGeom prst="rect">
            <a:avLst>
              <a:gd name="adj" fmla="val 3333"/>
            </a:avLst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6949440" y="155448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順次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投稿開始</a:t>
            </a:r>
            <a:endParaRPr lang="en-US" sz="1400" dirty="0"/>
          </a:p>
        </p:txBody>
      </p:sp>
      <p:sp>
        <p:nvSpPr>
          <p:cNvPr id="36" name="Shape 30"/>
          <p:cNvSpPr/>
          <p:nvPr/>
        </p:nvSpPr>
        <p:spPr>
          <a:xfrm>
            <a:off x="685800" y="3566160"/>
            <a:ext cx="7772400" cy="502920"/>
          </a:xfrm>
          <a:prstGeom prst="rect">
            <a:avLst>
              <a:gd name="adj" fmla="val 9091"/>
            </a:avLst>
          </a:prstGeom>
          <a:solidFill>
            <a:srgbClr val="DBEAFE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630168"/>
            <a:ext cx="201168" cy="20116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1143000" y="356616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ポイント：「バッチ処理」— 1本ずつではなく、工程ごとにまとめて処理する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28600"/>
            <a:ext cx="1353312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28600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486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業務別 活用パターン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00100" y="914400"/>
            <a:ext cx="1783080" cy="2926080"/>
          </a:xfrm>
          <a:prstGeom prst="rect">
            <a:avLst>
              <a:gd name="adj" fmla="val 2564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09728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0100" y="14630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マーケティング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82980" y="1920240"/>
            <a:ext cx="1417320" cy="0"/>
          </a:xfrm>
          <a:prstGeom prst="line">
            <a:avLst/>
          </a:prstGeom>
          <a:noFill/>
          <a:ln w="6350">
            <a:solidFill>
              <a:srgbClr val="2563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1540" y="2011680"/>
            <a:ext cx="16002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商品紹介動画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SNS広告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キャンペーン動画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720340" y="914400"/>
            <a:ext cx="1783080" cy="2926080"/>
          </a:xfrm>
          <a:prstGeom prst="rect">
            <a:avLst>
              <a:gd name="adj" fmla="val 2564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09728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20340" y="14630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2903220" y="1920240"/>
            <a:ext cx="1417320" cy="0"/>
          </a:xfrm>
          <a:prstGeom prst="line">
            <a:avLst/>
          </a:prstGeom>
          <a:noFill/>
          <a:ln w="6350">
            <a:solidFill>
              <a:srgbClr val="7C3AE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811780" y="2011680"/>
            <a:ext cx="16002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提案資料の動画化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商品デモ動画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パーソナライズドメッセージ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4640580" y="914400"/>
            <a:ext cx="1783080" cy="2926080"/>
          </a:xfrm>
          <a:prstGeom prst="rect">
            <a:avLst>
              <a:gd name="adj" fmla="val 2564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09728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640580" y="14630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人事・研修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4823460" y="1920240"/>
            <a:ext cx="1417320" cy="0"/>
          </a:xfrm>
          <a:prstGeom prst="line">
            <a:avLst/>
          </a:prstGeom>
          <a:noFill/>
          <a:ln w="6350">
            <a:solidFill>
              <a:srgbClr val="059669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732020" y="2011680"/>
            <a:ext cx="16002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オンボーディング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コンプライアンス研修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業務マニュアル動画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6560820" y="914400"/>
            <a:ext cx="1783080" cy="2926080"/>
          </a:xfrm>
          <a:prstGeom prst="rect">
            <a:avLst>
              <a:gd name="adj" fmla="val 2564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097280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560820" y="14630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カスタマー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サポート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6743700" y="1920240"/>
            <a:ext cx="1417320" cy="0"/>
          </a:xfrm>
          <a:prstGeom prst="line">
            <a:avLst/>
          </a:prstGeom>
          <a:noFill/>
          <a:ln w="6350">
            <a:solidFill>
              <a:srgbClr val="D97706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652260" y="2011680"/>
            <a:ext cx="16002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FAQ動画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トラブルシューティング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使い方チュートリアル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685800" y="4023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共通：これまで外注していた動画を社内で素早く作れるようになる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28600"/>
            <a:ext cx="804672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2860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486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コスト比較 — 従来 vs AI動画制作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914400"/>
            <a:ext cx="3474720" cy="411480"/>
          </a:xfrm>
          <a:prstGeom prst="rect">
            <a:avLst>
              <a:gd name="adj" fmla="val 11111"/>
            </a:avLst>
          </a:prstGeom>
          <a:solidFill>
            <a:srgbClr val="FEE2E2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9144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従来の動画制作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1463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外注費：10〜50万円 / 本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1874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納期：2週間〜1か月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286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月4本 → 年間 480〜2,400万円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00600" y="914400"/>
            <a:ext cx="3474720" cy="411480"/>
          </a:xfrm>
          <a:prstGeom prst="rect">
            <a:avLst>
              <a:gd name="adj" fmla="val 11111"/>
            </a:avLst>
          </a:prstGeom>
          <a:solidFill>
            <a:srgbClr val="D1FAE5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9144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AI動画制作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92040" y="1463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ツール月額：約1万円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1874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制作時間：15〜30分 / 本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286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月20本以上 → 年間 約12万円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286000" y="3017520"/>
            <a:ext cx="4572000" cy="594360"/>
          </a:xfrm>
          <a:prstGeom prst="rect">
            <a:avLst>
              <a:gd name="adj" fmla="val 12308"/>
            </a:avLst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2286000" y="301752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最大 99% コスト削減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85800" y="37947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SNS動画や社内用途なら十分な品質。プロ向け映像は外注併用を推奨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28600"/>
            <a:ext cx="804672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2860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486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よくある失敗と対策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14400"/>
            <a:ext cx="7772400" cy="960120"/>
          </a:xfrm>
          <a:prstGeom prst="rect">
            <a:avLst>
              <a:gd name="adj" fmla="val 4762"/>
            </a:avLst>
          </a:prstGeom>
          <a:solidFill>
            <a:srgbClr val="FEE2E2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1051560"/>
            <a:ext cx="2011680" cy="320040"/>
          </a:xfrm>
          <a:prstGeom prst="rect">
            <a:avLst>
              <a:gd name="adj" fmla="val 11429"/>
            </a:avLst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051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品質が低い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0" y="1143000"/>
            <a:ext cx="228600" cy="2286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520440" y="96012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プロンプトを具体的に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「シネマティック、スローモーション、4K」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85800" y="2057400"/>
            <a:ext cx="7772400" cy="960120"/>
          </a:xfrm>
          <a:prstGeom prst="rect">
            <a:avLst>
              <a:gd name="adj" fmla="val 4762"/>
            </a:avLst>
          </a:prstGeom>
          <a:solidFill>
            <a:srgbClr val="FEF3C7"/>
          </a:solidFill>
          <a:ln/>
        </p:spPr>
      </p:sp>
      <p:sp>
        <p:nvSpPr>
          <p:cNvPr id="15" name="Shape 12"/>
          <p:cNvSpPr/>
          <p:nvPr/>
        </p:nvSpPr>
        <p:spPr>
          <a:xfrm>
            <a:off x="822960" y="2194560"/>
            <a:ext cx="2011680" cy="320040"/>
          </a:xfrm>
          <a:prstGeom prst="rect">
            <a:avLst>
              <a:gd name="adj" fmla="val 11429"/>
            </a:avLst>
          </a:prstGeom>
          <a:solidFill>
            <a:srgbClr val="D97706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2194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著作権問題</a:t>
            </a:r>
            <a:endParaRPr lang="en-US" sz="14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2286000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520440" y="210312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各ツールの利用規約を確認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商用利用時は特に注意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85800" y="3200400"/>
            <a:ext cx="7772400" cy="960120"/>
          </a:xfrm>
          <a:prstGeom prst="rect">
            <a:avLst>
              <a:gd name="adj" fmla="val 4762"/>
            </a:avLst>
          </a:prstGeom>
          <a:solidFill>
            <a:srgbClr val="EDE9FE"/>
          </a:solidFill>
          <a:ln/>
        </p:spPr>
      </p:sp>
      <p:sp>
        <p:nvSpPr>
          <p:cNvPr id="20" name="Shape 16"/>
          <p:cNvSpPr/>
          <p:nvPr/>
        </p:nvSpPr>
        <p:spPr>
          <a:xfrm>
            <a:off x="822960" y="3337560"/>
            <a:ext cx="2011680" cy="320040"/>
          </a:xfrm>
          <a:prstGeom prst="rect">
            <a:avLst>
              <a:gd name="adj" fmla="val 11429"/>
            </a:avLst>
          </a:prstGeom>
          <a:solidFill>
            <a:srgbClr val="7C3AED"/>
          </a:solidFill>
          <a:ln/>
        </p:spPr>
      </p:sp>
      <p:sp>
        <p:nvSpPr>
          <p:cNvPr id="21" name="Text 17"/>
          <p:cNvSpPr/>
          <p:nvPr/>
        </p:nvSpPr>
        <p:spPr>
          <a:xfrm>
            <a:off x="822960" y="3337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ブランド一貫性</a:t>
            </a:r>
            <a:endParaRPr lang="en-US" sz="14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3429000"/>
            <a:ext cx="228600" cy="2286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520440" y="324612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テンプレート+スタイルガイドを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チームで共有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28600"/>
            <a:ext cx="1133856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28600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486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 — 今日から始める3ステップ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45820" y="868680"/>
            <a:ext cx="1417320" cy="640080"/>
          </a:xfrm>
          <a:prstGeom prst="rect">
            <a:avLst>
              <a:gd name="adj" fmla="val 5714"/>
            </a:avLst>
          </a:prstGeom>
          <a:solidFill>
            <a:srgbClr val="F3F4F6"/>
          </a:solidFill>
          <a:ln/>
        </p:spPr>
      </p:sp>
      <p:sp>
        <p:nvSpPr>
          <p:cNvPr id="10" name="Text 8"/>
          <p:cNvSpPr/>
          <p:nvPr/>
        </p:nvSpPr>
        <p:spPr>
          <a:xfrm>
            <a:off x="845820" y="86868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45820" y="111556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AI動画の可能性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54580" y="868680"/>
            <a:ext cx="1417320" cy="640080"/>
          </a:xfrm>
          <a:prstGeom prst="rect">
            <a:avLst>
              <a:gd name="adj" fmla="val 5714"/>
            </a:avLst>
          </a:prstGeom>
          <a:solidFill>
            <a:srgbClr val="F3F4F6"/>
          </a:solidFill>
          <a:ln/>
        </p:spPr>
      </p:sp>
      <p:sp>
        <p:nvSpPr>
          <p:cNvPr id="13" name="Text 11"/>
          <p:cNvSpPr/>
          <p:nvPr/>
        </p:nvSpPr>
        <p:spPr>
          <a:xfrm>
            <a:off x="2354580" y="86868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54580" y="111556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Veo3 実践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63340" y="868680"/>
            <a:ext cx="1417320" cy="640080"/>
          </a:xfrm>
          <a:prstGeom prst="rect">
            <a:avLst>
              <a:gd name="adj" fmla="val 5714"/>
            </a:avLst>
          </a:prstGeom>
          <a:solidFill>
            <a:srgbClr val="F3F4F6"/>
          </a:solidFill>
          <a:ln/>
        </p:spPr>
      </p:sp>
      <p:sp>
        <p:nvSpPr>
          <p:cNvPr id="16" name="Text 14"/>
          <p:cNvSpPr/>
          <p:nvPr/>
        </p:nvSpPr>
        <p:spPr>
          <a:xfrm>
            <a:off x="3863340" y="86868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63340" y="111556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 &amp; HeyGen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72100" y="868680"/>
            <a:ext cx="1417320" cy="640080"/>
          </a:xfrm>
          <a:prstGeom prst="rect">
            <a:avLst>
              <a:gd name="adj" fmla="val 5714"/>
            </a:avLst>
          </a:prstGeom>
          <a:solidFill>
            <a:srgbClr val="F3F4F6"/>
          </a:solidFill>
          <a:ln/>
        </p:spPr>
      </p:sp>
      <p:sp>
        <p:nvSpPr>
          <p:cNvPr id="19" name="Text 17"/>
          <p:cNvSpPr/>
          <p:nvPr/>
        </p:nvSpPr>
        <p:spPr>
          <a:xfrm>
            <a:off x="5372100" y="86868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72100" y="111556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80860" y="868680"/>
            <a:ext cx="1417320" cy="640080"/>
          </a:xfrm>
          <a:prstGeom prst="rect">
            <a:avLst>
              <a:gd name="adj" fmla="val 5714"/>
            </a:avLst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6880860" y="86868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80860" y="111556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ワークフロー＋業務活用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0120" y="187452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600200" y="18288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+ Veo3 で1本動画を作ってみる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60120" y="2468880"/>
            <a:ext cx="72237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26974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600200" y="26517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テンプレートを作って週3本の量産体制を整える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60120" y="3291840"/>
            <a:ext cx="72237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35204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600200" y="34747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チームに共有して組織全体のAI動画活用を推進する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85800" y="4160520"/>
            <a:ext cx="3200400" cy="320040"/>
          </a:xfrm>
          <a:prstGeom prst="rect">
            <a:avLst>
              <a:gd name="adj" fmla="val 14286"/>
            </a:avLst>
          </a:prstGeom>
          <a:solidFill>
            <a:srgbClr val="D1FAE5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4160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まずは1本、今日中に作ってみよう！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9144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確認テストへ進む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3200400" y="251460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697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AI動画生成講座 全5回 修了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  |  ツール連携ワークフロー  |  12分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P-05: ツール連携ワークフロー＋業務で使い倒す</dc:title>
  <dc:subject>PptxGenJS Presentation</dc:subject>
  <dc:creator>Gorilla Knowledge</dc:creator>
  <cp:lastModifiedBy>Gorilla Knowledge</cp:lastModifiedBy>
  <cp:revision>1</cp:revision>
  <dcterms:created xsi:type="dcterms:W3CDTF">2026-04-03T21:40:04Z</dcterms:created>
  <dcterms:modified xsi:type="dcterms:W3CDTF">2026-04-03T21:40:04Z</dcterms:modified>
</cp:coreProperties>
</file>