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82296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Runway＋HeyGenで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動画の幅を広げる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200400" y="251460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プロ品質のAI動画＆AIアバターを使いこなす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   |   AI動画生成講座   |   12分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1005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Gen-4.5でImage-to-Video変換ができる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173736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574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20116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HeyGenでAIアバター動画を作成できる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7432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Veo3との使い分けを判断できる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91440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Runwayとは — Gen-4.5の特徴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60120"/>
            <a:ext cx="3200400" cy="320040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960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1247 — ベンチマークトップ  |  月$12〜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1554480"/>
            <a:ext cx="2423160" cy="22860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73736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85800" y="2286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キャラクター一貫性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26517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同一人物が動画全体で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一貫した見た目を維持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91840" y="1554480"/>
            <a:ext cx="2423160" cy="2286000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73736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91840" y="2286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物理シミュレーション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429000" y="26517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水・布・重力など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物理法則に忠実な動き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897880" y="1554480"/>
            <a:ext cx="2423160" cy="228600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73736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897880" y="2286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映画品質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035040" y="26517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ライティング・被写界深度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プロの撮影に近い仕上がり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85800" y="4023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Alephエディタ  ·  音声生成  ·  Act-Two モーションキャプチャ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0972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Runway実践：Image-to-Video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1645920" cy="146304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09728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1645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画像生成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4688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3017520" y="1005840"/>
            <a:ext cx="1645920" cy="146304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09728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017520" y="1645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アップロード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292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5577840" y="1005840"/>
            <a:ext cx="1645920" cy="146304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9728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577840" y="1645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動き指定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75895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7955280" y="1005840"/>
            <a:ext cx="1645920" cy="146304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109728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955280" y="1645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高品質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動画完成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85800" y="2743200"/>
            <a:ext cx="7772400" cy="1097280"/>
          </a:xfrm>
          <a:prstGeom prst="roundRect">
            <a:avLst>
              <a:gd name="adj" fmla="val 6667"/>
            </a:avLst>
          </a:prstGeom>
          <a:solidFill>
            <a:srgbClr val="DBEAFE"/>
          </a:solidFill>
          <a:ln/>
        </p:spPr>
      </p:sp>
      <p:sp>
        <p:nvSpPr>
          <p:cNvPr id="25" name="Text 19"/>
          <p:cNvSpPr/>
          <p:nvPr/>
        </p:nvSpPr>
        <p:spPr>
          <a:xfrm>
            <a:off x="868680" y="2788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パワーワークフロー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868680" y="310896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Midjourneyの美しいアート性 ＋ Runwayの滑らかな動き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 静止画の世界観をそのまま動かせる。テキストから直接生成するより制御しやすい。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73152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Runwayプロンプト術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60120"/>
            <a:ext cx="2423160" cy="2560320"/>
          </a:xfrm>
          <a:prstGeom prst="roundRect">
            <a:avLst>
              <a:gd name="adj" fmla="val 3774"/>
            </a:avLst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05156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15544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カメラワーク指示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196596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zoom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dolly shot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around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crane up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91840" y="960120"/>
            <a:ext cx="2423160" cy="2560320"/>
          </a:xfrm>
          <a:prstGeom prst="roundRect">
            <a:avLst>
              <a:gd name="adj" fmla="val 3774"/>
            </a:avLst>
          </a:prstGeom>
          <a:solidFill>
            <a:srgbClr val="FEF3C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0515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91840" y="15544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動きの指定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474720" y="196596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slowly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 blowing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flowing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falling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897880" y="960120"/>
            <a:ext cx="2423160" cy="2560320"/>
          </a:xfrm>
          <a:prstGeom prst="roundRect">
            <a:avLst>
              <a:gd name="adj" fmla="val 3774"/>
            </a:avLst>
          </a:prstGeom>
          <a:solidFill>
            <a:srgbClr val="D1FAE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05156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897880" y="15544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雰囲気の制御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080760" y="196596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 lighting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hour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moody atmosphere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focus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85800" y="3657600"/>
            <a:ext cx="7772400" cy="64008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/>
        </p:spPr>
      </p:sp>
      <p:sp>
        <p:nvSpPr>
          <p:cNvPr id="22" name="Text 17"/>
          <p:cNvSpPr/>
          <p:nvPr/>
        </p:nvSpPr>
        <p:spPr>
          <a:xfrm>
            <a:off x="822960" y="36576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 "Slow zoom in on a woman, hair blowing in the wind, cinematic golden hour lighting"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00584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Veo3 vs Runway 使い分けガイド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2240280" cy="3657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005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71800" y="1005840"/>
            <a:ext cx="3154680" cy="3657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10"/>
          <p:cNvSpPr/>
          <p:nvPr/>
        </p:nvSpPr>
        <p:spPr>
          <a:xfrm>
            <a:off x="2971800" y="10058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1005840"/>
            <a:ext cx="3154680" cy="3657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0058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Gen-4.5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1417320"/>
            <a:ext cx="22402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141732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料金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71800" y="1417320"/>
            <a:ext cx="31546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63240" y="141732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無料（Googleアカウント）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1417320"/>
            <a:ext cx="31546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41732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月$12〜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1828800"/>
            <a:ext cx="224028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182880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971800" y="1828800"/>
            <a:ext cx="315468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63240" y="182880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 → 動画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1828800"/>
            <a:ext cx="315468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182880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 → 動画（テキストも可）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2240280"/>
            <a:ext cx="22402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224028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971800" y="2240280"/>
            <a:ext cx="31546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63240" y="224028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音声付き生成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72200" y="2240280"/>
            <a:ext cx="31546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224028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別途音声追加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5800" y="2651760"/>
            <a:ext cx="224028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265176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制御力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971800" y="2651760"/>
            <a:ext cx="315468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63240" y="265176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シンプル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72200" y="2651760"/>
            <a:ext cx="315468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265176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カメラ・動き細かく制御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85800" y="3063240"/>
            <a:ext cx="22402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306324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971800" y="3063240"/>
            <a:ext cx="31546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63240" y="306324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良い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172200" y="3063240"/>
            <a:ext cx="31546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63640" y="306324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プロ品質（映画レベル）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85800" y="3474720"/>
            <a:ext cx="224028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" y="347472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最適用途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971800" y="3474720"/>
            <a:ext cx="315468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63240" y="347472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試作・アイデア出し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172200" y="3474720"/>
            <a:ext cx="315468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63640" y="347472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本番映像・高品質作品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85800" y="3840480"/>
            <a:ext cx="7772400" cy="4572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/>
        </p:spPr>
      </p:sp>
      <p:sp>
        <p:nvSpPr>
          <p:cNvPr id="52" name="Text 50"/>
          <p:cNvSpPr/>
          <p:nvPr/>
        </p:nvSpPr>
        <p:spPr>
          <a:xfrm>
            <a:off x="822960" y="38404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Veo3で試作 → Runwayで仕上げ。組み合わせが最強のワークフロー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91440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HEYGEN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HeyGenとは — AIアバター動画の革命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60120"/>
            <a:ext cx="3657600" cy="320040"/>
          </a:xfrm>
          <a:prstGeom prst="rect">
            <a:avLst>
              <a:gd name="adj" fmla="val 14286"/>
            </a:avLst>
          </a:prstGeom>
          <a:solidFill>
            <a:srgbClr val="EDE9F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960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テキスト→完成動画を4分で  |  月$29〜 (Creator)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1554480"/>
            <a:ext cx="2423160" cy="228600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73736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85800" y="2286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IV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26517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フルボディモーション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手のジェスチャー・微表情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91840" y="1554480"/>
            <a:ext cx="2423160" cy="22860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73736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91840" y="2286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175言語対応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429000" y="26517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多言語自動翻訳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リップシンク同期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897880" y="1554480"/>
            <a:ext cx="2423160" cy="228600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73736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897880" y="2286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Agent 2.0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035040" y="26517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台本入力だけで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4分で完成動画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85800" y="4023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音声クローン対応 — 自分の声でアバターを話させることも可能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0972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HeyGen実践：アバター動画を作る手順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1828800" cy="256032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10972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69164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2240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アバター選択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7240" y="26060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100種類以上のプリセット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またはカスタム作成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514600" y="19202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651760" y="1005840"/>
            <a:ext cx="1828800" cy="256032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91840" y="10972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69164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651760" y="2240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台本入力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2743200" y="26060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話させたいテキストを入力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1シーン300文字が最適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480560" y="19202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4617720" y="1005840"/>
            <a:ext cx="1828800" cy="256032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257800" y="10972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69164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617720" y="2240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声・言語設定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4709160" y="26060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175言語対応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音声クローンも可能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446520" y="19202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6583680" y="1005840"/>
            <a:ext cx="1828800" cy="256032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223760" y="10972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691640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583680" y="2240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動画生成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6675120" y="26060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数分で完成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リアルな表情・ジェスチャー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685800" y="3749040"/>
            <a:ext cx="7772400" cy="45720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/>
        </p:spPr>
      </p:sp>
      <p:sp>
        <p:nvSpPr>
          <p:cNvPr id="33" name="Text 27"/>
          <p:cNvSpPr/>
          <p:nvPr/>
        </p:nvSpPr>
        <p:spPr>
          <a:xfrm>
            <a:off x="822960" y="3749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撮影スタジオ不要 · 出演者不要 · PCひとつでプロ動画が完成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91440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HeyGen多言語展開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23444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1783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日本語動画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2057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元の動画を1本作成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5603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3200400" y="109728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EDE9F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23444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00400" y="1783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HeyGen翻訳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200400" y="2057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ワンクリックで変換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3035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Shape 15"/>
          <p:cNvSpPr/>
          <p:nvPr/>
        </p:nvSpPr>
        <p:spPr>
          <a:xfrm>
            <a:off x="5943600" y="1097280"/>
            <a:ext cx="2286000" cy="411480"/>
          </a:xfrm>
          <a:prstGeom prst="roundRect">
            <a:avLst>
              <a:gd name="adj" fmla="val 11111"/>
            </a:avLst>
          </a:prstGeom>
          <a:solidFill>
            <a:srgbClr val="D1FAE5"/>
          </a:solidFill>
          <a:ln/>
        </p:spPr>
      </p:sp>
      <p:sp>
        <p:nvSpPr>
          <p:cNvPr id="20" name="Text 16"/>
          <p:cNvSpPr/>
          <p:nvPr/>
        </p:nvSpPr>
        <p:spPr>
          <a:xfrm>
            <a:off x="5943600" y="1097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5943600" y="1600200"/>
            <a:ext cx="2286000" cy="411480"/>
          </a:xfrm>
          <a:prstGeom prst="roundRect">
            <a:avLst>
              <a:gd name="adj" fmla="val 11111"/>
            </a:avLst>
          </a:prstGeom>
          <a:solidFill>
            <a:srgbClr val="D1FAE5"/>
          </a:solidFill>
          <a:ln/>
        </p:spPr>
      </p:sp>
      <p:sp>
        <p:nvSpPr>
          <p:cNvPr id="22" name="Text 18"/>
          <p:cNvSpPr/>
          <p:nvPr/>
        </p:nvSpPr>
        <p:spPr>
          <a:xfrm>
            <a:off x="5943600" y="1600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943600" y="2103120"/>
            <a:ext cx="2286000" cy="411480"/>
          </a:xfrm>
          <a:prstGeom prst="roundRect">
            <a:avLst>
              <a:gd name="adj" fmla="val 11111"/>
            </a:avLst>
          </a:prstGeom>
          <a:solidFill>
            <a:srgbClr val="D1FAE5"/>
          </a:solidFill>
          <a:ln/>
        </p:spPr>
      </p:sp>
      <p:sp>
        <p:nvSpPr>
          <p:cNvPr id="24" name="Text 20"/>
          <p:cNvSpPr/>
          <p:nvPr/>
        </p:nvSpPr>
        <p:spPr>
          <a:xfrm>
            <a:off x="5943600" y="2103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685800" y="3017520"/>
            <a:ext cx="7772400" cy="4572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/>
        </p:spPr>
      </p:sp>
      <p:sp>
        <p:nvSpPr>
          <p:cNvPr id="26" name="Text 22"/>
          <p:cNvSpPr/>
          <p:nvPr/>
        </p:nvSpPr>
        <p:spPr>
          <a:xfrm>
            <a:off x="822960" y="30175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口の動き（リップシンク）も翻訳先の言語に自動で同期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685800" y="3657600"/>
            <a:ext cx="7772400" cy="640080"/>
          </a:xfrm>
          <a:prstGeom prst="roundRect">
            <a:avLst>
              <a:gd name="adj" fmla="val 7143"/>
            </a:avLst>
          </a:prstGeom>
          <a:solidFill>
            <a:srgbClr val="FAFBFC"/>
          </a:solidFill>
          <a:ln/>
        </p:spPr>
      </p:sp>
      <p:sp>
        <p:nvSpPr>
          <p:cNvPr id="28" name="Text 24"/>
          <p:cNvSpPr/>
          <p:nvPr/>
        </p:nvSpPr>
        <p:spPr>
          <a:xfrm>
            <a:off x="822960" y="36576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従来: 1言語追加で数十万円（翻訳+撮影+編集）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HeyGen: ワンクリックで追加言語の動画が完成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18872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業務活用パターン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1828800" cy="274320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14300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社内研修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" y="210312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HeyGenアバターで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講師動画を量産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台本更新も簡単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651760" y="1005840"/>
            <a:ext cx="1828800" cy="2743200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4300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5176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営業提案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743200" y="210312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イメージ動画を作成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Midjourney連携が効果的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617720" y="1005840"/>
            <a:ext cx="1828800" cy="27432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14300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1772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CEOメッセージ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709160" y="210312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HeyGenで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多言語配信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海外拠点にも直接届く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583680" y="1005840"/>
            <a:ext cx="1828800" cy="2743200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14300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58368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グローバル展開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675120" y="210312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1動画→多言語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自動変換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展開コスト大幅削減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1005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Gen-4.5はプロ品質の動画生成（画像→動画が強み）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173736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574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20116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HeyGenはAIアバター＋多言語展開の決定版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7432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Veo3→試作、Runway→品質追求、HeyGen→人物プレゼンの使い分け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3749040"/>
            <a:ext cx="7772400" cy="4572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749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次のステップ: 確認テスト（5問中4問正解で修了）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9144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200400" y="242316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確認テストに進みましょう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   Runway Gen-4.5＋HeyGen実践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P-03: Runway Gen-4.5＋HeyGen実践</dc:title>
  <dc:subject>PptxGenJS Presentation</dc:subject>
  <dc:creator>Gorilla Knowledge</dc:creator>
  <cp:lastModifiedBy>Gorilla Knowledge</cp:lastModifiedBy>
  <cp:revision>1</cp:revision>
  <dcterms:created xsi:type="dcterms:W3CDTF">2026-04-03T21:39:56Z</dcterms:created>
  <dcterms:modified xsi:type="dcterms:W3CDTF">2026-04-03T21:39:56Z</dcterms:modified>
</cp:coreProperties>
</file>