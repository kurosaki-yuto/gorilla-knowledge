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4820" y="77724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508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業界別テンプレートと実践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2926080" y="2423160"/>
            <a:ext cx="329184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著作権・倫理＋総まとめ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  |  全社員  |  12分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0116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960120"/>
            <a:ext cx="7772400" cy="868680"/>
          </a:xfrm>
          <a:prstGeom prst="rect">
            <a:avLst>
              <a:gd name="adj" fmla="val 6316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2344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069848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828800" y="112471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自分の業界テンプレートを持ち帰る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85800" y="2057400"/>
            <a:ext cx="7772400" cy="868680"/>
          </a:xfrm>
          <a:prstGeom prst="rect">
            <a:avLst>
              <a:gd name="adj" fmla="val 6316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317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2167128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828800" y="22219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著作権・倫理ルールを理解する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85800" y="3154680"/>
            <a:ext cx="7772400" cy="868680"/>
          </a:xfrm>
          <a:prstGeom prst="rect">
            <a:avLst>
              <a:gd name="adj" fmla="val 6316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290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264408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828800" y="331927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宿題に取り組み、実践を始める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554480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飲食店テンプレート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60120"/>
            <a:ext cx="7772400" cy="1097280"/>
          </a:xfrm>
          <a:prstGeom prst="rect">
            <a:avLst>
              <a:gd name="adj" fmla="val 4167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24128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9875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プロンプトテンプレート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60120" y="128016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"Close-up of [料理名], [調理アクション], [盛り付け],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[音声指示], cinematic food photography, warm lighting"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85800" y="2194560"/>
            <a:ext cx="7772400" cy="777240"/>
          </a:xfrm>
          <a:prstGeom prst="rect">
            <a:avLst>
              <a:gd name="adj" fmla="val 5882"/>
            </a:avLst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04288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43000" y="2194560"/>
            <a:ext cx="71323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例: "Close-up of a wagyu steak being seared on a hot iron plate, juicy fat sizzling, chef garnishing with fresh herbs, with sizzle and crunch sound effects, cinematic food photography, warm golden lighting"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85800" y="3154680"/>
            <a:ext cx="7772400" cy="1188720"/>
          </a:xfrm>
          <a:prstGeom prst="rect">
            <a:avLst>
              <a:gd name="adj" fmla="val 3846"/>
            </a:avLst>
          </a:prstGeom>
          <a:solidFill>
            <a:srgbClr val="EDE9FE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4612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8872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音声のコツ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188720" y="35661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sizzle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2286000" y="3566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ジュージュー（焼き音）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188720" y="37947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pouring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2286000" y="3794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トクトク（注ぐ音）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1188720" y="40233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crunch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2286000" y="4023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サクサク（食感の音）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792224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INDUSTRIES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不動産・EC・採用テンプレート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60120"/>
            <a:ext cx="7772400" cy="1005840"/>
          </a:xfrm>
          <a:prstGeom prst="rect">
            <a:avLst>
              <a:gd name="adj" fmla="val 4545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5156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1005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不動産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88720" y="1307592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"Smooth dolly shot through [物件], natural daylight, real estate cinematic style, with ambient room tone"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188720" y="1645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音声: 環境音（ambient room tone）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85800" y="2103120"/>
            <a:ext cx="7772400" cy="1005840"/>
          </a:xfrm>
          <a:prstGeom prst="rect">
            <a:avLst>
              <a:gd name="adj" fmla="val 4545"/>
            </a:avLst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9456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88720" y="2148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188720" y="2450592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"Product showcase: [商品名] slowly rotating on [背景], soft studio lighting, with subtle click sound"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188720" y="2788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音声: ASMR的質感音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85800" y="3246120"/>
            <a:ext cx="7772400" cy="1005840"/>
          </a:xfrm>
          <a:prstGeom prst="rect">
            <a:avLst>
              <a:gd name="adj" fmla="val 4545"/>
            </a:avLst>
          </a:prstGeom>
          <a:solidFill>
            <a:srgbClr val="EDE9FE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33756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88720" y="3291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188720" y="3593592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"[人物] working at [職場], smiling, corporate documentary style, with office ambient sounds"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1188720" y="3931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音声: オフィス環境音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792224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INDUSTRIES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医療・教育テンプレート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60120"/>
            <a:ext cx="7772400" cy="1188720"/>
          </a:xfrm>
          <a:prstGeom prst="rect">
            <a:avLst>
              <a:gd name="adj" fmla="val 3846"/>
            </a:avLst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5156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1005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医療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88720" y="132588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[医療従事者] in a clean, modern clinic [アクション],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gentle and reassuring atmosphere, soft white lighting, with calm background music"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188720" y="18288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音声: 落ち着いたBGM（calm background music）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85800" y="2331720"/>
            <a:ext cx="7772400" cy="1188720"/>
          </a:xfrm>
          <a:prstGeom prst="rect">
            <a:avLst>
              <a:gd name="adj" fmla="val 3846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2316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88720" y="2377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教育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188720" y="269748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"[講師/生徒] in a bright classroom [学習シーン],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educational tone, with a clear voice narration saying: '[セリフ]'"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188720" y="32004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音声: セリフ生成でナレーション付き解説動画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85800" y="3749040"/>
            <a:ext cx="7772400" cy="594360"/>
          </a:xfrm>
          <a:prstGeom prst="rect">
            <a:avLst>
              <a:gd name="adj" fmla="val 6154"/>
            </a:avLst>
          </a:prstGeom>
          <a:solidFill>
            <a:srgbClr val="FEF3C7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840480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43000" y="374904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セリフ活用のコツ: 英語で短く「1文15語以内」が安定。日本語セリフは不自然になりやすい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435608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43560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テンプレートのカスタマイズ方法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60120"/>
            <a:ext cx="7772400" cy="658368"/>
          </a:xfrm>
          <a:prstGeom prst="rect">
            <a:avLst>
              <a:gd name="adj" fmla="val 6944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078992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124712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78308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を差し替える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783080" y="12801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カッコ部分を自分の内容に書き換えるだけ</a:t>
            </a:r>
            <a:endParaRPr lang="en-US" sz="14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55448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85800" y="1737360"/>
            <a:ext cx="7772400" cy="658368"/>
          </a:xfrm>
          <a:prstGeom prst="rect">
            <a:avLst>
              <a:gd name="adj" fmla="val 6944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22960" y="1856232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901952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業界キーワードは残す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783080" y="20574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雰囲気・音声の指示はテンプレートのまま</a:t>
            </a:r>
            <a:endParaRPr lang="en-US" sz="14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2331720"/>
            <a:ext cx="182880" cy="18288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85800" y="2514600"/>
            <a:ext cx="7772400" cy="658368"/>
          </a:xfrm>
          <a:prstGeom prst="rect">
            <a:avLst>
              <a:gd name="adj" fmla="val 6944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822960" y="2633472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2679192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783080" y="2560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4秒テスト → 8秒本番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1783080" y="28346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短い動画で方向性を確認してから本番生成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685800" y="3383280"/>
            <a:ext cx="7772400" cy="1097280"/>
          </a:xfrm>
          <a:prstGeom prst="rect">
            <a:avLst>
              <a:gd name="adj" fmla="val 4167"/>
            </a:avLst>
          </a:prstGeom>
          <a:solidFill>
            <a:srgbClr val="D1FAE5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456432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143000" y="34015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差し替え例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1143000" y="373075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[料理名] → "thick-cut salmon sashimi"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1143000" y="395935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[物件タイプ] → "modern 2LDK apartment in Shibuya"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1143000" y="418795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[商品名] → "wireless noise-canceling earbuds"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0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🎬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実演: テンプレート実践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2926080" y="3017520"/>
            <a:ext cx="329184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業界テンプレートで動画を生成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435608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43560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著作権・倫理のルール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60120"/>
            <a:ext cx="7772400" cy="530352"/>
          </a:xfrm>
          <a:prstGeom prst="rect">
            <a:avLst>
              <a:gd name="adj" fmla="val 6897"/>
            </a:avLst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033272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088136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00200" y="9784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実在人物の模倣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600200" y="12344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有名人の顔・声を再現 → 肖像権侵害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85800" y="1600200"/>
            <a:ext cx="7772400" cy="530352"/>
          </a:xfrm>
          <a:prstGeom prst="rect">
            <a:avLst>
              <a:gd name="adj" fmla="val 6897"/>
            </a:avLst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1673352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</a:t>
            </a:r>
            <a:endParaRPr lang="en-US" sz="10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728216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00200" y="1618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声の無断クローン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600200" y="18745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本人の許可なく声を複製 → 権利侵害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85800" y="2240280"/>
            <a:ext cx="7772400" cy="530352"/>
          </a:xfrm>
          <a:prstGeom prst="rect">
            <a:avLst>
              <a:gd name="adj" fmla="val 6897"/>
            </a:avLst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77240" y="2313432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</a:t>
            </a:r>
            <a:endParaRPr lang="en-US" sz="10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368296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00200" y="2258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AI生成の偽装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600200" y="2514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実写と偽る → 信用失墜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85800" y="2880360"/>
            <a:ext cx="7772400" cy="530352"/>
          </a:xfrm>
          <a:prstGeom prst="rect">
            <a:avLst>
              <a:gd name="adj" fmla="val 6897"/>
            </a:avLst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77240" y="2953512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</a:t>
            </a:r>
            <a:endParaRPr lang="en-US" sz="10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3008376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600200" y="28986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暴力・差別コンテンツ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600200" y="3154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利用規約違反 → アカウント停止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685800" y="3611880"/>
            <a:ext cx="7772400" cy="914400"/>
          </a:xfrm>
          <a:prstGeom prst="rect">
            <a:avLst>
              <a:gd name="adj" fmla="val 5000"/>
            </a:avLst>
          </a:prstGeom>
          <a:solidFill>
            <a:srgbClr val="D1FAE5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703320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188720" y="36393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守るべきルール</a:t>
            </a:r>
            <a:endParaRPr lang="en-US" sz="14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3995928"/>
            <a:ext cx="137160" cy="1371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417320" y="39502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AI生成であることを明記する</a:t>
            </a:r>
            <a:endParaRPr lang="en-US" sz="120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8720" y="4178808"/>
            <a:ext cx="137160" cy="13716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417320" y="413308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商用利用はツールの利用規約を確認</a:t>
            </a:r>
            <a:endParaRPr lang="en-US" sz="120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8720" y="4361688"/>
            <a:ext cx="137160" cy="13716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1417320" y="43159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人物が映る場合は架空の人物のみ使用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197864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1978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生成動画のクオリティ注意点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60120"/>
            <a:ext cx="3730752" cy="1005840"/>
          </a:xfrm>
          <a:prstGeom prst="rect">
            <a:avLst>
              <a:gd name="adj" fmla="val 4545"/>
            </a:avLst>
          </a:prstGeom>
          <a:solidFill>
            <a:srgbClr val="FEF3C7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97280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43000" y="1051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最大8秒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43000" y="13258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長尺は分割して編集で繋ぐ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27448" y="960120"/>
            <a:ext cx="3730752" cy="1005840"/>
          </a:xfrm>
          <a:prstGeom prst="rect">
            <a:avLst>
              <a:gd name="adj" fmla="val 4545"/>
            </a:avLst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097280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84648" y="10515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対処: 複数の短い動画を編集ソフトで結合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85800" y="2103120"/>
            <a:ext cx="3730752" cy="1005840"/>
          </a:xfrm>
          <a:prstGeom prst="rect">
            <a:avLst>
              <a:gd name="adj" fmla="val 4545"/>
            </a:avLst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40280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43000" y="2194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複数人の顔崩れ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143000" y="24688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3人以上で不自然になりやすい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727448" y="2103120"/>
            <a:ext cx="3730752" cy="1005840"/>
          </a:xfrm>
          <a:prstGeom prst="rect">
            <a:avLst>
              <a:gd name="adj" fmla="val 4545"/>
            </a:avLst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2240280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184648" y="21945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対処: 被写体1人に限定 or 遠景で撮る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85800" y="3246120"/>
            <a:ext cx="3730752" cy="1005840"/>
          </a:xfrm>
          <a:prstGeom prst="rect">
            <a:avLst>
              <a:gd name="adj" fmla="val 4545"/>
            </a:avLst>
          </a:prstGeom>
          <a:solidFill>
            <a:srgbClr val="EDE9FE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383280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4300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日本語セリフ不自然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1143000" y="36118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発音やイントネーションが不安定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4727448" y="3246120"/>
            <a:ext cx="3730752" cy="1005840"/>
          </a:xfrm>
          <a:prstGeom prst="rect">
            <a:avLst>
              <a:gd name="adj" fmla="val 4545"/>
            </a:avLst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3383280"/>
            <a:ext cx="256032" cy="25603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184648" y="33375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対処: 英語セリフ＋字幕 or 別途ナレーション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316736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宿題: 今週やる3つのこと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60120"/>
            <a:ext cx="7772400" cy="914400"/>
          </a:xfrm>
          <a:prstGeom prst="rect">
            <a:avLst>
              <a:gd name="adj" fmla="val 6000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14300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18872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96596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Proプラン登録 + 3本作る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96596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テンプレートを使って3本の動画を生成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" y="2057400"/>
            <a:ext cx="7772400" cy="914400"/>
          </a:xfrm>
          <a:prstGeom prst="rect">
            <a:avLst>
              <a:gd name="adj" fmla="val 6000"/>
            </a:avLst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28600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965960" y="2148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SNSに投稿する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965960" y="2514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Reels / TikTok / YouTube Shortsに投稿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85800" y="3154680"/>
            <a:ext cx="7772400" cy="914400"/>
          </a:xfrm>
          <a:prstGeom prst="rect">
            <a:avLst>
              <a:gd name="adj" fmla="val 6000"/>
            </a:avLst>
          </a:prstGeom>
          <a:solidFill>
            <a:srgbClr val="FEF3C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22960" y="3337560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338328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96596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3日後に数字を確認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1965960" y="3611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再生数・いいね・保存数を記録してPDCA開始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197864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1978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全5パートの総まとめ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60120"/>
            <a:ext cx="7772400" cy="548640"/>
          </a:xfrm>
          <a:prstGeom prst="rect">
            <a:avLst>
              <a:gd name="adj" fmla="val 6667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051560"/>
            <a:ext cx="594360" cy="365760"/>
          </a:xfrm>
          <a:prstGeom prst="rect">
            <a:avLst>
              <a:gd name="adj" fmla="val 7500"/>
            </a:avLst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9784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なぜVeo3一本でいいのか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08760" y="12344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AI動画の全体像と最適ツール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1618488"/>
            <a:ext cx="7772400" cy="548640"/>
          </a:xfrm>
          <a:prstGeom prst="rect">
            <a:avLst>
              <a:gd name="adj" fmla="val 6667"/>
            </a:avLst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1709928"/>
            <a:ext cx="594360" cy="365760"/>
          </a:xfrm>
          <a:prstGeom prst="rect">
            <a:avLst>
              <a:gd name="adj" fmla="val 7500"/>
            </a:avLst>
          </a:prstGeom>
          <a:solidFill>
            <a:srgbClr val="059669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16367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Veo3基本操作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08760" y="18928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アクセスからプロンプト設計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2276856"/>
            <a:ext cx="7772400" cy="548640"/>
          </a:xfrm>
          <a:prstGeom prst="rect">
            <a:avLst>
              <a:gd name="adj" fmla="val 6667"/>
            </a:avLst>
          </a:prstGeom>
          <a:solidFill>
            <a:srgbClr val="EDE9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2368296"/>
            <a:ext cx="594360" cy="365760"/>
          </a:xfrm>
          <a:prstGeom prst="rect">
            <a:avLst>
              <a:gd name="adj" fmla="val 7500"/>
            </a:avLst>
          </a:prstGeom>
          <a:solidFill>
            <a:srgbClr val="7C3AE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22951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プロンプト設計マスター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08760" y="255117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業務用プロンプト7パターン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2935224"/>
            <a:ext cx="7772400" cy="548640"/>
          </a:xfrm>
          <a:prstGeom prst="rect">
            <a:avLst>
              <a:gd name="adj" fmla="val 6667"/>
            </a:avLst>
          </a:prstGeom>
          <a:solidFill>
            <a:srgbClr val="FEF3C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026664"/>
            <a:ext cx="594360" cy="365760"/>
          </a:xfrm>
          <a:prstGeom prst="rect">
            <a:avLst>
              <a:gd name="adj" fmla="val 7500"/>
            </a:avLst>
          </a:prstGeom>
          <a:solidFill>
            <a:srgbClr val="D97706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29535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SNS×PDCA戦略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08760" y="320954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投稿・分析・改善サイクル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3593592"/>
            <a:ext cx="7772400" cy="548640"/>
          </a:xfrm>
          <a:prstGeom prst="rect">
            <a:avLst>
              <a:gd name="adj" fmla="val 6667"/>
            </a:avLst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685032"/>
            <a:ext cx="594360" cy="365760"/>
          </a:xfrm>
          <a:prstGeom prst="rect">
            <a:avLst>
              <a:gd name="adj" fmla="val 7500"/>
            </a:avLst>
          </a:prstGeom>
          <a:solidFill>
            <a:srgbClr val="DC2626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08760" y="3611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業界別テンプレートと実践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08760" y="386791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テンプレート＋著作権＋宿題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" y="4297680"/>
            <a:ext cx="7772400" cy="411480"/>
          </a:xfrm>
          <a:prstGeom prst="rect">
            <a:avLst>
              <a:gd name="adj" fmla="val 8889"/>
            </a:avLst>
          </a:prstGeom>
          <a:solidFill>
            <a:srgbClr val="DBEAFE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429768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「AI動画を作れる → 活用できる → 成果を出せる」人材へ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4820" y="77724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554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確認テストへ進む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2926080" y="2286000"/>
            <a:ext cx="329184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 修了 | AI動画生成コース 全5パート完了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1828800" y="3200400"/>
            <a:ext cx="5486400" cy="594360"/>
          </a:xfrm>
          <a:prstGeom prst="rect">
            <a:avLst>
              <a:gd name="adj" fmla="val 9231"/>
            </a:avLst>
          </a:prstGeom>
          <a:solidFill>
            <a:srgbClr val="2D4A7A"/>
          </a:solidFill>
          <a:ln/>
        </p:spPr>
      </p:sp>
      <p:sp>
        <p:nvSpPr>
          <p:cNvPr id="7" name="Text 4"/>
          <p:cNvSpPr/>
          <p:nvPr/>
        </p:nvSpPr>
        <p:spPr>
          <a:xfrm>
            <a:off x="1828800" y="32004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次回予告: Lecture 9「AIプレゼン＆資料作成」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P-05: 業界別テンプレートと実践</dc:title>
  <dc:subject>PptxGenJS Presentation</dc:subject>
  <dc:creator>Gorilla Knowledge</dc:creator>
  <cp:lastModifiedBy>Gorilla Knowledge</cp:lastModifiedBy>
  <cp:revision>1</cp:revision>
  <dcterms:created xsi:type="dcterms:W3CDTF">2026-04-04T03:14:22Z</dcterms:created>
  <dcterms:modified xsi:type="dcterms:W3CDTF">2026-04-04T03:14:22Z</dcterms:modified>
</cp:coreProperties>
</file>