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4820" y="77724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08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Veo3完全攻略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2926080" y="2423160"/>
            <a:ext cx="329184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基本操作からプロンプト術まで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  |  全社員  |  12分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0116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960120"/>
            <a:ext cx="7772400" cy="868680"/>
          </a:xfrm>
          <a:prstGeom prst="rect">
            <a:avLst>
              <a:gd name="adj" fmla="val 6316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2344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06984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828800" y="112471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Veo3にアクセスして動画を生成できる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85800" y="2057400"/>
            <a:ext cx="7772400" cy="868680"/>
          </a:xfrm>
          <a:prstGeom prst="rect">
            <a:avLst>
              <a:gd name="adj" fmla="val 631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317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16712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828800" y="22219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効果的なプロンプトを書けるようになる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85800" y="3154680"/>
            <a:ext cx="7772400" cy="868680"/>
          </a:xfrm>
          <a:prstGeom prst="rect">
            <a:avLst>
              <a:gd name="adj" fmla="val 6316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290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26440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828800" y="331927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用途に応じた設定（解像度・アスペクト比）を選べる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078992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Veo3へのアクセス方法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60120"/>
            <a:ext cx="7772400" cy="658368"/>
          </a:xfrm>
          <a:prstGeom prst="rect">
            <a:avLst>
              <a:gd name="adj" fmla="val 6944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078992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124712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83080" y="1005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Studioにアクセス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783080" y="12801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aistudio.google.com をブラウザで開く</a:t>
            </a:r>
            <a:endParaRPr lang="en-US" sz="1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55448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85800" y="1737360"/>
            <a:ext cx="7772400" cy="658368"/>
          </a:xfrm>
          <a:prstGeom prst="rect">
            <a:avLst>
              <a:gd name="adj" fmla="val 694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22960" y="1856232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90195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1783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Googleログイン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783080" y="20574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Googleアカウントでサインイン</a:t>
            </a:r>
            <a:endParaRPr lang="en-US" sz="14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2331720"/>
            <a:ext cx="182880" cy="1828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85800" y="2514600"/>
            <a:ext cx="7772400" cy="658368"/>
          </a:xfrm>
          <a:prstGeom prst="rect">
            <a:avLst>
              <a:gd name="adj" fmla="val 6944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822960" y="2633472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2679192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78308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Veoを選択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1783080" y="28346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左メニューから「Veo」をクリック</a:t>
            </a:r>
            <a:endParaRPr lang="en-US" sz="14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3108960"/>
            <a:ext cx="182880" cy="18288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685800" y="3291840"/>
            <a:ext cx="7772400" cy="658368"/>
          </a:xfrm>
          <a:prstGeom prst="rect">
            <a:avLst>
              <a:gd name="adj" fmla="val 694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822960" y="3410712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3456432"/>
            <a:ext cx="292608" cy="29260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783080" y="3337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プロンプト入力</a:t>
            </a:r>
            <a:endParaRPr lang="en-US" sz="1600" dirty="0"/>
          </a:p>
        </p:txBody>
      </p:sp>
      <p:sp>
        <p:nvSpPr>
          <p:cNvPr id="31" name="Text 22"/>
          <p:cNvSpPr/>
          <p:nvPr/>
        </p:nvSpPr>
        <p:spPr>
          <a:xfrm>
            <a:off x="1783080" y="36118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テキストを入力して「Generate」をクリック</a:t>
            </a:r>
            <a:endParaRPr lang="en-US" sz="14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160520"/>
            <a:ext cx="201168" cy="20116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78408" y="411480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無料で利用可能。Google One AI Premium ($19.99/月) で上限解放、14日間無料トライアルあり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960120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Text-to-Video基本ルール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60120"/>
            <a:ext cx="7772400" cy="658368"/>
          </a:xfrm>
          <a:prstGeom prst="rect">
            <a:avLst>
              <a:gd name="adj" fmla="val 6944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078992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124712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8308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英語で書く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783080" y="12801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日本語より英語の方が精度が高い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1737360"/>
            <a:ext cx="7772400" cy="658368"/>
          </a:xfrm>
          <a:prstGeom prst="rect">
            <a:avLst>
              <a:gd name="adj" fmla="val 6944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1856232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901952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78308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具体的に描写する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783080" y="20574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被写体・場所・時間帯を明確に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85800" y="2514600"/>
            <a:ext cx="7772400" cy="658368"/>
          </a:xfrm>
          <a:prstGeom prst="rect">
            <a:avLst>
              <a:gd name="adj" fmla="val 6944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22960" y="2633472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679192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783080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1動画1シーン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783080" y="28346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複数シーンを詰め込まない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85800" y="3291840"/>
            <a:ext cx="7772400" cy="658368"/>
          </a:xfrm>
          <a:prstGeom prst="rect">
            <a:avLst>
              <a:gd name="adj" fmla="val 6944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22960" y="3410712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456432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783080" y="3337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動きを明確に指定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1783080" y="36118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「いる」ではなく「走っている」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685800" y="4160520"/>
            <a:ext cx="7772400" cy="411480"/>
          </a:xfrm>
          <a:prstGeom prst="rect">
            <a:avLst>
              <a:gd name="adj" fmla="val 8889"/>
            </a:avLst>
          </a:prstGeom>
          <a:solidFill>
            <a:srgbClr val="D1FAE5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224528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97280" y="416052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 "A golden retriever running through a field of sunflowers at sunset"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316736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プロンプト設計テンプレート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09244" y="960120"/>
            <a:ext cx="1417320" cy="2926080"/>
          </a:xfrm>
          <a:prstGeom prst="rect">
            <a:avLst>
              <a:gd name="adj" fmla="val 322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9244" y="960120"/>
            <a:ext cx="1417320" cy="502920"/>
          </a:xfrm>
          <a:prstGeom prst="rect">
            <a:avLst>
              <a:gd name="adj" fmla="val 9091"/>
            </a:avLst>
          </a:prstGeom>
          <a:solidFill>
            <a:srgbClr val="DBEAF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051560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09244" y="15087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被写体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82396" y="1874520"/>
            <a:ext cx="127101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何を映すか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82396" y="2240280"/>
            <a:ext cx="1271016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ビジネスマン / 東京の街並み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226564" y="1051560"/>
            <a:ext cx="10972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336292" y="960120"/>
            <a:ext cx="1417320" cy="2926080"/>
          </a:xfrm>
          <a:prstGeom prst="rect">
            <a:avLst>
              <a:gd name="adj" fmla="val 322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336292" y="960120"/>
            <a:ext cx="1417320" cy="502920"/>
          </a:xfrm>
          <a:prstGeom prst="rect">
            <a:avLst>
              <a:gd name="adj" fmla="val 9091"/>
            </a:avLst>
          </a:prstGeom>
          <a:solidFill>
            <a:srgbClr val="D1FAE5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648" y="1051560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336292" y="15087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動き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2409444" y="1874520"/>
            <a:ext cx="127101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どう動くか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2409444" y="2240280"/>
            <a:ext cx="1271016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ゆっくり歩く / 振り向く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753612" y="1051560"/>
            <a:ext cx="10972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3863340" y="960120"/>
            <a:ext cx="1417320" cy="2926080"/>
          </a:xfrm>
          <a:prstGeom prst="rect">
            <a:avLst>
              <a:gd name="adj" fmla="val 322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863340" y="960120"/>
            <a:ext cx="1417320" cy="502920"/>
          </a:xfrm>
          <a:prstGeom prst="rect">
            <a:avLst>
              <a:gd name="adj" fmla="val 9091"/>
            </a:avLst>
          </a:prstGeom>
          <a:solidFill>
            <a:srgbClr val="EDE9FE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6" y="1051560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863340" y="15087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カメラワーク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3936492" y="1874520"/>
            <a:ext cx="127101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どう撮るか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3936492" y="2240280"/>
            <a:ext cx="1271016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ドリーイン / パン / 俯瞰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5280660" y="1051560"/>
            <a:ext cx="10972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30" name="Shape 25"/>
          <p:cNvSpPr/>
          <p:nvPr/>
        </p:nvSpPr>
        <p:spPr>
          <a:xfrm>
            <a:off x="5390388" y="960120"/>
            <a:ext cx="1417320" cy="2926080"/>
          </a:xfrm>
          <a:prstGeom prst="rect">
            <a:avLst>
              <a:gd name="adj" fmla="val 322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390388" y="960120"/>
            <a:ext cx="1417320" cy="502920"/>
          </a:xfrm>
          <a:prstGeom prst="rect">
            <a:avLst>
              <a:gd name="adj" fmla="val 9091"/>
            </a:avLst>
          </a:prstGeom>
          <a:solidFill>
            <a:srgbClr val="FEF3C7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744" y="1051560"/>
            <a:ext cx="292608" cy="29260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390388" y="15087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雰囲気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5463540" y="1874520"/>
            <a:ext cx="127101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どんなトーンか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5463540" y="2240280"/>
            <a:ext cx="1271016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 / warm / dramatic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6807708" y="1051560"/>
            <a:ext cx="10972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6917436" y="960120"/>
            <a:ext cx="1417320" cy="2926080"/>
          </a:xfrm>
          <a:prstGeom prst="rect">
            <a:avLst>
              <a:gd name="adj" fmla="val 322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6917436" y="960120"/>
            <a:ext cx="1417320" cy="502920"/>
          </a:xfrm>
          <a:prstGeom prst="rect">
            <a:avLst>
              <a:gd name="adj" fmla="val 9091"/>
            </a:avLst>
          </a:prstGeom>
          <a:solidFill>
            <a:srgbClr val="FEE2E2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9792" y="1051560"/>
            <a:ext cx="292608" cy="29260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6917436" y="15087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時間帯</a:t>
            </a:r>
            <a:endParaRPr lang="en-US" sz="1600" dirty="0"/>
          </a:p>
        </p:txBody>
      </p:sp>
      <p:sp>
        <p:nvSpPr>
          <p:cNvPr id="41" name="Text 34"/>
          <p:cNvSpPr/>
          <p:nvPr/>
        </p:nvSpPr>
        <p:spPr>
          <a:xfrm>
            <a:off x="6990588" y="1874520"/>
            <a:ext cx="127101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いつか</a:t>
            </a:r>
            <a:endParaRPr lang="en-US" sz="1400" dirty="0"/>
          </a:p>
        </p:txBody>
      </p:sp>
      <p:sp>
        <p:nvSpPr>
          <p:cNvPr id="42" name="Text 35"/>
          <p:cNvSpPr/>
          <p:nvPr/>
        </p:nvSpPr>
        <p:spPr>
          <a:xfrm>
            <a:off x="6990588" y="2240280"/>
            <a:ext cx="1271016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hour / 深夜 / 朝焼け</a:t>
            </a:r>
            <a:endParaRPr lang="en-US" sz="1200" dirty="0"/>
          </a:p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160520"/>
            <a:ext cx="201168" cy="20116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978408" y="411480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5要素すべてを入れる必要はないが、多いほど意図通りの動画に近づく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197864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1978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良いプロンプト vs 悪いプロンプト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14400"/>
            <a:ext cx="7772400" cy="411480"/>
          </a:xfrm>
          <a:prstGeom prst="rect">
            <a:avLst>
              <a:gd name="adj" fmla="val 8889"/>
            </a:avLst>
          </a:prstGeom>
          <a:solidFill>
            <a:srgbClr val="1B2A4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05840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914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Before（悪い例）</a:t>
            </a:r>
            <a:endParaRPr lang="en-US" sz="1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00584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2040" y="9144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After（良い例）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85800" y="1325880"/>
            <a:ext cx="7772400" cy="82296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1463040"/>
            <a:ext cx="3474720" cy="548640"/>
          </a:xfrm>
          <a:prstGeom prst="rect">
            <a:avLst>
              <a:gd name="adj" fmla="val 6667"/>
            </a:avLst>
          </a:prstGeom>
          <a:solidFill>
            <a:srgbClr val="FEE2E2"/>
          </a:solidFill>
          <a:ln/>
        </p:spPr>
      </p:sp>
      <p:sp>
        <p:nvSpPr>
          <p:cNvPr id="16" name="Text 12"/>
          <p:cNvSpPr/>
          <p:nvPr/>
        </p:nvSpPr>
        <p:spPr>
          <a:xfrm>
            <a:off x="868680" y="1463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cat"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480560" y="1399032"/>
            <a:ext cx="3840480" cy="685800"/>
          </a:xfrm>
          <a:prstGeom prst="rect">
            <a:avLst>
              <a:gd name="adj" fmla="val 5333"/>
            </a:avLst>
          </a:prstGeom>
          <a:solidFill>
            <a:srgbClr val="D1FAE5"/>
          </a:solidFill>
          <a:ln/>
        </p:spPr>
      </p:sp>
      <p:sp>
        <p:nvSpPr>
          <p:cNvPr id="18" name="Text 14"/>
          <p:cNvSpPr/>
          <p:nvPr/>
        </p:nvSpPr>
        <p:spPr>
          <a:xfrm>
            <a:off x="4572000" y="139903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fluffy white cat stretching lazily on a sunlit windowsill, soft bokeh, warm afternoon light"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85800" y="2240280"/>
            <a:ext cx="7772400" cy="8229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77240" y="2377440"/>
            <a:ext cx="3474720" cy="548640"/>
          </a:xfrm>
          <a:prstGeom prst="rect">
            <a:avLst>
              <a:gd name="adj" fmla="val 6667"/>
            </a:avLst>
          </a:prstGeom>
          <a:solidFill>
            <a:srgbClr val="FEE2E2"/>
          </a:solidFill>
          <a:ln/>
        </p:spPr>
      </p:sp>
      <p:sp>
        <p:nvSpPr>
          <p:cNvPr id="21" name="Text 17"/>
          <p:cNvSpPr/>
          <p:nvPr/>
        </p:nvSpPr>
        <p:spPr>
          <a:xfrm>
            <a:off x="868680" y="23774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"City at night"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480560" y="2313432"/>
            <a:ext cx="3840480" cy="685800"/>
          </a:xfrm>
          <a:prstGeom prst="rect">
            <a:avLst>
              <a:gd name="adj" fmla="val 5333"/>
            </a:avLst>
          </a:prstGeom>
          <a:solidFill>
            <a:srgbClr val="D1FAE5"/>
          </a:solidFill>
          <a:ln/>
        </p:spPr>
      </p:sp>
      <p:sp>
        <p:nvSpPr>
          <p:cNvPr id="23" name="Text 19"/>
          <p:cNvSpPr/>
          <p:nvPr/>
        </p:nvSpPr>
        <p:spPr>
          <a:xfrm>
            <a:off x="4572000" y="231343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"Aerial dolly shot of Tokyo Shibuya crossing at night, neon lights reflecting on wet streets, cinematic color grading"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85800" y="3154680"/>
            <a:ext cx="7772400" cy="82296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77240" y="3291840"/>
            <a:ext cx="3474720" cy="548640"/>
          </a:xfrm>
          <a:prstGeom prst="rect">
            <a:avLst>
              <a:gd name="adj" fmla="val 6667"/>
            </a:avLst>
          </a:prstGeom>
          <a:solidFill>
            <a:srgbClr val="FEE2E2"/>
          </a:solidFill>
          <a:ln/>
        </p:spPr>
      </p:sp>
      <p:sp>
        <p:nvSpPr>
          <p:cNvPr id="26" name="Text 22"/>
          <p:cNvSpPr/>
          <p:nvPr/>
        </p:nvSpPr>
        <p:spPr>
          <a:xfrm>
            <a:off x="868680" y="32918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"Person talking"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480560" y="3227832"/>
            <a:ext cx="3840480" cy="685800"/>
          </a:xfrm>
          <a:prstGeom prst="rect">
            <a:avLst>
              <a:gd name="adj" fmla="val 5333"/>
            </a:avLst>
          </a:prstGeom>
          <a:solidFill>
            <a:srgbClr val="D1FAE5"/>
          </a:solidFill>
          <a:ln/>
        </p:spPr>
      </p:sp>
      <p:sp>
        <p:nvSpPr>
          <p:cNvPr id="28" name="Text 24"/>
          <p:cNvSpPr/>
          <p:nvPr/>
        </p:nvSpPr>
        <p:spPr>
          <a:xfrm>
            <a:off x="4572000" y="322783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"Close-up of a young woman speaking to camera with a warm smile, shallow depth of field, natural studio lighting, with clear voice narration"</a:t>
            </a:r>
            <a:endParaRPr lang="en-US" sz="10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60520"/>
            <a:ext cx="201168" cy="20116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78408" y="411480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音声の指示を含めると、Veo3は効果音や会話まで同時に生成します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960120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Image-to-Video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51560" y="960120"/>
            <a:ext cx="2103120" cy="1005840"/>
          </a:xfrm>
          <a:prstGeom prst="rect">
            <a:avLst>
              <a:gd name="adj" fmla="val 4545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43100" y="1033272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5104" y="1371600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167335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画像をアップロード</a:t>
            </a:r>
            <a:endParaRPr lang="en-US" sz="1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832" y="1325880"/>
            <a:ext cx="201168" cy="2011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520440" y="960120"/>
            <a:ext cx="2103120" cy="1005840"/>
          </a:xfrm>
          <a:prstGeom prst="rect">
            <a:avLst>
              <a:gd name="adj" fmla="val 4545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411980" y="1033272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137160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20440" y="167335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動きの指示を入力</a:t>
            </a:r>
            <a:endParaRPr lang="en-US" sz="14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712" y="1325880"/>
            <a:ext cx="201168" cy="20116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989320" y="960120"/>
            <a:ext cx="2103120" cy="1005840"/>
          </a:xfrm>
          <a:prstGeom prst="rect">
            <a:avLst>
              <a:gd name="adj" fmla="val 4545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880860" y="1033272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864" y="1371600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989320" y="167335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動画を生成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905256" y="2286000"/>
            <a:ext cx="2286000" cy="1280160"/>
          </a:xfrm>
          <a:prstGeom prst="rect">
            <a:avLst>
              <a:gd name="adj" fmla="val 3571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1096" y="2423160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05256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商品写真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905256" y="3108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360度回転アニメーション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3429000" y="2286000"/>
            <a:ext cx="2286000" cy="1280160"/>
          </a:xfrm>
          <a:prstGeom prst="rect">
            <a:avLst>
              <a:gd name="adj" fmla="val 3571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2423160"/>
            <a:ext cx="274320" cy="27432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42900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社屋写真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3429000" y="3108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空撮風ドローン動画</a:t>
            </a:r>
            <a:endParaRPr lang="en-US" sz="1400" dirty="0"/>
          </a:p>
        </p:txBody>
      </p:sp>
      <p:sp>
        <p:nvSpPr>
          <p:cNvPr id="31" name="Shape 22"/>
          <p:cNvSpPr/>
          <p:nvPr/>
        </p:nvSpPr>
        <p:spPr>
          <a:xfrm>
            <a:off x="5952744" y="2286000"/>
            <a:ext cx="2286000" cy="1280160"/>
          </a:xfrm>
          <a:prstGeom prst="rect">
            <a:avLst>
              <a:gd name="adj" fmla="val 3571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8584" y="2423160"/>
            <a:ext cx="274320" cy="27432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952744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ロゴ画像</a:t>
            </a:r>
            <a:endParaRPr lang="en-US" sz="1600" dirty="0"/>
          </a:p>
        </p:txBody>
      </p:sp>
      <p:sp>
        <p:nvSpPr>
          <p:cNvPr id="34" name="Text 24"/>
          <p:cNvSpPr/>
          <p:nvPr/>
        </p:nvSpPr>
        <p:spPr>
          <a:xfrm>
            <a:off x="5952744" y="3108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モーションロゴ</a:t>
            </a:r>
            <a:endParaRPr lang="en-US" sz="14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840480"/>
            <a:ext cx="201168" cy="20116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78408" y="37947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既存アセットを動画化できるので、ゼロから作る必要がありません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960120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音声同時生成 ── Veo3最大の強み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05256" y="960120"/>
            <a:ext cx="2286000" cy="2194560"/>
          </a:xfrm>
          <a:prstGeom prst="rect">
            <a:avLst>
              <a:gd name="adj" fmla="val 208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" y="960120"/>
            <a:ext cx="2286000" cy="502920"/>
          </a:xfrm>
          <a:prstGeom prst="rect">
            <a:avLst>
              <a:gd name="adj" fmla="val 9091"/>
            </a:avLst>
          </a:prstGeom>
          <a:solidFill>
            <a:srgbClr val="DBEAF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1051560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05256" y="1554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効果音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42416" y="19659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ドアの開閉、足音、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キーボード音など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429000" y="960120"/>
            <a:ext cx="2286000" cy="2194560"/>
          </a:xfrm>
          <a:prstGeom prst="rect">
            <a:avLst>
              <a:gd name="adj" fmla="val 208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29000" y="960120"/>
            <a:ext cx="2286000" cy="502920"/>
          </a:xfrm>
          <a:prstGeom prst="rect">
            <a:avLst>
              <a:gd name="adj" fmla="val 9091"/>
            </a:avLst>
          </a:prstGeom>
          <a:solidFill>
            <a:srgbClr val="D1FAE5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1051560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29000" y="1554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環境音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566160" y="19659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雨音、カフェの雑音、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鳥のさえずりなど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952744" y="960120"/>
            <a:ext cx="2286000" cy="2194560"/>
          </a:xfrm>
          <a:prstGeom prst="rect">
            <a:avLst>
              <a:gd name="adj" fmla="val 208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952744" y="960120"/>
            <a:ext cx="2286000" cy="502920"/>
          </a:xfrm>
          <a:prstGeom prst="rect">
            <a:avLst>
              <a:gd name="adj" fmla="val 9091"/>
            </a:avLst>
          </a:prstGeom>
          <a:solidFill>
            <a:srgbClr val="EDE9FE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051560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952744" y="1554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会話音声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089904" y="19659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キャラクターのセリフを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プロンプトで指定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85800" y="3429000"/>
            <a:ext cx="7772400" cy="502920"/>
          </a:xfrm>
          <a:prstGeom prst="rect">
            <a:avLst>
              <a:gd name="adj" fmla="val 7273"/>
            </a:avLst>
          </a:prstGeom>
          <a:solidFill>
            <a:srgbClr val="FEF3C7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3547872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97280" y="342900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Runway・Soraなど他ツールでは別途音声編集が必要 → Veo3なら一発で完成！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316736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解像度・アスペクト比の使い分け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14400"/>
            <a:ext cx="7772400" cy="411480"/>
          </a:xfrm>
          <a:prstGeom prst="rect">
            <a:avLst>
              <a:gd name="adj" fmla="val 8889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914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914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選択肢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9144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1325880"/>
            <a:ext cx="7772400" cy="45720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417320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97280" y="13258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解像度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651760" y="13258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720p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937760" y="13258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テスト生成・下書き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85800" y="1837944"/>
            <a:ext cx="77724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929384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97280" y="183794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解像度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2651760" y="1837944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1080p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4937760" y="1837944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本番用・高品質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685800" y="2350008"/>
            <a:ext cx="7772400" cy="45720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441448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97280" y="235000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アスペクト比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2651760" y="235000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16:9（横型）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4937760" y="235000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/ プレゼン資料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685800" y="2862072"/>
            <a:ext cx="77724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2953512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97280" y="286207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アスペクト比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2651760" y="286207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9:16（縦型）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4937760" y="286207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Reels / TikTok / Shorts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685800" y="3374136"/>
            <a:ext cx="7772400" cy="45720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3465576"/>
            <a:ext cx="237744" cy="23774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097280" y="3374136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動画の長さ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2651760" y="3374136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4s / 6s / 8s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4937760" y="3374136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短いほど品質安定</a:t>
            </a:r>
            <a:endParaRPr lang="en-US" sz="1400" dirty="0"/>
          </a:p>
        </p:txBody>
      </p:sp>
      <p:sp>
        <p:nvSpPr>
          <p:cNvPr id="38" name="Shape 31"/>
          <p:cNvSpPr/>
          <p:nvPr/>
        </p:nvSpPr>
        <p:spPr>
          <a:xfrm>
            <a:off x="685800" y="3794760"/>
            <a:ext cx="7772400" cy="438912"/>
          </a:xfrm>
          <a:prstGeom prst="rect">
            <a:avLst>
              <a:gd name="adj" fmla="val 8333"/>
            </a:avLst>
          </a:prstGeom>
          <a:solidFill>
            <a:srgbClr val="DBEAFE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3886200"/>
            <a:ext cx="219456" cy="21945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097280" y="3794760"/>
            <a:ext cx="722376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おすすめ: テスト時 720p・4s → 本番 1080p・8s の2段階ワークフロー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841248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品質を上げるコツ5選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14400"/>
            <a:ext cx="7772400" cy="566928"/>
          </a:xfrm>
          <a:prstGeom prst="rect">
            <a:avLst>
              <a:gd name="adj" fmla="val 8065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987552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042416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37360" y="9326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英語プロンプト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737360" y="118872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最も精度が高い。日本語から翻訳してもOK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1572768"/>
            <a:ext cx="7772400" cy="566928"/>
          </a:xfrm>
          <a:prstGeom prst="rect">
            <a:avLst>
              <a:gd name="adj" fmla="val 8065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164592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700784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737360" y="15910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カメラワーク用語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737360" y="184708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dolly in / pan / tracking shot / aerial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85800" y="2231136"/>
            <a:ext cx="7772400" cy="566928"/>
          </a:xfrm>
          <a:prstGeom prst="rect">
            <a:avLst>
              <a:gd name="adj" fmla="val 8065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22960" y="2304288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359152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737360" y="22494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照明・色調を指定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737360" y="2505456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hour / cinematic color grading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85800" y="2889504"/>
            <a:ext cx="7772400" cy="566928"/>
          </a:xfrm>
          <a:prstGeom prst="rect">
            <a:avLst>
              <a:gd name="adj" fmla="val 8065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22960" y="2962656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301752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737360" y="29077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音声指示を追加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1737360" y="316382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"with ambient rain sounds" 等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685800" y="3547872"/>
            <a:ext cx="7772400" cy="566928"/>
          </a:xfrm>
          <a:prstGeom prst="rect">
            <a:avLst>
              <a:gd name="adj" fmla="val 8065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22960" y="3621024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880" y="3675888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737360" y="3566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4sでテスト→8sで本番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1737360" y="3822192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短い動画で方向性を確認してから本番へ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197864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1978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14400"/>
            <a:ext cx="7772400" cy="566928"/>
          </a:xfrm>
          <a:prstGeom prst="rect">
            <a:avLst>
              <a:gd name="adj" fmla="val 8065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051560"/>
            <a:ext cx="274320" cy="27432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06070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914400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Veo3はGoogle AI Studioから無料で利用可能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85800" y="1572768"/>
            <a:ext cx="7772400" cy="566928"/>
          </a:xfrm>
          <a:prstGeom prst="rect">
            <a:avLst>
              <a:gd name="adj" fmla="val 8065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09928"/>
            <a:ext cx="274320" cy="274320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1719072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645920" y="1572768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Text-to-Video と Image-to-Video の2つの方法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685800" y="2231136"/>
            <a:ext cx="7772400" cy="566928"/>
          </a:xfrm>
          <a:prstGeom prst="rect">
            <a:avLst>
              <a:gd name="adj" fmla="val 8065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368296"/>
            <a:ext cx="274320" cy="274320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40" y="2377440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645920" y="2231136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音声同時生成が他ツールにない最大の強み</a:t>
            </a:r>
            <a:endParaRPr lang="en-US" sz="1600" dirty="0"/>
          </a:p>
        </p:txBody>
      </p:sp>
      <p:sp>
        <p:nvSpPr>
          <p:cNvPr id="21" name="Shape 13"/>
          <p:cNvSpPr/>
          <p:nvPr/>
        </p:nvSpPr>
        <p:spPr>
          <a:xfrm>
            <a:off x="685800" y="2889504"/>
            <a:ext cx="7772400" cy="566928"/>
          </a:xfrm>
          <a:prstGeom prst="rect">
            <a:avLst>
              <a:gd name="adj" fmla="val 8065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3026664"/>
            <a:ext cx="274320" cy="274320"/>
          </a:xfrm>
          <a:prstGeom prst="rect">
            <a:avLst/>
          </a:prstGeom>
        </p:spPr>
      </p:pic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4440" y="3035808"/>
            <a:ext cx="256032" cy="25603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1645920" y="2889504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プロンプトは 被写体＋動き＋カメラワーク＋雰囲気＋時間帯</a:t>
            </a:r>
            <a:endParaRPr lang="en-US" sz="1600" dirty="0"/>
          </a:p>
        </p:txBody>
      </p:sp>
      <p:sp>
        <p:nvSpPr>
          <p:cNvPr id="25" name="Shape 15"/>
          <p:cNvSpPr/>
          <p:nvPr/>
        </p:nvSpPr>
        <p:spPr>
          <a:xfrm>
            <a:off x="685800" y="3547872"/>
            <a:ext cx="7772400" cy="566928"/>
          </a:xfrm>
          <a:prstGeom prst="rect">
            <a:avLst>
              <a:gd name="adj" fmla="val 8065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" y="3685032"/>
            <a:ext cx="274320" cy="274320"/>
          </a:xfrm>
          <a:prstGeom prst="rect">
            <a:avLst/>
          </a:prstGeom>
        </p:spPr>
      </p:pic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4440" y="3694176"/>
            <a:ext cx="256032" cy="256032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1645920" y="3547872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720p/4sでテスト → 1080p/8sで本番の2段階ワークフロー</a:t>
            </a:r>
            <a:endParaRPr lang="en-US" sz="1600" dirty="0"/>
          </a:p>
        </p:txBody>
      </p:sp>
      <p:sp>
        <p:nvSpPr>
          <p:cNvPr id="29" name="Shape 17"/>
          <p:cNvSpPr/>
          <p:nvPr/>
        </p:nvSpPr>
        <p:spPr>
          <a:xfrm>
            <a:off x="685800" y="4251960"/>
            <a:ext cx="7772400" cy="411480"/>
          </a:xfrm>
          <a:prstGeom prst="rect">
            <a:avLst>
              <a:gd name="adj" fmla="val 8889"/>
            </a:avLst>
          </a:prstGeom>
          <a:solidFill>
            <a:srgbClr val="F3F4F6"/>
          </a:solidFill>
          <a:ln/>
        </p:spPr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960" y="4325112"/>
            <a:ext cx="219456" cy="219456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1143000" y="4251960"/>
            <a:ext cx="7178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次のパート: P-03 Runway・HeyGen実践（ツールの使い分けを学ぶ）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4820" y="109728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確認テストへ進む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2926080" y="2697480"/>
            <a:ext cx="329184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 修了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P-02: Veo3完全攻略 -- 基本操作からプロンプト術まで</dc:title>
  <dc:subject>PptxGenJS Presentation</dc:subject>
  <dc:creator>Gorilla Knowledge</dc:creator>
  <cp:lastModifiedBy>Gorilla Knowledge</cp:lastModifiedBy>
  <cp:revision>1</cp:revision>
  <dcterms:created xsi:type="dcterms:W3CDTF">2026-04-03T21:39:24Z</dcterms:created>
  <dcterms:modified xsi:type="dcterms:W3CDTF">2026-04-03T21:39:24Z</dcterms:modified>
</cp:coreProperties>
</file>