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8229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ElevenLabs完全攻略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AI音声の世界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  |   AI動画生成シリーズ   | 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ElevenLabsでテキストから高品質な音声を生成できる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音声クローン（Instant / Professional）の仕組みと手順を理解する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AI音声の倫理・法的注意点を説明できる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8016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なぜAI音声が必要なのか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3657600" cy="2560320"/>
          </a:xfrm>
          <a:prstGeom prst="rect">
            <a:avLst>
              <a:gd name="adj" fmla="val 357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234440"/>
            <a:ext cx="3108960" cy="320040"/>
          </a:xfrm>
          <a:prstGeom prst="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234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ナレーター外注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783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1本 数万円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286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納品 数日~1週間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788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修正に追加費用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3657600" cy="2560320"/>
          </a:xfrm>
          <a:prstGeom prst="rect">
            <a:avLst>
              <a:gd name="adj" fmla="val 357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234440"/>
            <a:ext cx="310896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234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AI音声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1783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月額 $5~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286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生成 数秒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788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テキスト修正で即再生成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3840480"/>
            <a:ext cx="77724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70以上の言語に対応  |  研修・製品紹介・マーケティングなど幅広く活用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ElevenLabsの全体像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1828800" cy="219456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テキスト→自然な音声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51760" y="1051560"/>
            <a:ext cx="1828800" cy="219456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801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8892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声を学習し再現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17720" y="1051560"/>
            <a:ext cx="1828800" cy="219456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2801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1772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Dubbing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75488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動画の多言語吹替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583680" y="1051560"/>
            <a:ext cx="1828800" cy="219456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2801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8368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Effects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72084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テキストで効果音生成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" y="3520440"/>
            <a:ext cx="3657600" cy="502920"/>
          </a:xfrm>
          <a:prstGeom prst="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26" name="Text 20"/>
          <p:cNvSpPr/>
          <p:nvPr/>
        </p:nvSpPr>
        <p:spPr>
          <a:xfrm>
            <a:off x="68580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: 高速・リアルタイム向き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800600" y="3520440"/>
            <a:ext cx="3657600" cy="502920"/>
          </a:xfrm>
          <a:prstGeom prst="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28" name="Text 22"/>
          <p:cNvSpPr/>
          <p:nvPr/>
        </p:nvSpPr>
        <p:spPr>
          <a:xfrm>
            <a:off x="480060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V2 : 高品質・多言語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058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料金プラン比較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1828800" cy="3017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143000"/>
            <a:ext cx="1554480" cy="320040"/>
          </a:xfrm>
          <a:prstGeom prst="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143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514600"/>
            <a:ext cx="1280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65176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3カスタム音声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1005840"/>
            <a:ext cx="1828800" cy="3017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1143000"/>
            <a:ext cx="1554480" cy="320040"/>
          </a:xfrm>
          <a:prstGeom prst="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2788920" y="1143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65176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2514600"/>
            <a:ext cx="1280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265176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Clone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10カスタム音声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1005840"/>
            <a:ext cx="1828800" cy="3017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143000"/>
            <a:ext cx="1554480" cy="320040"/>
          </a:xfrm>
          <a:prstGeom prst="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143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1772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$11/月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1772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2514600"/>
            <a:ext cx="1280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65176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Clone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全機能解放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1005840"/>
            <a:ext cx="1828800" cy="3017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1143000"/>
            <a:ext cx="1554480" cy="320040"/>
          </a:xfrm>
          <a:prstGeom prst="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1143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$99/月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836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2514600"/>
            <a:ext cx="1280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265176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API優先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高品質クローン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おすすめ: まずFreeで試す → 本格利用はCreator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実践：テキスト→音声変換の手順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1417320" cy="1463040"/>
          </a:xfrm>
          <a:prstGeom prst="rect">
            <a:avLst>
              <a:gd name="adj" fmla="val 516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6916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elevenlabs.io にアクセス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アカウント作成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10972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1600200"/>
            <a:ext cx="1417320" cy="1463040"/>
          </a:xfrm>
          <a:prstGeom prst="rect">
            <a:avLst>
              <a:gd name="adj" fmla="val 516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16916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 Speech を選択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0332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10972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86200" y="1600200"/>
            <a:ext cx="1417320" cy="1463040"/>
          </a:xfrm>
          <a:prstGeom prst="rect">
            <a:avLst>
              <a:gd name="adj" fmla="val 516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9352" y="16916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テキストを入力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（日本語OK）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97880" y="10972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1600200"/>
            <a:ext cx="1417320" cy="1463040"/>
          </a:xfrm>
          <a:prstGeom prst="rect">
            <a:avLst>
              <a:gd name="adj" fmla="val 516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16916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声（Voice）を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0" y="10972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86600" y="1600200"/>
            <a:ext cx="1417320" cy="1463040"/>
          </a:xfrm>
          <a:prstGeom prst="rect">
            <a:avLst>
              <a:gd name="adj" fmla="val 516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9752" y="16916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試聴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ダウンロード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337560"/>
            <a:ext cx="7772400" cy="594360"/>
          </a:xfrm>
          <a:prstGeom prst="rect">
            <a:avLst>
              <a:gd name="adj" fmla="val 12308"/>
            </a:avLst>
          </a:prstGeom>
          <a:solidFill>
            <a:srgbClr val="FEF3C7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333756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まず短いテキストで試して声の雰囲気を確認 → モデル選択（Flash / Multilingual V2）で品質調整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7315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音声の品質を上げるコツ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3657600" cy="1280160"/>
          </a:xfrm>
          <a:prstGeom prst="rect">
            <a:avLst>
              <a:gd name="adj" fmla="val 714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句読点で「間」を作る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句点=長い間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読点=短い間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17720" y="1005840"/>
            <a:ext cx="3657600" cy="1280160"/>
          </a:xfrm>
          <a:prstGeom prst="rect">
            <a:avLst>
              <a:gd name="adj" fmla="val 714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258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「...」でポーズ挿入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0352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強調したい箇所の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前に間を置く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5800" y="2514600"/>
            <a:ext cx="3657600" cy="1280160"/>
          </a:xfrm>
          <a:prstGeom prst="rect">
            <a:avLst>
              <a:gd name="adj" fmla="val 714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346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速度・安定性スライダー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71600" y="3017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遅め=落ち着いた印象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安定性↑=一貫した読み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17720" y="2514600"/>
            <a:ext cx="3657600" cy="1280160"/>
          </a:xfrm>
          <a:prstGeom prst="rect">
            <a:avLst>
              <a:gd name="adj" fmla="val 714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8346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SSMLタグで感情表現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303520" y="3017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強調、ささやき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細かい表現が可能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716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Voice Clone実践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1783080" cy="1188720"/>
          </a:xfrm>
          <a:prstGeom prst="rect">
            <a:avLst>
              <a:gd name="adj" fmla="val 615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4592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 → Add Voice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Instant Clone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1554480"/>
            <a:ext cx="1783080" cy="1188720"/>
          </a:xfrm>
          <a:prstGeom prst="rect">
            <a:avLst>
              <a:gd name="adj" fmla="val 615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164592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1分の音声サンプル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をアップロード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19202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554480"/>
            <a:ext cx="1783080" cy="1188720"/>
          </a:xfrm>
          <a:prstGeom prst="rect">
            <a:avLst>
              <a:gd name="adj" fmla="val 615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64592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名前を設定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作成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19202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948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1554480"/>
            <a:ext cx="1783080" cy="1188720"/>
          </a:xfrm>
          <a:prstGeom prst="rect">
            <a:avLst>
              <a:gd name="adj" fmla="val 615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64592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TTSで声を選択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テキスト入力 → 生成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017520"/>
            <a:ext cx="7772400" cy="457200"/>
          </a:xfrm>
          <a:prstGeom prst="rect">
            <a:avLst>
              <a:gd name="adj" fmla="val 16000"/>
            </a:avLst>
          </a:prstGeom>
          <a:solidFill>
            <a:srgbClr val="D1FAE5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自分の声をクローン → 台本を書くだけでナレーション自動生成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3657600"/>
            <a:ext cx="7772400" cy="457200"/>
          </a:xfrm>
          <a:prstGeom prst="rect">
            <a:avLst>
              <a:gd name="adj" fmla="val 16000"/>
            </a:avLst>
          </a:prstGeom>
          <a:solidFill>
            <a:srgbClr val="FE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 他人の声をクローンする場合は必ず本人の同意が必須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Voice Clone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210312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51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71800" y="1051560"/>
            <a:ext cx="237744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1051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32120" y="1051560"/>
            <a:ext cx="237744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1051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1463040"/>
            <a:ext cx="210312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サンプル量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1463040"/>
            <a:ext cx="237744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1分程度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1463040"/>
            <a:ext cx="237744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30分以上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1965960"/>
            <a:ext cx="2103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71800" y="1965960"/>
            <a:ext cx="2377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良好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32120" y="1965960"/>
            <a:ext cx="2377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非常に高い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2468880"/>
            <a:ext cx="210312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468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71800" y="2468880"/>
            <a:ext cx="237744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個人利用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32120" y="2468880"/>
            <a:ext cx="237744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企業・商用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2971800"/>
            <a:ext cx="2103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2971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71800" y="2971800"/>
            <a:ext cx="2377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180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Starter以上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32120" y="2971800"/>
            <a:ext cx="2377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Creator以上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" y="3383280"/>
            <a:ext cx="7772400" cy="548640"/>
          </a:xfrm>
          <a:prstGeom prst="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30分録音 → アップロード → AI学習（数時間）→ 高品質クローン完成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887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倫理と法的注意点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365760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D1FAE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207008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本人同意の原則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他人の声をクローンする場合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書面での同意が必須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65760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EE2E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20700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無断クローンの禁止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39496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著名人・他者の声の無断利用は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肖像権・人格権の侵害に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5800" y="2514600"/>
            <a:ext cx="365760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2651760"/>
            <a:ext cx="502920" cy="502920"/>
          </a:xfrm>
          <a:prstGeom prst="rect">
            <a:avLst>
              <a:gd name="adj" fmla="val 14545"/>
            </a:avLst>
          </a:prstGeom>
          <a:solidFill>
            <a:srgbClr val="FEF3C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71576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著作権の確認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6304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生成音声の利用範囲を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プランごとに確認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617720" y="2514600"/>
            <a:ext cx="365760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54880" y="2651760"/>
            <a:ext cx="502920" cy="502920"/>
          </a:xfrm>
          <a:prstGeom prst="rect">
            <a:avLst>
              <a:gd name="adj" fmla="val 14545"/>
            </a:avLst>
          </a:prstGeom>
          <a:solidFill>
            <a:srgbClr val="DBEAF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71576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9496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社内ルールの整備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39496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AI音声の利用ポリシーを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事前に策定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85800" y="4114800"/>
            <a:ext cx="7772400" cy="411480"/>
          </a:xfrm>
          <a:prstGeom prst="rect">
            <a:avLst>
              <a:gd name="adj" fmla="val 17778"/>
            </a:avLst>
          </a:prstGeom>
          <a:solidFill>
            <a:srgbClr val="FEE2E2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114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詐欺・なりすましへの悪用は絶対にNG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ElevenLabsでテキストから数秒で高品質音声を生成できる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音声クローンはInstant（手軽）とProfessional（高精度）の2種類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本人同意・社内ルールなど倫理面の配慮が不可欠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931920"/>
            <a:ext cx="7772400" cy="502920"/>
          </a:xfrm>
          <a:prstGeom prst="rect">
            <a:avLst>
              <a:gd name="adj" fmla="val 14545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31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 → 確認テスト（5問中4問正解で修了）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2402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確認テストに進みましょう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 ElevenLabs完全攻略：AI音声の世界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P-04: ElevenLabs完全攻略：AI音声の世界</dc:title>
  <dc:subject>PptxGenJS Presentation</dc:subject>
  <dc:creator>Gorilla Knowledge</dc:creator>
  <cp:lastModifiedBy>Gorilla Knowledge</cp:lastModifiedBy>
  <cp:revision>1</cp:revision>
  <dcterms:created xsi:type="dcterms:W3CDTF">2026-04-03T21:39:53Z</dcterms:created>
  <dcterms:modified xsi:type="dcterms:W3CDTF">2026-04-03T21:39:53Z</dcterms:modified>
</cp:coreProperties>
</file>