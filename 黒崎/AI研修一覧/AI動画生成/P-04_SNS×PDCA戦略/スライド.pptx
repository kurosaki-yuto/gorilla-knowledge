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8229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× PDCA戦略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42316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AI動画で回す高速マーケティング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   |   AI動画生成シリーズ   |  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005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SNS動画におけるPDCAの回し方を理解する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73736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20116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AI動画の量産テクニック（テンプレ・ABテスト・縦型）を実践できる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7432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外注 vs Veo 3のコスト比較を説明できる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8016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なぜAI動画×SNSが最強なのか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1005840"/>
            <a:ext cx="2011680" cy="4114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005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1005840"/>
            <a:ext cx="2560320" cy="411480"/>
          </a:xfrm>
          <a:prstGeom prst="rect">
            <a:avLst>
              <a:gd name="adj" fmla="val 8889"/>
            </a:avLst>
          </a:prstGeom>
          <a:solidFill>
            <a:srgbClr val="FEF3C7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従来の動画マーケ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77840" y="1005840"/>
            <a:ext cx="2560320" cy="411480"/>
          </a:xfrm>
          <a:prstGeom prst="rect">
            <a:avLst>
              <a:gd name="adj" fmla="val 8889"/>
            </a:avLst>
          </a:prstGeom>
          <a:solidFill>
            <a:srgbClr val="D1FAE5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AI動画マーケ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5840" y="1508760"/>
            <a:ext cx="2011680" cy="50292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1508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制作本数/月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17520" y="1508760"/>
            <a:ext cx="2560320" cy="50292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1508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2〜3本が限界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77840" y="1508760"/>
            <a:ext cx="2560320" cy="50292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1508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20〜30本も可能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05840" y="2103120"/>
            <a:ext cx="20116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2103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17520" y="2103120"/>
            <a:ext cx="25603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1本に大きな予算を賭ける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577840" y="2103120"/>
            <a:ext cx="25603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小さく多く試せる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05840" y="2697480"/>
            <a:ext cx="2011680" cy="50292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2697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PDCA速度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017520" y="2697480"/>
            <a:ext cx="2560320" cy="50292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0" y="2697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月1回がやっと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577840" y="2697480"/>
            <a:ext cx="2560320" cy="50292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2697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週単位で回せる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05840" y="3291840"/>
            <a:ext cx="20116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3291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勝ちパターン発見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017520" y="3291840"/>
            <a:ext cx="25603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0" y="3291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半年以上かかる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577840" y="3291840"/>
            <a:ext cx="25603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3291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1〜2ヶ月で見える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5800" y="4023360"/>
            <a:ext cx="7772400" cy="411480"/>
          </a:xfrm>
          <a:prstGeom prst="rect">
            <a:avLst>
              <a:gd name="adj" fmla="val 17778"/>
            </a:avLst>
          </a:prstGeom>
          <a:solidFill>
            <a:srgbClr val="DBEAFE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4023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数で勝負して、データで勝つ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972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SNS動画PDCAの回し方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097280"/>
            <a:ext cx="1188720" cy="11887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バリエーション作成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481328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487168" y="1097280"/>
            <a:ext cx="1188720" cy="118872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投稿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350008" y="24688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TikTok/Reels/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Shortsに投稿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481328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59936" y="1097280"/>
            <a:ext cx="1188720" cy="118872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数字を見る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922776" y="24688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再生数・完視聴率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・保存数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656" y="148132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32704" y="1097280"/>
            <a:ext cx="1188720" cy="1188720"/>
          </a:xfrm>
          <a:prstGeom prst="ellipse">
            <a:avLst/>
          </a:prstGeom>
          <a:solidFill>
            <a:srgbClr val="DC2626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95544" y="24688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伸びた動画の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共通点を発見</a:t>
            </a:r>
            <a:endParaRPr lang="en-US" sz="10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1481328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05472" y="1097280"/>
            <a:ext cx="1188720" cy="11887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横展開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068312" y="24688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当たりパターンを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変数差し替え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85800" y="3474720"/>
            <a:ext cx="7772400" cy="411480"/>
          </a:xfrm>
          <a:prstGeom prst="rect">
            <a:avLst>
              <a:gd name="adj" fmla="val 17778"/>
            </a:avLst>
          </a:prstGeom>
          <a:solidFill>
            <a:srgbClr val="DBEAFE"/>
          </a:solidFill>
          <a:ln/>
        </p:spPr>
      </p:sp>
      <p:sp>
        <p:nvSpPr>
          <p:cNvPr id="24" name="Text 18"/>
          <p:cNvSpPr/>
          <p:nvPr/>
        </p:nvSpPr>
        <p:spPr>
          <a:xfrm>
            <a:off x="685800" y="3474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横展開 → 量産に戻る（毎週サイクルを回す）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8872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テクニック① テンプレプロンプトを作る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7772400" cy="1371600"/>
          </a:xfrm>
          <a:prstGeom prst="rect">
            <a:avLst>
              <a:gd name="adj" fmla="val 5333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051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132588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{商品名} を {シーン} で使っている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{ターゲット層} 向けの15秒動画。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カメラは {カメラワーク}。BGMは {雰囲気}。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606040"/>
            <a:ext cx="1371600" cy="45720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06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2606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スキンケアクリーム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2697480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74920" y="2606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プロテインバー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3246120"/>
            <a:ext cx="1371600" cy="45720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3246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シーン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240280" y="3246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朝の洗面台</a:t>
            </a:r>
            <a:endParaRPr lang="en-US" sz="14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333756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74920" y="3246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ジムのロッカールーム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85800" y="4023360"/>
            <a:ext cx="7772400" cy="411480"/>
          </a:xfrm>
          <a:prstGeom prst="rect">
            <a:avLst>
              <a:gd name="adj" fmla="val 17778"/>
            </a:avLst>
          </a:prstGeom>
          <a:solidFill>
            <a:srgbClr val="FEF3C7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" y="4023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当たりプロンプトの構造を壊さない。変数だけ入れ替える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8872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テクニック② ABC3パターンテスト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1051560"/>
            <a:ext cx="2377440" cy="2011680"/>
          </a:xfrm>
          <a:prstGeom prst="rect">
            <a:avLst>
              <a:gd name="adj" fmla="val 4545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11887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クローズアップ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商品アップ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質感重視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29000" y="1051560"/>
            <a:ext cx="2377440" cy="2011680"/>
          </a:xfrm>
          <a:prstGeom prst="rect">
            <a:avLst>
              <a:gd name="adj" fmla="val 4545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18872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使用シーン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実際に使って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いる場面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377440" cy="2011680"/>
          </a:xfrm>
          <a:prstGeom prst="rect">
            <a:avLst>
              <a:gd name="adj" fmla="val 4545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18872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03504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使用前後の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変化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3291840"/>
            <a:ext cx="7772400" cy="365760"/>
          </a:xfrm>
          <a:prstGeom prst="rect">
            <a:avLst>
              <a:gd name="adj" fmla="val 15000"/>
            </a:avLst>
          </a:prstGeom>
          <a:solidFill>
            <a:srgbClr val="DBEAFE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291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3本投稿 → 3日後に数字比較 → 伸びたパターンを横展開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3840480"/>
            <a:ext cx="7772400" cy="411480"/>
          </a:xfrm>
          <a:prstGeom prst="rect">
            <a:avLst>
              <a:gd name="adj" fmla="val 13333"/>
            </a:avLst>
          </a:prstGeom>
          <a:solidFill>
            <a:srgbClr val="D1FAE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840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Bが伸びた → 使用シーンのバリエーションをさらに5本作る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8872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テクニック③ 縦型9:16を前提にする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1051560"/>
            <a:ext cx="2377440" cy="1097280"/>
          </a:xfrm>
          <a:prstGeom prst="rect">
            <a:avLst>
              <a:gd name="adj" fmla="val 8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143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600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縦型 9:16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29000" y="1051560"/>
            <a:ext cx="2377440" cy="1097280"/>
          </a:xfrm>
          <a:prstGeom prst="rect">
            <a:avLst>
              <a:gd name="adj" fmla="val 8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43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1600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縦型 9:16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377440" cy="1097280"/>
          </a:xfrm>
          <a:prstGeom prst="rect">
            <a:avLst>
              <a:gd name="adj" fmla="val 8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143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Shorts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0" y="1600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縦型 9:16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2423160"/>
            <a:ext cx="7772400" cy="731520"/>
          </a:xfrm>
          <a:prstGeom prst="rect">
            <a:avLst>
              <a:gd name="adj" fmla="val 10000"/>
            </a:avLst>
          </a:prstGeom>
          <a:solidFill>
            <a:srgbClr val="D1FAE5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60320"/>
            <a:ext cx="365760" cy="3657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08760" y="2423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3は最初からアスペクト比 9:16 を指定して縦型生成が可能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85800" y="3383280"/>
            <a:ext cx="7772400" cy="640080"/>
          </a:xfrm>
          <a:prstGeom prst="rect">
            <a:avLst>
              <a:gd name="adj" fmla="val 11429"/>
            </a:avLst>
          </a:prstGeom>
          <a:solidFill>
            <a:srgbClr val="FEE2E2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520440"/>
            <a:ext cx="320040" cy="32004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33832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横型で撮って後からクロップすると画質・構図が崩れる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0972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実演: ショート動画量産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200400" y="278892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SNS向け縦型ショート動画の量産実演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73152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コスト試算: 外注 vs Veo 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960120"/>
            <a:ext cx="2011680" cy="411480"/>
          </a:xfrm>
          <a:prstGeom prst="rect">
            <a:avLst>
              <a:gd name="adj" fmla="val 8889"/>
            </a:avLst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項目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960120"/>
            <a:ext cx="2560320" cy="411480"/>
          </a:xfrm>
          <a:prstGeom prst="rect">
            <a:avLst>
              <a:gd name="adj" fmla="val 8889"/>
            </a:avLst>
          </a:prstGeom>
          <a:solidFill>
            <a:srgbClr val="FEF3C7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960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77840" y="960120"/>
            <a:ext cx="2560320" cy="411480"/>
          </a:xfrm>
          <a:prstGeom prst="rect">
            <a:avLst>
              <a:gd name="adj" fmla="val 8889"/>
            </a:avLst>
          </a:prstGeom>
          <a:solidFill>
            <a:srgbClr val="D1FAE5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0" y="960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5840" y="1417320"/>
            <a:ext cx="2011680" cy="438912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14173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月間制作本数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17520" y="1417320"/>
            <a:ext cx="2560320" cy="438912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14173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10本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77840" y="1417320"/>
            <a:ext cx="2560320" cy="438912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14173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10本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05840" y="1920240"/>
            <a:ext cx="20116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19202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1本あたりコスト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017520" y="1920240"/>
            <a:ext cx="25603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19202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約3万円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577840" y="1920240"/>
            <a:ext cx="25603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19202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約290円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05840" y="2423160"/>
            <a:ext cx="2011680" cy="438912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24231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月額コスト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017520" y="2423160"/>
            <a:ext cx="2560320" cy="438912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0" y="24231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約30万円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577840" y="2423160"/>
            <a:ext cx="2560320" cy="438912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24231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約2,900円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05840" y="2926080"/>
            <a:ext cx="20116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29260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年間コスト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017520" y="2926080"/>
            <a:ext cx="25603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0" y="29260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約360万円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577840" y="2926080"/>
            <a:ext cx="25603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29260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約34,800円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5800" y="3566160"/>
            <a:ext cx="7772400" cy="594360"/>
          </a:xfrm>
          <a:prstGeom prst="rect">
            <a:avLst>
              <a:gd name="adj" fmla="val 12308"/>
            </a:avLst>
          </a:prstGeom>
          <a:solidFill>
            <a:srgbClr val="D1FAE5"/>
          </a:solidFill>
          <a:ln/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675888"/>
            <a:ext cx="365760" cy="36576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508760" y="35661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年間削減額: 約325万円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972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外注との使い分け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51560"/>
            <a:ext cx="3749040" cy="2286000"/>
          </a:xfrm>
          <a:prstGeom prst="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188720"/>
            <a:ext cx="3383280" cy="365760"/>
          </a:xfrm>
          <a:prstGeom prst="rect">
            <a:avLst>
              <a:gd name="adj" fmla="val 12500"/>
            </a:avLst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ブランド動画 = 外注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会社紹介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CM・広告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採用動画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65960" y="2880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3749040" cy="2286000"/>
          </a:xfrm>
          <a:prstGeom prst="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1188720"/>
            <a:ext cx="3383280" cy="365760"/>
          </a:xfrm>
          <a:prstGeom prst="rect">
            <a:avLst>
              <a:gd name="adj" fmla="val 12500"/>
            </a:avLst>
          </a:prstGeom>
          <a:solidFill>
            <a:srgbClr val="D1FAE5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日常SNS = Veo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日々の投稿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492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テスト動画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7492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短尺コンテンツ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89320" y="2880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85800" y="3657600"/>
            <a:ext cx="7772400" cy="502920"/>
          </a:xfrm>
          <a:prstGeom prst="rect">
            <a:avLst>
              <a:gd name="adj" fmla="val 14545"/>
            </a:avLst>
          </a:prstGeom>
          <a:solidFill>
            <a:srgbClr val="DBEAFE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657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80:20の法則 — コストとクオリティのバランスが最も取れた配分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0058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AI動画×SNSは「量産→投稿→分析→横展開」のPDCAを高速で回せる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173736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0116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テンプレプロンプト・ABCテスト・縦型9:16の3テクニックで効率的に量産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85800" y="27432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632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175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外注 vs Veo 3は80:20で使い分け、年間325万円のコスト削減が可能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85800" y="3840480"/>
            <a:ext cx="7772400" cy="457200"/>
          </a:xfrm>
          <a:prstGeom prst="rect">
            <a:avLst>
              <a:gd name="adj" fmla="val 16000"/>
            </a:avLst>
          </a:prstGeom>
          <a:solidFill>
            <a:srgbClr val="DBEAFE"/>
          </a:solidFill>
          <a:ln/>
        </p:spPr>
      </p:sp>
      <p:sp>
        <p:nvSpPr>
          <p:cNvPr id="16" name="Text 11"/>
          <p:cNvSpPr/>
          <p:nvPr/>
        </p:nvSpPr>
        <p:spPr>
          <a:xfrm>
            <a:off x="68580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確認テスト: 5問中4問正解で修了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2402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確認テストに進みましょう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  SNS × PDCA戦略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P-04: SNS × PDCA戦略</dc:title>
  <dc:subject>PptxGenJS Presentation</dc:subject>
  <dc:creator>Gorilla Knowledge</dc:creator>
  <cp:lastModifiedBy>Gorilla Knowledge</cp:lastModifiedBy>
  <cp:revision>1</cp:revision>
  <dcterms:created xsi:type="dcterms:W3CDTF">2026-04-04T03:13:23Z</dcterms:created>
  <dcterms:modified xsi:type="dcterms:W3CDTF">2026-04-04T03:13:23Z</dcterms:modified>
</cp:coreProperties>
</file>